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0:50]</a:t>
            </a:r>
          </a:p>
          <a:p>
            <a:r>
              <a:t>本日は、燃料計が満充電容量FCCを再学習しなくなる『ゲージ凍結』を、テレメトリだけで判定する技術をご報告します。鍵は、燃料計がFCCを計り直すチャンス、学習機会を、実機どおり2つの機構で定義することです。深放電のフルサイクルと、充電側の部分再学習の2つで、いずれも満充電で完了します。この満充電を起点に、応答したかを機械的に監査します。両機構とも敵対的な検証をパス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1:05]</a:t>
            </a:r>
          </a:p>
          <a:p>
            <a:r>
              <a:t>要点です。学習機会を2機構で定義し、満充電END起点の168時間窓で、FCCが50mWh以上動いたかを監査します。凍結を予測する試みはコイン投げ並みで失敗したため、決定論的なカウンタに切り替えました。核心は、敵対的な負の対照で、真の応答確率が各機構のニセ機会の分布を超えること。特に疑わしかった充電側も合格です。実績として、全履歴監査でFW確認35台、ゲージリセット10台に振り分けました。特許の新規性の核は充電側検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1:00]</a:t>
            </a:r>
          </a:p>
          <a:p>
            <a:r>
              <a:t>問題です。電池の健全性表示は燃料計が学習したFCCに依存しますが、これが長期間更新されない凍結が752台中114台で起きています。静的検査では、浅い使い方で正常なのか、較正が要るのか、FWやHW起因なのかを区別できません。本質的なのは、そもそも燃料計がどういう時にFCCを計り直すのかを実機どおり定義することです。実機の再学習は、深放電のフルサイクルと、充電側の部分再学習、の2経路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0:45]</a:t>
            </a:r>
          </a:p>
          <a:p>
            <a:r>
              <a:t>最初は凍結を予測しようとしましたが、公平に比べるとAUCは0.54、ほぼコイン投げでした。最重要特徴は、深く放電するほど凍結するという、直感と逆の交絡です。そこで発想を転換し、壊れそうかを予言するのではなく、再学習の機会に実際に応答したかを、決定論的なカウンタで、出席簿のように数える監査方式に切り替えました。ここが技術の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1:00]</a:t>
            </a:r>
          </a:p>
          <a:p>
            <a:r>
              <a:t>ここが技術の土台です。実機のFCC再学習はこの2経路です。左のType Aは満充電から6%以下まで深く放電して再び満充電に至る、深放電のフルサイクル。右のType Bは充電中にRSOCが60から80%の帯を通過して満充電に至る、深放電を伴わない充電側の部分再学習です。どちらも満充電到達で完了します。この2つを学習機会と定義し、満充電を起点に応答を監査します。充電側の機会は非常に多く、監査の主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0:55]</a:t>
            </a:r>
          </a:p>
          <a:p>
            <a:r>
              <a:t>手法です。使うのはRSOC、FCC、サイクル、充電状態、時刻だけで、機種名などのHW識別子は使いません。機会を抽出し、満充電ENDの後168時間の窓で、FCCが50mWh以上の有効なステップを出したかを監査します。観測が途中で切れた場合はcensoredとして保留し、無応答には数えません。ここが欠測に騙されない肝です。機会が反復するのに無応答ならFW確認、機会が皆無ならゲージ較正へ二分岐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0:45]</a:t>
            </a:r>
          </a:p>
          <a:p>
            <a:r>
              <a:t>全体の処理フローです。左上から、S3からのテレメトリ取得、前処理と品質ゲート、2機構の学習機会の抽出、満充電END起点の168時間応答監査、品質ティアとcensored除外、そして機構別のkで二分岐します。出力はFW確認、ゲージ再較正、WATCH、NORMAL、REVIEWの5系統。最小状態の因果台帳を永続化することで、生データは直近30日の保持だけで全期間と等価に運用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0:40]</a:t>
            </a:r>
          </a:p>
          <a:p>
            <a:r>
              <a:t>FW確認へ回す閾値kの根拠です。kは恣意的な値ではなく、健全な電池が偶然k回連続で無応答になる確率を5%以下にする、という基準で機構別に決めています。深放電のType Aは健全機の応答率が0.74と高いのでk=3、充電側のType Bは0.45と低く、健全でも無応答が出やすいのでk=5にしています。弱いきっかけほど、確信するのに多くの連続無応答が必要、という設計です。実運用ではこれに凍結日数なども併せて確定します。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0:50]</a:t>
            </a:r>
          </a:p>
          <a:p>
            <a:r>
              <a:t>168時間という窓の根拠です。実際に起きたFCC更新のうち、直前に機会があったものの割合を、窓の幅ごとに見ると、24時間で47%、72時間で69%、7日で86%、14日で91%に達します。つまりゲージは満充電の数日後にFCCを書くことが多いのです。実機の再学習レイテンシに合う、7日、168時間を主窓として採用しました。これで応答の86%を捕捉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0:55]</a:t>
            </a:r>
          </a:p>
          <a:p>
            <a:r>
              <a:t>実フリート752台での結果です。全履歴のオフライン監査では、FW確認35台、ゲージリセット10台に振り分けました。30日オンライン運用版では、FWコア49台、ゲージコアはゼロ台です。充電側の機会がほぼ毎窓あるため、機会が皆無という状況がほぼ無くなり、確定信号がFW側に集中します。Core判定は高精度で、活動基準による能動的な誤報はゼロ件でした。なお累積判定の副作用は後で正直に開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1:05]</a:t>
            </a:r>
          </a:p>
          <a:p>
            <a:r>
              <a:t>技術効果は、proxyラベルに依存しない5本柱で独立に検証しています。A2の負の対照は次で詳述します。A3はEND起点の汚染がゼロという構造的性質。Bは応答ハザードで本物の機会の方がpseudoより応答が多く、応答が72時間を越えて続くため168時間窓が裏付けられます。Eは欠測を注入しても提案検出器は誤無応答を約40分の1に抑え、Dは30日保持でも永続台帳で全履歴と同じ結論、容量はわずか4.2%です。5本柱すべて成立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1:05]</a:t>
            </a:r>
          </a:p>
          <a:p>
            <a:r>
              <a:t>最も重要な実証です。機会と応答の対応を4通りに壊したニセ機会を作り、本物の応答確率がその自分専用のヌル分布を超えるかを見ます。Type Aは0.637、Type Bは0.368、unionは0.359で、いずれも4つの対照すべてでヌルの外にあります。特に注目は充電側のType Bで、168時間の窓で0.368に上がり、自分専用のヌルを明確に超えます。つまり充電側は単なる背景充電ではなく、本物の学習刺激だと確定しました。ここが今回の核心です。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1:00]</a:t>
            </a:r>
          </a:p>
          <a:p>
            <a:r>
              <a:t>特許面です。技術エビデンスの強さと、新規性リスクは別の軸として扱います。中核は機会条件付き無応答監査で、その中に、深放電を伴わない充電側部分再学習の検出という、新しい新規性の核があります。既知の先行技術、例えばTIのImpedance Trackは、機会を深い放電サイクルと前提しており、充電側の部分再学習の無応答監査は教えていません。ただし全て未検証で、正式な特許性調査が必要です。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1:00]</a:t>
            </a:r>
          </a:p>
          <a:p>
            <a:r>
              <a:t>正直な開示です。3つの弱点があります。1つ目、Type Bは窓が密に重なるため、1つの再学習ステップが複数のエピソードに重複帰属する率が0.65あります。最初のエピソードにのみ帰属する方式で対処予定です。2つ目、オンラインの累積閾値の副作用で、確定信号がFW側に大きく振れます。全履歴のtail-scoped版の方が保守的です。3つ目、14日に広げても約9%のFCC更新が未説明で、第3の経路か満充電の取りこぼしの可能性があります。これらは今後の課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0:55]</a:t>
            </a:r>
          </a:p>
          <a:p>
            <a:r>
              <a:t>まとめます。学習機会を実機の2機構で定義し、満充電END起点の168時間窓で無応答を監査したところ、両機構とも敵対的な検証をパスしました。全履歴でFW確認35台、ゲージリセット10台、オンラインでFWコア49台に振り分けています。新規性の核は、深放電を伴わない充電側部分再学習の検出です。reviewerの皆様への依頼は4点。二機構クレームの設計、充電側検出の新規性調査の発注、候補②の着想日確認、開示した弱点のクレーム上の扱いで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backup]</a:t>
            </a:r>
          </a:p>
          <a:p>
            <a:r>
              <a:t>（付録・質疑用）判定に使う全閾値の一覧。前段ゲートのREVIEW/候補判定、FW確認・ゲージ再較正の条件、共通パラメータ(満充電99%/深放電6%/帯60-80%/有効ステップ50mWh/窓168h)、機構別k(A=3/B=5)とp05(4.24/1.41)をまとめています。本編では触れず、質疑応答で必要に応じて参照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backup]</a:t>
            </a:r>
          </a:p>
          <a:p>
            <a:r>
              <a:t>（付録・質疑用）⑤の品質ティアとcensored除外の詳細。品質スコア=0.45×最大ギャップ成分+0.35×カバレッジ+0.20×端点、HIGH_OK(≤12h&amp;score≥0.80)/MEDIUM_GAP(≤24h&amp;≥0.50)のみ無応答を計上、LOW_LARGE_GAPと未観測窓(censored)は数えません。データの穴を無応答と誤計上しないための関門で、根拠Eの40x削減を生み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backup]</a:t>
            </a:r>
          </a:p>
          <a:p>
            <a:r>
              <a:t>（付録・質疑用）品質スコアの3成分の図解。①最大ギャップ=区間内の最大の観測の穴、②観測カバレッジ=見えていた時間の割合、③端点ギャップ=START/LOW/END境界付近の穴。重み0.45/0.35/0.20で合成し、穴が大きい・カバレッジが低い・端点が疎な機会を低スコア化して除外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backup]</a:t>
            </a:r>
          </a:p>
          <a:p>
            <a:r>
              <a:t>（付録・質疑用）機会ごとの応答判定フロー。⑤品質ティア→⑤完全観測(END+168h≤最終観測)→④応答(≥50mWh)の順。HIGH_OK/MEDIUM_GAP かつ非censored のみ計上、responded=0リセット、no_response=+1。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[目安 backup]</a:t>
            </a:r>
          </a:p>
          <a:p>
            <a:r>
              <a:t>（付録・質疑用）候補ユーザーの二分岐トリアージ。fw_high→gauge_high→fw_med→gauge_medの順に判定し、最初に一致した規則で確定。どれも不成立ならWATCH。閾値はスライド記載のとおり。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テレメトリからの FCC更新停止（ゲージ凍結）者の判定技術</a:t>
            </a:r>
          </a:p>
          <a:p>
            <a:r>
              <a:rPr sz="1800" b="0">
                <a:solidFill>
                  <a:srgbClr val="CFDDEE"/>
                </a:solidFill>
                <a:latin typeface="Meiryo UI"/>
                <a:ea typeface="Meiryo UI"/>
                <a:cs typeface="Meiryo UI"/>
              </a:rPr>
              <a:t>— 学習機会を実機の2機構で定義した機会条件付き無応答監査 / 12分版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72865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•  学習機会は実機の2機構: Type A（満充電→RSOC≤6%→満充電, 深放電）/ Type B（充電中に60-80%通過→満充電, 充電側）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•  満充電END起点168h窓で『再学習の機会に応答したか』を機械的に監査（機種非依存・欠測頑健）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•  両機構とも敵対的検証をパス。5本柱(A2/A3/B/E/D)で技術効果を実証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•  母集団 752ユーザー / 3,130,394サンプル。proxy非依存の独立指標で検証・法的結論なし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エグゼクティブサマリ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学習機会=実機の2機構: Type A(満充電→≤6%→満充電) と Type B(充電中60-80%通過→満充電)。END=満充電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手法: 満充電END起点168h窓で有効ステップ(≥50mWh)の有無を監査。予測(AUC≈0.54)は失敗→決定論カウンタへ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核心: 敵対的な負の対照で 真応答 A0.637 / B0.368 / union0.359 が各nullを超える → 両機構とも本物の学習刺激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実績: 全履歴監査で FW確認35台 / ゲージリセット10台。オンライン運用版 FW_CORE 49 / GAUGE_CORE 0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特許: 中核=機会条件付き無応答監査。新規性の核=『深放電を伴わない充電側部分再学習の検出』。5本柱すべて成立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『動くべき機会に動かなかった』事実だけを、欠測に騙されず数える監査。深放電と充電側の両機構で強い。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問題 — ゲージ凍結と、FCC再学習の2機構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58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SoH健全性表示を駆動するFCCが長期間更新されない『ゲージ凍結』。752台中114台(15.2%)が凍結、うち70台は使用で説明不能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静的検査では『浅い使い方で正常』『要再較正』『FW/HW起因』を区別できない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本質: そもそも『どういう時に再学習するか』を実機どおり定義しないと監査が的外れになる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実機の再学習は2経路 — Type A(満充電→深放電≤6%→満充電) と Type B(充電中に60-80%を通過して満充電)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凍結の結果は同じでも、燃料計がFCCを計り直すきっかけは深放電と充電側の2種類。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失敗した予測 → 発想の転換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5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教師あり予測(公平比較 obs≥180d): AUC 0.535/0.540 — ほぼコイン投げ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規範ML(FCC履歴除外): AUC 0.5584 — near-random。最重要 min_rsoc は『深放電ほど凍結』の反usage交絡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→ 発想転換: 『凍結を当てる』のではなく『再学習の機会に実際に応答したかを機械的に監査する』(決定論カウンタ)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壊れそうかをAIに予言させるのは失敗。『チャンスに応えたか』を出席簿のように数える方式に切り替えた。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学習機会の定義 — 実機の2機構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pic>
        <p:nvPicPr>
          <p:cNvPr id="5" name="Picture 4" descr="od2_mechanism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7680960" cy="2797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05156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左 Type A: 満充電→RSOC≤6%→満充電（深放電フルサイクル）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右 Type B: 充電中に60-80%帯を通過して満充電（深放電不要）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両者とも END=満充電到達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この2つを『学習機会』と定義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機会数: Type A 3,913 / Type B 34,578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燃料計がFCCを計り直すチャンスは深放電と充電側の2種類。これを学習機会と定義する。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手法 — END起点168h窓の無応答監査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58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入力: RSOC / FCC / cycleCount / chargeStatus / 時刻 のみ（HW識別子は不使用・機種非依存）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1) 機会抽出(Type A/B)  2) END後168h窓で有効ステップ≥50mWhを監査  3) censored除外  4) 二分岐(機構別k A=3/B=5)  5) 有界保持台帳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応答は responded / no_response(窓を全観測して無し) / censored(観測途中終了→保留、無応答に数えない)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機会が反復するのに無応答→FW確認 / 機会が皆無→ゲージ再較正 に二分岐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満充電の後に計り直したかを、深放電と充電側の両方について、欠測に騙されず数える。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処理フロー — データ取得から判定まで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960120"/>
            <a:ext cx="2148840" cy="841248"/>
          </a:xfrm>
          <a:prstGeom prst="roundRect">
            <a:avLst/>
          </a:prstGeom>
          <a:solidFill>
            <a:srgbClr val="336699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① データ取得</a:t>
            </a:r>
          </a:p>
          <a:p>
            <a:pPr algn="ctr"/>
            <a:r>
              <a:rPr sz="81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S3テレメトリ: RSOC/FCC/サイクル/chargeStatus/時刻（HW識別子不使用）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380744"/>
            <a:ext cx="13716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06040" y="960120"/>
            <a:ext cx="2148840" cy="841248"/>
          </a:xfrm>
          <a:prstGeom prst="roundRect">
            <a:avLst/>
          </a:prstGeom>
          <a:solidFill>
            <a:srgbClr val="336699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② 前処理・品質ゲート</a:t>
            </a:r>
          </a:p>
          <a:p>
            <a:pPr algn="ctr"/>
            <a:r>
              <a:rPr sz="81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時刻整列・重複除去・OK/SPARSE/COUNTER_RESET判定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54880" y="1380744"/>
            <a:ext cx="13716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92040" y="960120"/>
            <a:ext cx="2148840" cy="841248"/>
          </a:xfrm>
          <a:prstGeom prst="roundRect">
            <a:avLst/>
          </a:prstGeom>
          <a:solidFill>
            <a:srgbClr val="1F77B4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③ 学習機会の抽出（2機構）</a:t>
            </a:r>
          </a:p>
          <a:p>
            <a:pPr algn="ctr"/>
            <a:r>
              <a:rPr sz="81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Type A 満充電→≤6%→満充電 / Type B 充電中60-80%通過→満充電（END=満充電）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40879" y="1380744"/>
            <a:ext cx="13716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78040" y="960120"/>
            <a:ext cx="2148840" cy="841248"/>
          </a:xfrm>
          <a:prstGeom prst="roundRect">
            <a:avLst/>
          </a:prstGeom>
          <a:solidFill>
            <a:srgbClr val="2E6E6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④ END起点168h 応答監査</a:t>
            </a:r>
          </a:p>
          <a:p>
            <a:pPr algn="ctr"/>
            <a:r>
              <a:rPr sz="81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有効ステップ≥50mWh → responded / no_response / censored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26880" y="1380744"/>
            <a:ext cx="13716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960120"/>
            <a:ext cx="2148840" cy="841248"/>
          </a:xfrm>
          <a:prstGeom prst="roundRect">
            <a:avLst/>
          </a:prstGeom>
          <a:solidFill>
            <a:srgbClr val="376B3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⑤ 品質ティア＋censored除外</a:t>
            </a:r>
          </a:p>
          <a:p>
            <a:pPr algn="ctr"/>
            <a:r>
              <a:rPr sz="81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HIGH_OK/MEDIUM_GAP/LOW_LARGE_GAP・打切りは無応答に数えない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901952"/>
            <a:ext cx="2926080" cy="1024128"/>
          </a:xfrm>
          <a:prstGeom prst="roundRect">
            <a:avLst/>
          </a:prstGeom>
          <a:solidFill>
            <a:srgbClr val="EEF2F7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947672"/>
            <a:ext cx="26974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④ 応答判定 → カウンタ操作</a:t>
            </a:r>
          </a:p>
          <a:p>
            <a:pPr>
              <a:spcAft>
                <a:spcPts val="100"/>
              </a:spcAft>
            </a:pPr>
            <a:r>
              <a:rPr sz="900" b="0">
                <a:solidFill>
                  <a:srgbClr val="C0392B"/>
                </a:solidFill>
                <a:latin typeface="Meiryo UI"/>
                <a:ea typeface="Meiryo UI"/>
                <a:cs typeface="Meiryo UI"/>
              </a:rPr>
              <a:t>no_response → カウンタ +1</a:t>
            </a:r>
          </a:p>
          <a:p>
            <a:pPr>
              <a:spcAft>
                <a:spcPts val="100"/>
              </a:spcAft>
            </a:pPr>
            <a:r>
              <a:rPr sz="900" b="0">
                <a:solidFill>
                  <a:srgbClr val="2CA02C"/>
                </a:solidFill>
                <a:latin typeface="Meiryo UI"/>
                <a:ea typeface="Meiryo UI"/>
                <a:cs typeface="Meiryo UI"/>
              </a:rPr>
              <a:t>responded(≥50mWh) → 0 にリセット</a:t>
            </a:r>
          </a:p>
          <a:p>
            <a:pPr>
              <a:spcAft>
                <a:spcPts val="100"/>
              </a:spcAft>
            </a:pPr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censored → pending（保留・数えない）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38460" y="1801368"/>
            <a:ext cx="0" cy="137160"/>
          </a:xfrm>
          <a:prstGeom prst="line">
            <a:avLst/>
          </a:prstGeom>
          <a:ln w="25400">
            <a:solidFill>
              <a:srgbClr val="1F3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6080760" y="1938528"/>
            <a:ext cx="4457700" cy="0"/>
          </a:xfrm>
          <a:prstGeom prst="line">
            <a:avLst/>
          </a:prstGeom>
          <a:ln w="25400">
            <a:solidFill>
              <a:srgbClr val="1F3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80760" y="1938528"/>
            <a:ext cx="0" cy="182880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383280" y="2121408"/>
            <a:ext cx="5394960" cy="548640"/>
          </a:xfrm>
          <a:prstGeom prst="roundRect">
            <a:avLst/>
          </a:prstGeom>
          <a:solidFill>
            <a:srgbClr val="336699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前段ゲート：データ十分か / FCC更新継続(候補外)か / 境界か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2311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→ 非アクション/保留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0" y="2395728"/>
            <a:ext cx="685800" cy="393192"/>
          </a:xfrm>
          <a:prstGeom prst="line">
            <a:avLst/>
          </a:prstGeom>
          <a:ln w="2032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464040" y="2788920"/>
            <a:ext cx="2286000" cy="530352"/>
          </a:xfrm>
          <a:prstGeom prst="roundRect">
            <a:avLst/>
          </a:prstGeom>
          <a:solidFill>
            <a:srgbClr val="336699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NORMAL</a:t>
            </a:r>
          </a:p>
          <a:p>
            <a:pPr algn="ctr"/>
            <a:r>
              <a:rPr sz="78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候補外＝FCC健全群並みに更新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3392424"/>
            <a:ext cx="2286000" cy="530352"/>
          </a:xfrm>
          <a:prstGeom prst="roundRect">
            <a:avLst/>
          </a:prstGeom>
          <a:solidFill>
            <a:srgbClr val="555555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REVIEW</a:t>
            </a:r>
          </a:p>
          <a:p>
            <a:pPr algn="ctr"/>
            <a:r>
              <a:rPr sz="78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obs&lt;120d / n&lt;200 / カウンタ・パック異常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27614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no/low-change候補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337560" y="2670048"/>
            <a:ext cx="1600200" cy="530352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280160" y="3200400"/>
            <a:ext cx="4114800" cy="566928"/>
          </a:xfrm>
          <a:prstGeom prst="roundRect">
            <a:avLst/>
          </a:prstGeom>
          <a:solidFill>
            <a:srgbClr val="1F375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⑥ 二分岐トリアージ（機構別k: A≥3 / B≥5）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920240" y="3767328"/>
            <a:ext cx="1417320" cy="393192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37560" y="3767328"/>
            <a:ext cx="960120" cy="393192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2960" y="4160520"/>
            <a:ext cx="2194560" cy="868680"/>
          </a:xfrm>
          <a:prstGeom prst="roundRect">
            <a:avLst/>
          </a:prstGeom>
          <a:solidFill>
            <a:srgbClr val="C0392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FW確認候補</a:t>
            </a:r>
          </a:p>
          <a:p>
            <a:pPr algn="ctr"/>
            <a:r>
              <a:rPr sz="86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機会あり×無応答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4160520"/>
            <a:ext cx="2194560" cy="868680"/>
          </a:xfrm>
          <a:prstGeom prst="roundRect">
            <a:avLst/>
          </a:prstGeom>
          <a:solidFill>
            <a:srgbClr val="B05A00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ゲージ再較正候補</a:t>
            </a:r>
          </a:p>
          <a:p>
            <a:pPr algn="ctr"/>
            <a:r>
              <a:rPr sz="86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学習機会が皆無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675887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どちらも確信できず→保留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4960" y="3566160"/>
            <a:ext cx="1737360" cy="594360"/>
          </a:xfrm>
          <a:prstGeom prst="line">
            <a:avLst/>
          </a:prstGeom>
          <a:ln w="2032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035040" y="4160520"/>
            <a:ext cx="2194560" cy="868680"/>
          </a:xfrm>
          <a:prstGeom prst="roundRect">
            <a:avLst/>
          </a:prstGeom>
          <a:solidFill>
            <a:srgbClr val="C89B2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WATCH</a:t>
            </a:r>
          </a:p>
          <a:p>
            <a:pPr algn="ctr"/>
            <a:r>
              <a:rPr sz="84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境界/large-gap/完全窓不足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230368"/>
            <a:ext cx="11292840" cy="548640"/>
          </a:xfrm>
          <a:prstGeom prst="roundRect">
            <a:avLst/>
          </a:prstGeom>
          <a:solidFill>
            <a:srgbClr val="EEF2F7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3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⑦ 有界保持の因果証拠台帳（最小状態: FSM/pending期限/seen_ids/直近有効変化/gap-censor/順序）→ 直近30日の生データだけで全期間と等価な判定（30日オンライン運用版 = 9段ラベル）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前段ゲートで REVIEW(データ不足)/NORMAL(候補外) を除外 → 候補は⑥で『FW確認 ⇄ ゲージ再較正』に二分岐。どちらも確信できない残差は WATCH で保留。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37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FW閾値 k の根拠 — 機構別に『誤警報5%以下』で較正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設計方針: 健全なゲージが偶然 k 回連続で無応答になる確率 (1−p)^k を 5% 以下にする（p=健全機の応答率）。弱い/高頻度のトリガほど誤って無応答が出やすいので、確信に必要な k は大きくなる。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20240"/>
          <a:ext cx="112471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377440"/>
                <a:gridCol w="4206240"/>
                <a:gridCol w="128016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機構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健全応答率 p@168h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(1−p)^k の計算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採用 k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Type A（深放電, 強いトリガ）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0.74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0.26² = 6.8%(NG) / 0.26³ = 1.8%(OK)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76B3A"/>
                          </a:solidFill>
                          <a:latin typeface="Meiryo UI"/>
                          <a:ea typeface="Meiryo UI"/>
                          <a:cs typeface="Meiryo UI"/>
                        </a:rPr>
                        <a:t>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Type B（充電側, 弱い・高頻度）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0.55⁴ = 9.2%(NG) / 0.55⁵ = 5.0%(OK)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76B3A"/>
                          </a:solidFill>
                          <a:latin typeface="Meiryo UI"/>
                          <a:ea typeface="Meiryo UI"/>
                          <a:cs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66160"/>
            <a:ext cx="111858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健全応答率 p は active-reference（obs≥180d・cycle≥20・凍結&lt;60日・品質OK）から実測（Type A 0.74 / Type B 0.45）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Type B は健全でも55%が無応答なので、k=4では誤警報9.2%と過大 → k=5で5.0%に収める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k は固定値ではなく調整可能（§7 代替実施形態）。窓・有効ステップ閾値と同じく感度解析対象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運用の確定(FW_CORE)は k 単独ではなく『凍結日数・サイクル数・データ品質OK』も併せて要件化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kは恣意的でなく『健全機の誤警報5%以下』から機構別に導出。弱いトリガ(Type B)ほど k を大きくする。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37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なぜ応答窓は168hか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pic>
        <p:nvPicPr>
          <p:cNvPr id="5" name="Picture 4" descr="od2_attribution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7397034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05156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実FCC更新のうち機会で説明できる割合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24h = 47% / 72h = 69%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7日(168h) = 86% / 14日 = 91%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応答の多くは満充電の数日後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→ 主応答窓に 168h(7日) を採用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ゲージは満充電の数日後にFCCを書くことが多い。7日窓で応答の86%を捕捉する。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37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実フリート結果 — 30日オンライン運用版の9段判定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Part1</a:t>
            </a:r>
          </a:p>
        </p:txBody>
      </p:sp>
      <p:pic>
        <p:nvPicPr>
          <p:cNvPr id="5" name="Picture 4" descr="od2_online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7680960" cy="4207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05156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全履歴監査(オフライン):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  FW確認 35台 / ゲージリセット 10台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オンライン9段: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  FW_CORE 49 / FW_WATCH 99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  GAUGE_CORE 0 / NORMAL 41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Core判定 高精度・能動誤報0件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確定アクションはFW確認が中心。機会が本当に皆無の端末だけをゲージ較正に回す。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37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根拠 — 5本柱まとめ（技術効果）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根拠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5486400"/>
                <a:gridCol w="201168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柱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検証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技術効果（proxy非依存）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判定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A2 負の対照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ニセ機会4種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真応答 A0.637/B0.368/union0.359 が各null外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両機構本物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A3 アンカー汚染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起点比較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END汚染 0.0（両機構）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END無汚染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B 応答ハザード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CIF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真CIF&gt;&gt;pseudo。応答は72hを越え168hで捕捉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168h裏付け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E 欠測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誤無応答 naive204→proposed5 (~40x)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IC6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D 保持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7〜90日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stateful recall1.0/重複0/容量4.2%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IC5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5本柱すべて成立。機会条件付き無応答監査は深放電・充電側の二機構で技術的に強く裏付けられる。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37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★核心の実証 — A2 負の対照（両機構とも本物）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根拠</a:t>
            </a:r>
          </a:p>
        </p:txBody>
      </p:sp>
      <p:pic>
        <p:nvPicPr>
          <p:cNvPr id="5" name="Picture 4" descr="od2_negative_control_by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7680960" cy="29720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05156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真応答が各機構『自分専用のnull』を超える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Type A 0.637 / Type B 0.368 / union 0.359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各4/4でnull外・4/4方向一致 → SUPPORTED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★充電側Type Bも168hで自分のnullを超える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= 充電側は背景充電でなく本物の刺激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プラセボ(ニセ機会)では効かず本物の機会でだけ効く。充電側Type Bも本物だと確定。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6A3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特許候補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Part2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11247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2560320"/>
                <a:gridCol w="256032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特許候補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技術エビデンス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新規性リスク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① 機会条件付き無応答監査（二機構・中核）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STRONG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77B4"/>
                          </a:solidFill>
                          <a:latin typeface="Meiryo UI"/>
                          <a:ea typeface="Meiryo UI"/>
                          <a:cs typeface="Meiryo UI"/>
                        </a:rPr>
                        <a:t>MEDIUM-HIGH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  └ 充電側部分再学習の検出（深放電不要）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STRONG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77B4"/>
                          </a:solidFill>
                          <a:latin typeface="Meiryo UI"/>
                          <a:ea typeface="Meiryo UI"/>
                          <a:cs typeface="Meiryo UI"/>
                        </a:rPr>
                        <a:t>MEDIUM(要調査)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② デュアルトラック非対称リセット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STRONG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392B"/>
                          </a:solidFill>
                          <a:latin typeface="Meiryo UI"/>
                          <a:ea typeface="Meiryo UI"/>
                          <a:cs typeface="Meiryo UI"/>
                        </a:rPr>
                        <a:t>HIGH(着想日依存)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③ 有界保持の因果証拠台帳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STRONG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77B4"/>
                          </a:solidFill>
                          <a:latin typeface="Meiryo UI"/>
                          <a:ea typeface="Meiryo UI"/>
                          <a:cs typeface="Meiryo UI"/>
                        </a:rPr>
                        <a:t>MEDIUM-HIGH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023360"/>
            <a:ext cx="1118585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新規性の核: 深放電を伴わない『充電側部分再学習の無応答検出』＋『2機構を満充電ENDで統合』＋機構別k・168h窓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先行技術(UNVERIFIED)は充電側部分再学習の無応答監査を教示しない（TI Impedance-Track は機会=qualified discharge が前提）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『技術が強い』と『特許が取れる』は別軸。核心の新規性は『充電側検出』にある。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正直な開示 — 弱点と残課題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開示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58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Type B 重複帰属 0.65: 密な168h窓が重なり1ステップが複数エピソードに帰属 → first-step-only帰属で対処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オンライン累積k: 確定信号がFW側に大きく振れる(FW_CORE 49・NORMAL 41)。Type Bのhealthy応答0.45で累積無応答が貯まる。全履歴のtail-scoped版(FW 35)がより保守的 → 改善余地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残差~9%: 監査窓を14日に広げても未説明のFCC更新(中央値260mWh)が残る。第3経路 or 満充電END取りこぼし(conservationモード・寝過ごし, 46台はRSOC≥99未到達)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charge-termination NOT AVAILABLE（END代理）/ proxyラベルは地上真実でない / 先行技術UNVERIFIED / 法的結論なし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強い結果ほど弱点を明示する。3つの課題はクレーム設計と追加検証で対処する。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まとめ &amp; reviewerへの依頼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858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学習機会を実機の2機構(深放電/充電側)で定義し、満充電END起点168h窓で無応答を監査。両機構とも敵対的検証をパス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実績: FW確認35台/ゲージリセット10台(全履歴)、FW_CORE 49(オンライン)。5本柱すべて成立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新規性の核は『充電側部分再学習の検出』。全て新規ファイルで再現・本番コードは無変更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392B"/>
                </a:solidFill>
                <a:latin typeface="Meiryo UI"/>
                <a:ea typeface="Meiryo UI"/>
                <a:cs typeface="Meiryo UI"/>
              </a:rPr>
              <a:t>reviewerへの依頼: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(1) 二機構クレームの粒度・範囲の判断  (2) 充電側部分再学習検出の新規性/先行技術調査の発注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(3) 候補②の着想日・公開有無の確認  (4) Type B重複帰属・online累積kのクレーム上の扱い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実機どおり2機構で監査したところ、機会条件付き無応答監査は技術的に強く裏付けられた。次は新規性(充電側検出)の正式調査。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付録 — 判定閾値一覧（前段ゲート・候補判定・トリアージ）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付録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14400"/>
          <a:ext cx="1170432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0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ラベル / 段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判定条件（各行内はAND。『いずれか』はOR）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REVIEW（保留）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obs&lt;120日 ／ n_samples&lt;200 ／ cycleCount減少・serialNumber変化 の いずれか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候補判定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fcc_changes=0&amp;obs≥120 ／ flat_tail≥180日 ／ cycle≥50&amp;更新率≤4.24 ／ obs≥180&amp;更新率≤1.41 の いずれか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NORMAL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候補条件に一つも該当しない（FCCが健全群並みに更新）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FW確認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候補 &amp; flat_tail≥180日 &amp; tail_cycle≥30 &amp; 品質OK &amp; (Type B無応答≥5 or Type A無応答≥3)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ゲージ再較正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候補 &amp; flat_tail≥120日 &amp; 学習機会ゼロ(A・Bとも) &amp; 使用ゲート &amp; 品質OK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WATCH（保留）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6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候補だがFW・ゲージのどちらにも確信できない残差（境界 / large-gap / 完全窓不足）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4480560"/>
            <a:ext cx="11430000" cy="1234440"/>
          </a:xfrm>
          <a:prstGeom prst="roundRect">
            <a:avLst/>
          </a:prstGeom>
          <a:solidFill>
            <a:srgbClr val="EEF2F7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354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■ 共通パラメータ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28032"/>
            <a:ext cx="1109441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満充電(END): RSOC≥99% ／ Type A 深放電: RSOC≤6% ／ Type B: 充電中に60-80%を通過(abort&lt;60)</a:t>
            </a:r>
          </a:p>
          <a:p>
            <a:pPr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有効ステップ: |ΔFCC|≥50mWh ／ 応答窓: 168h(主, 24/72hは副) ／ 品質ティア: HIGH_OK≤12h・MEDIUM_GAP≤24h</a:t>
            </a:r>
          </a:p>
          <a:p>
            <a:pPr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FW閾値k: A=3 / B=5（健全応答0.74/0.45から誤警報5%以下で導出）｜ p05(健全群): 4.24(/100cyc)・1.41(/100d), active-reference n=214</a:t>
            </a:r>
          </a:p>
          <a:p>
            <a:pPr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※ 更新率の単位は /100cyc・/100d。窓・各閾値は代替実施形態として調整可能（一部の微調整値は営業秘密として非公開）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全ラベルは透明なしきい値ルール（機種名は不使用）。数値は本解析の運用値で、窓・閾値は調整可能な代替実施形態。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付録 — 品質ティア＋censored除外（⑤の判定詳細）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付録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858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目的: データの穴(大ギャップ)・打切り(未観測窓)を『無応答』と誤計上しない（根拠E: 誤無応答 204→5, 約40x削減）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品質スコア = 0.45×(最大ギャップ成分) + 0.35×(観測カバレッジ) + 0.20×(端点ギャップ成分)（重み和=1.0）｜ 最大ギャップ成分: ≤12h→1.0 / 12-24hで1.0→0.5 / 24-48hで0.5→0.0 / &gt;48h→0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74519"/>
          <a:ext cx="11704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480560"/>
                <a:gridCol w="4846320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品質ティア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条件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no_response 計上</a:t>
                      </a:r>
                    </a:p>
                  </a:txBody>
                  <a:tcPr>
                    <a:solidFill>
                      <a:srgbClr val="1F375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HIGH_OK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max_gap ≤ 12h かつ score ≥ 0.80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可（FW_CORE/GAUGE_CORE も支持）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MEDIUM_GAP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max_gap ≤ 24h かつ score ≥ 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CA02C"/>
                          </a:solidFill>
                          <a:latin typeface="Meiryo UI"/>
                          <a:ea typeface="Meiryo UI"/>
                          <a:cs typeface="Meiryo UI"/>
                        </a:rPr>
                        <a:t>✅ 可（FW_WATCH。FW_CORE単独は不可）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LOW_LARGE_GAP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それ以外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392B"/>
                          </a:solidFill>
                          <a:latin typeface="Meiryo UI"/>
                          <a:ea typeface="Meiryo UI"/>
                          <a:cs typeface="Meiryo UI"/>
                        </a:rPr>
                        <a:t>❌ 曖昧のみ・数えない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INVALID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Meiryo UI"/>
                          <a:ea typeface="Meiryo UI"/>
                          <a:cs typeface="Meiryo UI"/>
                        </a:rPr>
                        <a:t>FCC/RSOC欠損・順序異常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392B"/>
                          </a:solidFill>
                          <a:latin typeface="Meiryo UI"/>
                          <a:ea typeface="Meiryo UI"/>
                          <a:cs typeface="Meiryo UI"/>
                        </a:rPr>
                        <a:t>❌ 除外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3484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censored除外: 応答窓 END+168h が最終観測サンプルより後 → censored → pending(保留)・数えない（END+168h ≤ 最終観測 なら no_response 確定可）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計上ルール: no_response(+1) は『(HIGH_OK または MEDIUM_GAP) かつ 非censored』の機会だけ。それ以外は保留（加算しない）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•  ※ 全履歴監査版は簡易に最大ギャップ 12h/24h のみでティア分け（オンライン版はスコア併用）。結論は同じ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データの穴と打切りを冤罪にしない二重の関門。数えるのは『十分サンプリング(≤12/24h)＋完全観測(非censored)』の機会のみ。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付録 — 品質スコアの3成分（最大ギャップ / カバレッジ / 端点ギャップ）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付録</a:t>
            </a:r>
          </a:p>
        </p:txBody>
      </p:sp>
      <p:pic>
        <p:nvPicPr>
          <p:cNvPr id="5" name="Picture 4" descr="od2_quality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87552"/>
            <a:ext cx="6492240" cy="3252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25826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図: od2_quality_components.png（dpi=300・匿名化済み）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914400"/>
            <a:ext cx="484632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b="1">
                <a:solidFill>
                  <a:srgbClr val="1F77B4"/>
                </a:solidFill>
                <a:latin typeface="Meiryo UI"/>
                <a:ea typeface="Meiryo UI"/>
                <a:cs typeface="Meiryo UI"/>
              </a:rPr>
              <a:t>【何のグラフか】</a:t>
            </a:r>
          </a:p>
          <a:p>
            <a:r>
              <a:rPr sz="11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1つの学習機会の区間を RSOC 波形＋サンプル点(●)で示し、観測の“穴”の3つの見方を図示した模式図。</a:t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【軸・変数の定義】</a:t>
            </a:r>
          </a:p>
          <a:p>
            <a:r>
              <a:rPr sz="11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縦=RSOC(%)、横=時間(h)。●=観測サンプル、赤帯=未観測の穴、灰破線=未観測区間の推定、START/LOW/END=機会のアンカー。</a:t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2CA02C"/>
                </a:solidFill>
                <a:latin typeface="Meiryo UI"/>
                <a:ea typeface="Meiryo UI"/>
                <a:cs typeface="Meiryo UI"/>
              </a:rPr>
              <a:t>【主張（言いたいこと）】</a:t>
            </a:r>
          </a:p>
          <a:p>
            <a:r>
              <a:rPr sz="11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①最大ギャップ=区間内の最大の穴（赤帯=20h） ②観測カバレッジ=“見えていた”時間の割合 ③端点ギャップ=境界付近の穴（小さいほど良い）。</a:t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B05A00"/>
                </a:solidFill>
                <a:latin typeface="Meiryo UI"/>
                <a:ea typeface="Meiryo UI"/>
                <a:cs typeface="Meiryo UI"/>
              </a:rPr>
              <a:t>【読み方・解釈】</a:t>
            </a:r>
          </a:p>
          <a:p>
            <a:r>
              <a:rPr sz="1100" b="0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この例は中央に大穴があり①↓・②↓だが、END付近は密で③↑。3成分を 0.45/0.35/0.20 で合成→score→ティア判定。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観測の“穴”を『最悪の大きさ①／全体の密度②／境界の精度③』の3面で評価する。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付録 — 詳細フロー ④⑤（機会ごと・閾値込み）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付録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87552"/>
            <a:ext cx="11247120" cy="530352"/>
          </a:xfrm>
          <a:prstGeom prst="roundRect">
            <a:avLst/>
          </a:prstGeom>
          <a:solidFill>
            <a:srgbClr val="336699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学習機会の END（満充電到達）— この機会は Type A（深放電サイクル）か Type B（充電側部分再学習）のどちらか（③で確定済み）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1517904"/>
            <a:ext cx="0" cy="237744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" y="1755648"/>
            <a:ext cx="8229600" cy="841248"/>
          </a:xfrm>
          <a:prstGeom prst="roundRect">
            <a:avLst/>
          </a:prstGeom>
          <a:solidFill>
            <a:srgbClr val="376B3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6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共通判定（A・B 同じロジック）  ⑤品質ティア(HIGH_OK / MEDIUM_GAP のみ有効) → ⑤完全観測(END+168h ≤ 最終観測サンプル = 非censored) → ④ 窓[END, END+168h] に 有効ステップ |ΔFCC|≥50mWh 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810512"/>
            <a:ext cx="2880360" cy="731520"/>
          </a:xfrm>
          <a:prstGeom prst="roundRect">
            <a:avLst/>
          </a:prstGeom>
          <a:solidFill>
            <a:srgbClr val="C89B2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LOW_LARGE_GAP / INVALID / censored → 保留（どちらのカウンタにも数えない）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7168" y="2596896"/>
            <a:ext cx="0" cy="438912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93408" y="2596896"/>
            <a:ext cx="0" cy="438912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035808"/>
            <a:ext cx="3977639" cy="457200"/>
          </a:xfrm>
          <a:prstGeom prst="roundRect">
            <a:avLst/>
          </a:prstGeom>
          <a:solidFill>
            <a:srgbClr val="1F77B4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Type A（深放電サイクル）の機会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3977639" cy="512064"/>
          </a:xfrm>
          <a:prstGeom prst="roundRect">
            <a:avLst/>
          </a:prstGeom>
          <a:solidFill>
            <a:srgbClr val="C0392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④ no_response → Type A 無応答カウンタ +1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33672"/>
            <a:ext cx="3977639" cy="512064"/>
          </a:xfrm>
          <a:prstGeom prst="roundRect">
            <a:avLst/>
          </a:prstGeom>
          <a:solidFill>
            <a:srgbClr val="2CA02C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8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④ responded (≥50mWh) → 同カウンタ 0 にリセット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55464"/>
            <a:ext cx="3977639" cy="457200"/>
          </a:xfrm>
          <a:prstGeom prst="roundRect">
            <a:avLst/>
          </a:prstGeom>
          <a:solidFill>
            <a:srgbClr val="E2ECF7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8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→ FW判定に寄与: Type A 無応答 ≥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035808"/>
            <a:ext cx="3977639" cy="457200"/>
          </a:xfrm>
          <a:prstGeom prst="roundRect">
            <a:avLst/>
          </a:prstGeom>
          <a:solidFill>
            <a:srgbClr val="2E6E6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Type B（充電側部分再学習）の機会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3611880"/>
            <a:ext cx="3977639" cy="512064"/>
          </a:xfrm>
          <a:prstGeom prst="roundRect">
            <a:avLst/>
          </a:prstGeom>
          <a:solidFill>
            <a:srgbClr val="C0392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④ no_response → Type B 無応答カウンタ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4233672"/>
            <a:ext cx="3977639" cy="512064"/>
          </a:xfrm>
          <a:prstGeom prst="roundRect">
            <a:avLst/>
          </a:prstGeom>
          <a:solidFill>
            <a:srgbClr val="2CA02C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8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④ responded (≥50mWh) → 同カウンタ 0 にリセット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4855464"/>
            <a:ext cx="3977639" cy="457200"/>
          </a:xfrm>
          <a:prstGeom prst="roundRect">
            <a:avLst/>
          </a:prstGeom>
          <a:solidFill>
            <a:srgbClr val="E2ECF7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80" b="1">
                <a:solidFill>
                  <a:srgbClr val="1F375B"/>
                </a:solidFill>
                <a:latin typeface="Meiryo UI"/>
                <a:ea typeface="Meiryo UI"/>
                <a:cs typeface="Meiryo UI"/>
              </a:rPr>
              <a:t>→ FW判定に寄与: Type B 無応答 ≥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★各機会は Type A / Type B のどちらか。共通の判定(⑤④)を通し、無応答なら『その機構』のカウンタに +1・応答なら 0 リセット。A と B は別カウンタ・別閾値（FW: A≥3 / B≥5）で数える。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3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26561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付録 — 詳細フロー ⑥（ユーザーごと・閾値込み）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182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DDE8F2"/>
                </a:solidFill>
                <a:latin typeface="Meiryo UI"/>
                <a:ea typeface="Meiryo UI"/>
                <a:cs typeface="Meiryo UI"/>
              </a:rPr>
              <a:t>付録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005840"/>
            <a:ext cx="6400800" cy="475488"/>
          </a:xfrm>
          <a:prstGeom prst="roundRect">
            <a:avLst/>
          </a:prstGeom>
          <a:solidFill>
            <a:srgbClr val="336699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候補（前段ゲートで REVIEW/NORMAL は除外済）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23360" y="1481328"/>
            <a:ext cx="0" cy="210312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691640"/>
            <a:ext cx="6400800" cy="658368"/>
          </a:xfrm>
          <a:prstGeom prst="roundRect">
            <a:avLst/>
          </a:prstGeom>
          <a:solidFill>
            <a:srgbClr val="1F375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① FW確認(high): flat_tail≥180日 &amp; tail_cyc≥30 &amp; 品質OK &amp; (Type B無応答≥5 or Type A無応答≥3)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7223760" y="2020824"/>
            <a:ext cx="365760" cy="18288"/>
          </a:xfrm>
          <a:prstGeom prst="line">
            <a:avLst/>
          </a:prstGeom>
          <a:ln w="20320">
            <a:solidFill>
              <a:srgbClr val="2CA0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89520" y="1764792"/>
            <a:ext cx="4206240" cy="512064"/>
          </a:xfrm>
          <a:prstGeom prst="roundRect">
            <a:avLst/>
          </a:prstGeom>
          <a:solidFill>
            <a:srgbClr val="C0392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FW確認候補（high）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3360" y="2350008"/>
            <a:ext cx="0" cy="100584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71800" y="227228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No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50592"/>
            <a:ext cx="6400800" cy="658368"/>
          </a:xfrm>
          <a:prstGeom prst="roundRect">
            <a:avLst/>
          </a:prstGeom>
          <a:solidFill>
            <a:srgbClr val="1F375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② ゲージ(high): flat_tail≥120日 &amp; 学習機会ゼロ(A・Bとも) &amp; 使用ゲート &amp; 品質OK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7223760" y="2779776"/>
            <a:ext cx="365760" cy="18288"/>
          </a:xfrm>
          <a:prstGeom prst="line">
            <a:avLst/>
          </a:prstGeom>
          <a:ln w="20320">
            <a:solidFill>
              <a:srgbClr val="2CA0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523744"/>
            <a:ext cx="4206240" cy="512064"/>
          </a:xfrm>
          <a:prstGeom prst="roundRect">
            <a:avLst/>
          </a:prstGeom>
          <a:solidFill>
            <a:srgbClr val="B05A00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ゲージ再較正候補（high）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3108960"/>
            <a:ext cx="0" cy="100584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71800" y="30312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No 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9544"/>
            <a:ext cx="6400800" cy="658368"/>
          </a:xfrm>
          <a:prstGeom prst="roundRect">
            <a:avLst/>
          </a:prstGeom>
          <a:solidFill>
            <a:srgbClr val="1F375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③ FW確認(medium): flat_tail≥120日 &amp; tail_cyc≥20 &amp; Type B無応答≥4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223760" y="3538728"/>
            <a:ext cx="365760" cy="18287"/>
          </a:xfrm>
          <a:prstGeom prst="line">
            <a:avLst/>
          </a:prstGeom>
          <a:ln w="20320">
            <a:solidFill>
              <a:srgbClr val="2CA0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89520" y="3282696"/>
            <a:ext cx="4206240" cy="512064"/>
          </a:xfrm>
          <a:prstGeom prst="roundRect">
            <a:avLst/>
          </a:prstGeom>
          <a:solidFill>
            <a:srgbClr val="C0392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FW確認候補（medium）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3360" y="3867911"/>
            <a:ext cx="0" cy="100585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971800" y="379018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No 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968496"/>
            <a:ext cx="6400800" cy="658368"/>
          </a:xfrm>
          <a:prstGeom prst="roundRect">
            <a:avLst/>
          </a:prstGeom>
          <a:solidFill>
            <a:srgbClr val="1F375B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④ ゲージ(medium): flat_tail≥60日 &amp; 学習機会ゼロ &amp; 使用ゲート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223760" y="4297680"/>
            <a:ext cx="365760" cy="18288"/>
          </a:xfrm>
          <a:prstGeom prst="line">
            <a:avLst/>
          </a:prstGeom>
          <a:ln w="20320">
            <a:solidFill>
              <a:srgbClr val="2CA0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4041648"/>
            <a:ext cx="4206240" cy="512064"/>
          </a:xfrm>
          <a:prstGeom prst="roundRect">
            <a:avLst/>
          </a:prstGeom>
          <a:solidFill>
            <a:srgbClr val="B05A00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ゲージ再較正候補（medium）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4626864"/>
            <a:ext cx="0" cy="100584"/>
          </a:xfrm>
          <a:prstGeom prst="line">
            <a:avLst/>
          </a:prstGeom>
          <a:ln w="25400">
            <a:solidFill>
              <a:srgbClr val="1F37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45491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No 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727448"/>
            <a:ext cx="6400800" cy="475488"/>
          </a:xfrm>
          <a:prstGeom prst="roundRect">
            <a:avLst/>
          </a:prstGeom>
          <a:solidFill>
            <a:srgbClr val="C89B2A"/>
          </a:solidFill>
          <a:ln>
            <a:solidFill>
              <a:srgbClr val="1F3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22222"/>
                </a:solidFill>
                <a:latin typeface="Meiryo UI"/>
                <a:ea typeface="Meiryo UI"/>
                <a:cs typeface="Meiryo UI"/>
              </a:rPr>
              <a:t>上記いずれも不成立 → WATCH（保留）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32180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適用順: fw_high &gt; gauge_high &gt; fw_med &gt; gauge_med &gt; watch（上から順・最初の一致で確定）｜ 使用ゲート = tail_cycle&lt;20 / tail_min_rsoc&gt;20 / tail_rsoc_swing&lt;60 / tail_ac≥0.80 のいずれか（mediumは &lt;30 / &gt;25 / &lt;50 / ≥0.75）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5943600"/>
            <a:ext cx="11551615" cy="475488"/>
          </a:xfrm>
          <a:prstGeom prst="roundRect">
            <a:avLst/>
          </a:prstGeom>
          <a:solidFill>
            <a:srgbClr val="FFF6DA"/>
          </a:solidFill>
          <a:ln>
            <a:solidFill>
              <a:srgbClr val="D9A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6B4A1F"/>
                </a:solidFill>
                <a:latin typeface="Meiryo UI"/>
                <a:ea typeface="Meiryo UI"/>
                <a:cs typeface="Meiryo UI"/>
              </a:rPr>
              <a:t>💡 候補を上から順に判定し、最初に一致した規則で確定。FW=機会ありに無応答(機構別≥k)、ゲージ=学習機会ゼロ、どれも不成立ならWATCH。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510528"/>
            <a:ext cx="111858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Meiryo UI"/>
                <a:ea typeface="Meiryo UI"/>
                <a:cs typeface="Meiryo UI"/>
              </a:rPr>
              <a:t>技術的特許性エビデンス（NOT a legal opinion）。先行技術は UNVERIFIED。特許化の粒度・範囲の最終判断は社内reviewer/弁理士。捏造（地上真実/介入/FW/因果結論）なし。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