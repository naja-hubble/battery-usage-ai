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54480"/>
            <a:ext cx="10728655" cy="2011680"/>
          </a:xfrm>
          <a:prstGeom prst="rect">
            <a:avLst/>
          </a:prstGeom>
          <a:noFill/>
        </p:spPr>
        <p:txBody>
          <a:bodyPr wrap="square">
            <a:spAutoFit/>
          </a:bodyPr>
          <a:lstStyle/>
          <a:p>
            <a:r>
              <a:rPr sz="3400" b="1">
                <a:solidFill>
                  <a:srgbClr val="FFFFFF"/>
                </a:solidFill>
              </a:rPr>
              <a:t>テレメトリからの FCC更新停止（ゲージ凍結）者の判定技術</a:t>
            </a:r>
          </a:p>
          <a:p>
            <a:r>
              <a:rPr sz="2000" b="0">
                <a:solidFill>
                  <a:srgbClr val="CFDDEE"/>
                </a:solidFill>
              </a:rPr>
              <a:t>— と、その実現過程で生まれた特許候補アイデア —</a:t>
            </a:r>
          </a:p>
        </p:txBody>
      </p:sp>
      <p:sp>
        <p:nvSpPr>
          <p:cNvPr id="4" name="TextBox 3"/>
          <p:cNvSpPr txBox="1"/>
          <p:nvPr/>
        </p:nvSpPr>
        <p:spPr>
          <a:xfrm>
            <a:off x="731520" y="3657600"/>
            <a:ext cx="10728655" cy="2377440"/>
          </a:xfrm>
          <a:prstGeom prst="rect">
            <a:avLst/>
          </a:prstGeom>
          <a:noFill/>
        </p:spPr>
        <p:txBody>
          <a:bodyPr wrap="square">
            <a:spAutoFit/>
          </a:bodyPr>
          <a:lstStyle/>
          <a:p>
            <a:r>
              <a:rPr sz="1500" b="0">
                <a:solidFill>
                  <a:srgbClr val="FFFFFF"/>
                </a:solidFill>
              </a:rPr>
              <a:t>•  本題: ノートPCバッテリのテレメトリ(RSOC/FCC/サイクル等)だけで『満充電容量(FCC)を再学習しなくなった個体』を判定する</a:t>
            </a:r>
          </a:p>
          <a:p>
            <a:r>
              <a:rPr sz="1500" b="0">
                <a:solidFill>
                  <a:srgbClr val="FFFFFF"/>
                </a:solidFill>
              </a:rPr>
              <a:t>•  母集団: 実バッテリ履歴 752ユーザー / 全期間 24,711 学習機会(エピソード)</a:t>
            </a:r>
          </a:p>
          <a:p>
            <a:r>
              <a:rPr sz="1500" b="0">
                <a:solidFill>
                  <a:srgbClr val="FFFFFF"/>
                </a:solidFill>
              </a:rPr>
              <a:t>•  特許候補は3つ(+将来2つ)に集約。どこをどの粒度で特許化するかの最終判断は社内reviewerに委ねる</a:t>
            </a:r>
          </a:p>
          <a:p>
            <a:r>
              <a:rPr sz="1500" b="0">
                <a:solidFill>
                  <a:srgbClr val="FFFFFF"/>
                </a:solidFill>
              </a:rPr>
              <a:t>•  技術効果は proxy ラベルに依存しない独立指標で検証。法的結論は主張しない</a:t>
            </a:r>
          </a:p>
        </p:txBody>
      </p:sp>
      <p:sp>
        <p:nvSpPr>
          <p:cNvPr id="5" name="TextBox 4"/>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用語定義 (1/2) — バッテリと学習機会</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用語定義</a:t>
            </a:r>
          </a:p>
        </p:txBody>
      </p:sp>
      <p:sp>
        <p:nvSpPr>
          <p:cNvPr id="5" name="TextBox 4"/>
          <p:cNvSpPr txBox="1"/>
          <p:nvPr/>
        </p:nvSpPr>
        <p:spPr>
          <a:xfrm>
            <a:off x="502920" y="932688"/>
            <a:ext cx="11185855" cy="5440680"/>
          </a:xfrm>
          <a:prstGeom prst="rect">
            <a:avLst/>
          </a:prstGeom>
          <a:noFill/>
        </p:spPr>
        <p:txBody>
          <a:bodyPr wrap="square">
            <a:spAutoFit/>
          </a:bodyPr>
          <a:lstStyle/>
          <a:p>
            <a:pPr>
              <a:spcAft>
                <a:spcPts val="400"/>
              </a:spcAft>
            </a:pPr>
            <a:r>
              <a:rPr b="1" sz="1300">
                <a:solidFill>
                  <a:srgbClr val="1F375B"/>
                </a:solidFill>
              </a:rPr>
              <a:t>FCC（満充電容量）　</a:t>
            </a:r>
            <a:r>
              <a:rPr sz="1200">
                <a:solidFill>
                  <a:srgbClr val="222222"/>
                </a:solidFill>
              </a:rPr>
              <a:t>燃料計が学習する『今の満充電容量』(mWh)。劣化で減る。充放電で段階的に再学習・更新。</a:t>
            </a:r>
          </a:p>
          <a:p>
            <a:pPr>
              <a:spcAft>
                <a:spcPts val="400"/>
              </a:spcAft>
            </a:pPr>
            <a:r>
              <a:rPr b="1" sz="1300">
                <a:solidFill>
                  <a:srgbClr val="1F375B"/>
                </a:solidFill>
              </a:rPr>
              <a:t>FCC更新停止 / ゲージ凍結　</a:t>
            </a:r>
            <a:r>
              <a:rPr sz="1200">
                <a:solidFill>
                  <a:srgbClr val="222222"/>
                </a:solidFill>
              </a:rPr>
              <a:t>FCCが長期間更新されない状態。SoH(健全性=FCC×100/DesignCapacity)が動かなくなる。本技術の判定対象。</a:t>
            </a:r>
          </a:p>
          <a:p>
            <a:pPr>
              <a:spcAft>
                <a:spcPts val="400"/>
              </a:spcAft>
            </a:pPr>
            <a:r>
              <a:rPr b="1" sz="1300">
                <a:solidFill>
                  <a:srgbClr val="1F375B"/>
                </a:solidFill>
              </a:rPr>
              <a:t>RSOC（相対残量, %）　</a:t>
            </a:r>
            <a:r>
              <a:rPr sz="1200">
                <a:solidFill>
                  <a:srgbClr val="222222"/>
                </a:solidFill>
              </a:rPr>
              <a:t>= remainingCapacity/FCC×100。今の充電残量%。high=満充電付近、low=空付近。</a:t>
            </a:r>
          </a:p>
          <a:p>
            <a:pPr>
              <a:spcAft>
                <a:spcPts val="400"/>
              </a:spcAft>
            </a:pPr>
            <a:r>
              <a:rPr b="1" sz="1300">
                <a:solidFill>
                  <a:srgbClr val="1F375B"/>
                </a:solidFill>
              </a:rPr>
              <a:t>学習機会 / エピソード　</a:t>
            </a:r>
            <a:r>
              <a:rPr sz="1200">
                <a:solidFill>
                  <a:srgbClr val="222222"/>
                </a:solidFill>
              </a:rPr>
              <a:t>燃料計がFCCを再学習できる『深い放電→再充電』1サイクル。RSOCが high→low→high と動いた区間。</a:t>
            </a:r>
          </a:p>
          <a:p>
            <a:pPr>
              <a:spcAft>
                <a:spcPts val="400"/>
              </a:spcAft>
            </a:pPr>
            <a:r>
              <a:rPr b="1" sz="1300">
                <a:solidFill>
                  <a:srgbClr val="1F375B"/>
                </a:solidFill>
              </a:rPr>
              <a:t>START / LOW / END　</a:t>
            </a:r>
            <a:r>
              <a:rPr sz="1200">
                <a:solidFill>
                  <a:srgbClr val="222222"/>
                </a:solidFill>
              </a:rPr>
              <a:t>エピソードの 開始(高RSOC) / 谷(最深放電) / 終了(再び高RSOC=再充電完了)。END=機会の完了時刻。</a:t>
            </a:r>
          </a:p>
          <a:p>
            <a:pPr>
              <a:spcAft>
                <a:spcPts val="400"/>
              </a:spcAft>
            </a:pPr>
            <a:r>
              <a:rPr b="1" sz="1300">
                <a:solidFill>
                  <a:srgbClr val="1F375B"/>
                </a:solidFill>
              </a:rPr>
              <a:t>有効ステップ（≥50mWh）　</a:t>
            </a:r>
            <a:r>
              <a:rPr sz="1200">
                <a:solidFill>
                  <a:srgbClr val="222222"/>
                </a:solidFill>
              </a:rPr>
              <a:t>意味あるFCC更新=『学習応答』とみなす最小変化。量子化最小は10mWh、それ未満は micro-step(微小)。</a:t>
            </a:r>
          </a:p>
          <a:p>
            <a:pPr>
              <a:spcAft>
                <a:spcPts val="400"/>
              </a:spcAft>
            </a:pPr>
            <a:r>
              <a:rPr b="1" sz="1300">
                <a:solidFill>
                  <a:srgbClr val="1F375B"/>
                </a:solidFill>
              </a:rPr>
              <a:t>応答ステータス（END後72h窓）　</a:t>
            </a:r>
            <a:r>
              <a:rPr sz="1200">
                <a:solidFill>
                  <a:srgbClr val="222222"/>
                </a:solidFill>
              </a:rPr>
              <a:t>responded=有効step有 / no_response=窓を全観測したが無し / censored=窓未観測で未確定(無応答に数えない)。</a:t>
            </a:r>
          </a:p>
        </p:txBody>
      </p:sp>
      <p:sp>
        <p:nvSpPr>
          <p:cNvPr id="6" name="TextBox 5"/>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用語定義 (2/2) — 検証手法と統計</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用語定義</a:t>
            </a:r>
          </a:p>
        </p:txBody>
      </p:sp>
      <p:sp>
        <p:nvSpPr>
          <p:cNvPr id="5" name="TextBox 4"/>
          <p:cNvSpPr txBox="1"/>
          <p:nvPr/>
        </p:nvSpPr>
        <p:spPr>
          <a:xfrm>
            <a:off x="502920" y="932688"/>
            <a:ext cx="11185855" cy="5440680"/>
          </a:xfrm>
          <a:prstGeom prst="rect">
            <a:avLst/>
          </a:prstGeom>
          <a:noFill/>
        </p:spPr>
        <p:txBody>
          <a:bodyPr wrap="square">
            <a:spAutoFit/>
          </a:bodyPr>
          <a:lstStyle/>
          <a:p>
            <a:pPr>
              <a:spcAft>
                <a:spcPts val="400"/>
              </a:spcAft>
            </a:pPr>
            <a:r>
              <a:rPr b="1" sz="1300">
                <a:solidFill>
                  <a:srgbClr val="1F375B"/>
                </a:solidFill>
              </a:rPr>
              <a:t>対照 / ヌル分布(null)　</a:t>
            </a:r>
            <a:r>
              <a:rPr sz="1200">
                <a:solidFill>
                  <a:srgbClr val="222222"/>
                </a:solidFill>
              </a:rPr>
              <a:t>効果が無い場合に期待される値。実データがその95%区間より外れれば『効果あり』と判断。</a:t>
            </a:r>
          </a:p>
          <a:p>
            <a:pPr>
              <a:spcAft>
                <a:spcPts val="400"/>
              </a:spcAft>
            </a:pPr>
            <a:r>
              <a:rPr b="1" sz="1300">
                <a:solidFill>
                  <a:srgbClr val="1F375B"/>
                </a:solidFill>
              </a:rPr>
              <a:t>負の対照検定(A2)　</a:t>
            </a:r>
            <a:r>
              <a:rPr sz="1200">
                <a:solidFill>
                  <a:srgbClr val="222222"/>
                </a:solidFill>
              </a:rPr>
              <a:t>機会END時刻をわざとズラした『ニセ機会』と比較し、応答が真の機会に特異かを検証。</a:t>
            </a:r>
          </a:p>
          <a:p>
            <a:pPr>
              <a:spcAft>
                <a:spcPts val="400"/>
              </a:spcAft>
            </a:pPr>
            <a:r>
              <a:rPr b="1" sz="1300">
                <a:solidFill>
                  <a:srgbClr val="1F375B"/>
                </a:solidFill>
              </a:rPr>
              <a:t>アンカー比較(A3)　</a:t>
            </a:r>
            <a:r>
              <a:rPr sz="1200">
                <a:solidFill>
                  <a:srgbClr val="222222"/>
                </a:solidFill>
              </a:rPr>
              <a:t>応答の起点を START/LOW/END で比較し『因果汚染(=再充電完了前の変化を応答と誤計上)』を定量化。</a:t>
            </a:r>
          </a:p>
          <a:p>
            <a:pPr>
              <a:spcAft>
                <a:spcPts val="400"/>
              </a:spcAft>
            </a:pPr>
            <a:r>
              <a:rPr b="1" sz="1300">
                <a:solidFill>
                  <a:srgbClr val="1F375B"/>
                </a:solidFill>
              </a:rPr>
              <a:t>応答ハザード(B)　</a:t>
            </a:r>
            <a:r>
              <a:rPr sz="1200">
                <a:solidFill>
                  <a:srgbClr val="222222"/>
                </a:solidFill>
              </a:rPr>
              <a:t>機会ENDからの経過時間に対する累積応答率(CIF)を生存解析で推定。</a:t>
            </a:r>
          </a:p>
          <a:p>
            <a:pPr>
              <a:spcAft>
                <a:spcPts val="400"/>
              </a:spcAft>
            </a:pPr>
            <a:r>
              <a:rPr b="1" sz="1300">
                <a:solidFill>
                  <a:srgbClr val="1F375B"/>
                </a:solidFill>
              </a:rPr>
              <a:t>欠測ストレス(E) / 保持グリッド(D)　</a:t>
            </a:r>
            <a:r>
              <a:rPr sz="1200">
                <a:solidFill>
                  <a:srgbClr val="222222"/>
                </a:solidFill>
              </a:rPr>
              <a:t>E=欠測・打ち切りを注入し誤判定耐性を検証 / D=生データ保持を短くしても全期間と等価か検証。</a:t>
            </a:r>
          </a:p>
          <a:p>
            <a:pPr>
              <a:spcAft>
                <a:spcPts val="400"/>
              </a:spcAft>
            </a:pPr>
            <a:r>
              <a:rPr b="1" sz="1300">
                <a:solidFill>
                  <a:srgbClr val="1F375B"/>
                </a:solidFill>
              </a:rPr>
              <a:t>user-bootstrap　</a:t>
            </a:r>
            <a:r>
              <a:rPr sz="1200">
                <a:solidFill>
                  <a:srgbClr val="222222"/>
                </a:solidFill>
              </a:rPr>
              <a:t>ユーザ単位で再標本し信頼区間を計算。同一ユーザの複数機会を独立扱いしない(過小評価を防ぐ)。</a:t>
            </a:r>
          </a:p>
          <a:p>
            <a:pPr>
              <a:spcAft>
                <a:spcPts val="400"/>
              </a:spcAft>
            </a:pPr>
            <a:r>
              <a:rPr b="1" sz="1300">
                <a:solidFill>
                  <a:srgbClr val="1F375B"/>
                </a:solidFill>
              </a:rPr>
              <a:t>dual-track / 非対称リセット　</a:t>
            </a:r>
            <a:r>
              <a:rPr sz="1200">
                <a:solidFill>
                  <a:srgbClr val="222222"/>
                </a:solidFill>
              </a:rPr>
              <a:t>any(全変化)とeffective(≥50mWh)を別系統で追跡。微小変化はany系統のみリセットしeffective証拠は保持。</a:t>
            </a:r>
          </a:p>
          <a:p>
            <a:pPr>
              <a:spcAft>
                <a:spcPts val="400"/>
              </a:spcAft>
            </a:pPr>
            <a:r>
              <a:rPr b="1" sz="1300">
                <a:solidFill>
                  <a:srgbClr val="1F375B"/>
                </a:solidFill>
              </a:rPr>
              <a:t>stateful / stateless　</a:t>
            </a:r>
            <a:r>
              <a:rPr sz="1200">
                <a:solidFill>
                  <a:srgbClr val="222222"/>
                </a:solidFill>
              </a:rPr>
              <a:t>永続状態あり/なしの処理。statefulは保持窓をまたぐ証拠を状態で回収できる。</a:t>
            </a:r>
          </a:p>
        </p:txBody>
      </p:sp>
      <p:sp>
        <p:nvSpPr>
          <p:cNvPr id="6" name="TextBox 5"/>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本来の目的と、なぜ難しいか</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1 ─ 本題</a:t>
            </a:r>
          </a:p>
        </p:txBody>
      </p:sp>
      <p:sp>
        <p:nvSpPr>
          <p:cNvPr id="5" name="TextBox 4"/>
          <p:cNvSpPr txBox="1"/>
          <p:nvPr/>
        </p:nvSpPr>
        <p:spPr>
          <a:xfrm>
            <a:off x="548640" y="1051560"/>
            <a:ext cx="5486400" cy="5120640"/>
          </a:xfrm>
          <a:prstGeom prst="rect">
            <a:avLst/>
          </a:prstGeom>
          <a:noFill/>
        </p:spPr>
        <p:txBody>
          <a:bodyPr wrap="square">
            <a:spAutoFit/>
          </a:bodyPr>
          <a:lstStyle/>
          <a:p>
            <a:r>
              <a:rPr sz="1600" b="1">
                <a:solidFill>
                  <a:srgbClr val="1F77B4"/>
                </a:solidFill>
              </a:rPr>
              <a:t>目的</a:t>
            </a:r>
          </a:p>
          <a:p>
            <a:r>
              <a:rPr sz="1300" b="0"/>
              <a:t>テレメトリ(RSOC・FCC・サイクル・時刻)だけから、FCCを再学習しなくなった個体(ゲージ凍結)をフリート規模で正しく判定する。</a:t>
            </a:r>
          </a:p>
          <a:p>
            <a:pPr>
              <a:spcBef>
                <a:spcPts val="1200"/>
              </a:spcBef>
            </a:pPr>
            <a:r>
              <a:rPr sz="1600" b="1">
                <a:solidFill>
                  <a:srgbClr val="1F77B4"/>
                </a:solidFill>
              </a:rPr>
              <a:t>なぜ難しいか</a:t>
            </a:r>
          </a:p>
          <a:p>
            <a:pPr>
              <a:spcAft>
                <a:spcPts val="400"/>
              </a:spcAft>
            </a:pPr>
            <a:r>
              <a:rPr sz="1250" b="0"/>
              <a:t>•  静的検査では区別不能: FCCが動かない理由が『浅い充放電で正常』か『要再較正』か『FW/HW起因』か判別できない</a:t>
            </a:r>
          </a:p>
          <a:p>
            <a:pPr>
              <a:spcAft>
                <a:spcPts val="400"/>
              </a:spcAft>
            </a:pPr>
            <a:r>
              <a:rPr sz="1250" b="0"/>
              <a:t>•  欠測・睡眠ギャップ・記録打ち切り: データの穴を『無応答』と誤判定しやすい</a:t>
            </a:r>
          </a:p>
          <a:p>
            <a:pPr>
              <a:spcAft>
                <a:spcPts val="400"/>
              </a:spcAft>
            </a:pPr>
            <a:r>
              <a:rPr sz="1250" b="0"/>
              <a:t>•  生データ保持が有界: 直近30日しか残せない等の制約で、過去の証拠が失われる</a:t>
            </a:r>
          </a:p>
          <a:p>
            <a:pPr>
              <a:spcAft>
                <a:spcPts val="400"/>
              </a:spcAft>
            </a:pPr>
            <a:r>
              <a:rPr sz="1250" b="0"/>
              <a:t>•  機種非依存が必須: 機種名でハードコードすると過学習・汎化不能</a:t>
            </a:r>
          </a:p>
        </p:txBody>
      </p:sp>
      <p:sp>
        <p:nvSpPr>
          <p:cNvPr id="6" name="Rounded Rectangle 5"/>
          <p:cNvSpPr/>
          <p:nvPr/>
        </p:nvSpPr>
        <p:spPr>
          <a:xfrm>
            <a:off x="6400800" y="1463040"/>
            <a:ext cx="5303520" cy="1828800"/>
          </a:xfrm>
          <a:prstGeom prst="roundRect">
            <a:avLst/>
          </a:prstGeom>
          <a:solidFill>
            <a:srgbClr val="1F77B4"/>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FCCが動かない = ?</a:t>
            </a:r>
          </a:p>
          <a:p>
            <a:pPr algn="ctr"/>
            <a:r>
              <a:rPr sz="950" b="0">
                <a:solidFill>
                  <a:srgbClr val="FFFFFF"/>
                </a:solidFill>
              </a:rPr>
              <a:t>静的検査では下の3つを区別できない</a:t>
            </a:r>
          </a:p>
        </p:txBody>
      </p:sp>
      <p:sp>
        <p:nvSpPr>
          <p:cNvPr id="7" name="Rounded Rectangle 6"/>
          <p:cNvSpPr/>
          <p:nvPr/>
        </p:nvSpPr>
        <p:spPr>
          <a:xfrm>
            <a:off x="6400800" y="3657600"/>
            <a:ext cx="1691640" cy="118872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正常</a:t>
            </a:r>
            <a:br/>
            <a:r>
              <a:rPr sz="1200" b="1">
                <a:solidFill>
                  <a:srgbClr val="FFFFFF"/>
                </a:solidFill>
              </a:rPr>
              <a:t>(浅充放電)</a:t>
            </a:r>
          </a:p>
        </p:txBody>
      </p:sp>
      <p:sp>
        <p:nvSpPr>
          <p:cNvPr id="8" name="Rounded Rectangle 7"/>
          <p:cNvSpPr/>
          <p:nvPr/>
        </p:nvSpPr>
        <p:spPr>
          <a:xfrm>
            <a:off x="8229600" y="3657600"/>
            <a:ext cx="1691640" cy="1188720"/>
          </a:xfrm>
          <a:prstGeom prst="roundRect">
            <a:avLst/>
          </a:prstGeom>
          <a:solidFill>
            <a:srgbClr val="B05A00"/>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要再較正</a:t>
            </a:r>
            <a:br/>
            <a:r>
              <a:rPr sz="1200" b="1">
                <a:solidFill>
                  <a:srgbClr val="FFFFFF"/>
                </a:solidFill>
              </a:rPr>
              <a:t>(ゲージ)</a:t>
            </a:r>
          </a:p>
        </p:txBody>
      </p:sp>
      <p:sp>
        <p:nvSpPr>
          <p:cNvPr id="9" name="Rounded Rectangle 8"/>
          <p:cNvSpPr/>
          <p:nvPr/>
        </p:nvSpPr>
        <p:spPr>
          <a:xfrm>
            <a:off x="10058400" y="3657600"/>
            <a:ext cx="1691640" cy="1188720"/>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FW/HW</a:t>
            </a:r>
            <a:br/>
            <a:r>
              <a:rPr sz="1200" b="1">
                <a:solidFill>
                  <a:srgbClr val="FFFFFF"/>
                </a:solidFill>
              </a:rPr>
              <a:t>起因</a:t>
            </a:r>
          </a:p>
        </p:txBody>
      </p:sp>
      <p:sp>
        <p:nvSpPr>
          <p:cNvPr id="10" name="TextBox 9"/>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失敗した素朴アプローチ → 発想の転換</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1 ─ 本題</a:t>
            </a:r>
          </a:p>
        </p:txBody>
      </p:sp>
      <p:sp>
        <p:nvSpPr>
          <p:cNvPr id="5" name="TextBox 4"/>
          <p:cNvSpPr txBox="1"/>
          <p:nvPr/>
        </p:nvSpPr>
        <p:spPr>
          <a:xfrm>
            <a:off x="548640" y="1097280"/>
            <a:ext cx="11064240" cy="2194560"/>
          </a:xfrm>
          <a:prstGeom prst="rect">
            <a:avLst/>
          </a:prstGeom>
          <a:noFill/>
        </p:spPr>
        <p:txBody>
          <a:bodyPr wrap="square">
            <a:spAutoFit/>
          </a:bodyPr>
          <a:lstStyle/>
          <a:p>
            <a:r>
              <a:rPr sz="1500" b="1">
                <a:solidFill>
                  <a:srgbClr val="1F375B"/>
                </a:solidFill>
              </a:rPr>
              <a:t>『使用挙動から凍結を予測』しようとしたが、解けなかった:</a:t>
            </a:r>
          </a:p>
          <a:p>
            <a:pPr>
              <a:spcAft>
                <a:spcPts val="300"/>
              </a:spcAft>
            </a:pPr>
            <a:r>
              <a:rPr sz="1300" b="0"/>
              <a:t>•  教師あり予測(33特徴量, 公平比較領域): AUC ≈ 0.54 — ほぼランダム</a:t>
            </a:r>
          </a:p>
          <a:p>
            <a:pPr>
              <a:spcAft>
                <a:spcPts val="300"/>
              </a:spcAft>
            </a:pPr>
            <a:r>
              <a:rPr sz="1300" b="0"/>
              <a:t>•  FCC履歴を除いた規範ML(異常スコア): AUC ≈ 0.56 — near-random</a:t>
            </a:r>
          </a:p>
          <a:p>
            <a:pPr>
              <a:spcAft>
                <a:spcPts val="300"/>
              </a:spcAft>
            </a:pPr>
            <a:r>
              <a:rPr sz="1300" b="0"/>
              <a:t>•  → 『予測』では解けない。最重要特徴 min_rsoc は『深放電ほど凍結』という反usage方向(交絡)。</a:t>
            </a:r>
          </a:p>
        </p:txBody>
      </p:sp>
      <p:sp>
        <p:nvSpPr>
          <p:cNvPr id="6" name="Rounded Rectangle 5"/>
          <p:cNvSpPr/>
          <p:nvPr/>
        </p:nvSpPr>
        <p:spPr>
          <a:xfrm>
            <a:off x="1097280" y="3840480"/>
            <a:ext cx="4206240" cy="146304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予測アプローチ</a:t>
            </a:r>
          </a:p>
          <a:p>
            <a:pPr algn="ctr"/>
            <a:r>
              <a:rPr sz="950" b="0">
                <a:solidFill>
                  <a:srgbClr val="FFFFFF"/>
                </a:solidFill>
              </a:rPr>
              <a:t>使用挙動→凍結を学習 (AUC≈0.54)</a:t>
            </a:r>
          </a:p>
        </p:txBody>
      </p:sp>
      <p:cxnSp>
        <p:nvCxnSpPr>
          <p:cNvPr id="7" name="Connector 6"/>
          <p:cNvCxnSpPr/>
          <p:nvPr/>
        </p:nvCxnSpPr>
        <p:spPr>
          <a:xfrm>
            <a:off x="5394960" y="4572000"/>
            <a:ext cx="1280160" cy="0"/>
          </a:xfrm>
          <a:prstGeom prst="line">
            <a:avLst/>
          </a:prstGeom>
          <a:ln w="28575">
            <a:solidFill>
              <a:srgbClr val="1F375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766560" y="3840480"/>
            <a:ext cx="4206240" cy="146304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機械的監査アプローチ（提案）</a:t>
            </a:r>
          </a:p>
          <a:p>
            <a:pPr algn="ctr"/>
            <a:r>
              <a:rPr sz="950" b="0">
                <a:solidFill>
                  <a:srgbClr val="FFFFFF"/>
                </a:solidFill>
              </a:rPr>
              <a:t>学習機会があったのに応答したか?を機会END起点で因果的に監査</a:t>
            </a:r>
          </a:p>
        </p:txBody>
      </p:sp>
      <p:sp>
        <p:nvSpPr>
          <p:cNvPr id="9" name="TextBox 8"/>
          <p:cNvSpPr txBox="1"/>
          <p:nvPr/>
        </p:nvSpPr>
        <p:spPr>
          <a:xfrm>
            <a:off x="548640" y="5577840"/>
            <a:ext cx="11064240" cy="640080"/>
          </a:xfrm>
          <a:prstGeom prst="rect">
            <a:avLst/>
          </a:prstGeom>
          <a:noFill/>
        </p:spPr>
        <p:txBody>
          <a:bodyPr wrap="square">
            <a:spAutoFit/>
          </a:bodyPr>
          <a:lstStyle/>
          <a:p>
            <a:r>
              <a:rPr sz="1300" b="1">
                <a:solidFill>
                  <a:srgbClr val="2CA02C"/>
                </a:solidFill>
              </a:rPr>
              <a:t>発想転換: 『凍結を当てる』のではなく『再学習する“機会”に対して実際に応答したかを機械的に監査する』。本技術の核。</a:t>
            </a:r>
          </a:p>
        </p:txBody>
      </p:sp>
      <p:sp>
        <p:nvSpPr>
          <p:cNvPr id="10" name="TextBox 9"/>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提案手法の全体像 — テレメトリから判定までの流れ</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1 ─ 本題</a:t>
            </a:r>
          </a:p>
        </p:txBody>
      </p:sp>
      <p:sp>
        <p:nvSpPr>
          <p:cNvPr id="5" name="Rounded Rectangle 4"/>
          <p:cNvSpPr/>
          <p:nvPr/>
        </p:nvSpPr>
        <p:spPr>
          <a:xfrm>
            <a:off x="320040" y="2468880"/>
            <a:ext cx="2157984" cy="1554480"/>
          </a:xfrm>
          <a:prstGeom prst="roundRect">
            <a:avLst/>
          </a:prstGeom>
          <a:solidFill>
            <a:srgbClr val="1F77B4"/>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① 学習機会の抽出</a:t>
            </a:r>
          </a:p>
          <a:p>
            <a:pPr algn="ctr"/>
            <a:r>
              <a:rPr sz="950" b="0">
                <a:solidFill>
                  <a:srgbClr val="FFFFFF"/>
                </a:solidFill>
              </a:rPr>
              <a:t>RSOC high→low→high</a:t>
            </a:r>
            <a:br/>
            <a:r>
              <a:rPr sz="950" b="0">
                <a:solidFill>
                  <a:srgbClr val="FFFFFF"/>
                </a:solidFill>
              </a:rPr>
              <a:t>(深放電→再充電)</a:t>
            </a:r>
          </a:p>
        </p:txBody>
      </p:sp>
      <p:cxnSp>
        <p:nvCxnSpPr>
          <p:cNvPr id="6" name="Connector 5"/>
          <p:cNvCxnSpPr/>
          <p:nvPr/>
        </p:nvCxnSpPr>
        <p:spPr>
          <a:xfrm>
            <a:off x="2478024" y="3246120"/>
            <a:ext cx="109728" cy="0"/>
          </a:xfrm>
          <a:prstGeom prst="line">
            <a:avLst/>
          </a:prstGeom>
          <a:ln w="28575">
            <a:solidFill>
              <a:srgbClr val="1F375B"/>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87752" y="2468880"/>
            <a:ext cx="2157984" cy="1554480"/>
          </a:xfrm>
          <a:prstGeom prst="roundRect">
            <a:avLst/>
          </a:prstGeom>
          <a:solidFill>
            <a:srgbClr val="2E6E6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② END起点で応答監査</a:t>
            </a:r>
          </a:p>
          <a:p>
            <a:pPr algn="ctr"/>
            <a:r>
              <a:rPr sz="950" b="0">
                <a:solidFill>
                  <a:srgbClr val="FFFFFF"/>
                </a:solidFill>
              </a:rPr>
              <a:t>再充電完了後72h窓の</a:t>
            </a:r>
            <a:br/>
            <a:r>
              <a:rPr sz="950" b="0">
                <a:solidFill>
                  <a:srgbClr val="FFFFFF"/>
                </a:solidFill>
              </a:rPr>
              <a:t>有効ステップ≥50mWh</a:t>
            </a:r>
          </a:p>
        </p:txBody>
      </p:sp>
      <p:cxnSp>
        <p:nvCxnSpPr>
          <p:cNvPr id="8" name="Connector 7"/>
          <p:cNvCxnSpPr/>
          <p:nvPr/>
        </p:nvCxnSpPr>
        <p:spPr>
          <a:xfrm>
            <a:off x="4745736" y="3246120"/>
            <a:ext cx="109728" cy="0"/>
          </a:xfrm>
          <a:prstGeom prst="line">
            <a:avLst/>
          </a:prstGeom>
          <a:ln w="28575">
            <a:solidFill>
              <a:srgbClr val="1F375B"/>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55464" y="2468880"/>
            <a:ext cx="2157984" cy="1554480"/>
          </a:xfrm>
          <a:prstGeom prst="roundRect">
            <a:avLst/>
          </a:prstGeom>
          <a:solidFill>
            <a:srgbClr val="B05A00"/>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③ 欠測/打ち切り耐性</a:t>
            </a:r>
          </a:p>
          <a:p>
            <a:pPr algn="ctr"/>
            <a:r>
              <a:rPr sz="950" b="0">
                <a:solidFill>
                  <a:srgbClr val="FFFFFF"/>
                </a:solidFill>
              </a:rPr>
              <a:t>段階品質ティア+</a:t>
            </a:r>
            <a:br/>
            <a:r>
              <a:rPr sz="950" b="0">
                <a:solidFill>
                  <a:srgbClr val="FFFFFF"/>
                </a:solidFill>
              </a:rPr>
              <a:t>censored除外</a:t>
            </a:r>
          </a:p>
        </p:txBody>
      </p:sp>
      <p:cxnSp>
        <p:nvCxnSpPr>
          <p:cNvPr id="10" name="Connector 9"/>
          <p:cNvCxnSpPr/>
          <p:nvPr/>
        </p:nvCxnSpPr>
        <p:spPr>
          <a:xfrm>
            <a:off x="7013448" y="3246120"/>
            <a:ext cx="109728" cy="0"/>
          </a:xfrm>
          <a:prstGeom prst="line">
            <a:avLst/>
          </a:prstGeom>
          <a:ln w="28575">
            <a:solidFill>
              <a:srgbClr val="1F375B"/>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123176" y="2468880"/>
            <a:ext cx="2157984" cy="1554480"/>
          </a:xfrm>
          <a:prstGeom prst="roundRect">
            <a:avLst/>
          </a:prstGeom>
          <a:solidFill>
            <a:srgbClr val="6A3D8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④ 二分岐トリアージ</a:t>
            </a:r>
          </a:p>
          <a:p>
            <a:pPr algn="ctr"/>
            <a:r>
              <a:rPr sz="950" b="0">
                <a:solidFill>
                  <a:srgbClr val="FFFFFF"/>
                </a:solidFill>
              </a:rPr>
              <a:t>機会反復×無応答→FW</a:t>
            </a:r>
            <a:br/>
            <a:r>
              <a:rPr sz="950" b="0">
                <a:solidFill>
                  <a:srgbClr val="FFFFFF"/>
                </a:solidFill>
              </a:rPr>
              <a:t>機会皆無→ゲージ再較正</a:t>
            </a:r>
          </a:p>
        </p:txBody>
      </p:sp>
      <p:cxnSp>
        <p:nvCxnSpPr>
          <p:cNvPr id="12" name="Connector 11"/>
          <p:cNvCxnSpPr/>
          <p:nvPr/>
        </p:nvCxnSpPr>
        <p:spPr>
          <a:xfrm>
            <a:off x="9281160" y="3246120"/>
            <a:ext cx="109728" cy="0"/>
          </a:xfrm>
          <a:prstGeom prst="line">
            <a:avLst/>
          </a:prstGeom>
          <a:ln w="28575">
            <a:solidFill>
              <a:srgbClr val="1F375B"/>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390888" y="2468880"/>
            <a:ext cx="2157984" cy="1554480"/>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rPr>
              <a:t>⑤ 有界保持で証拠保全</a:t>
            </a:r>
          </a:p>
          <a:p>
            <a:pPr algn="ctr"/>
            <a:r>
              <a:rPr sz="950" b="0">
                <a:solidFill>
                  <a:srgbClr val="FFFFFF"/>
                </a:solidFill>
              </a:rPr>
              <a:t>最小状態の因果台帳</a:t>
            </a:r>
            <a:br/>
            <a:r>
              <a:rPr sz="950" b="0">
                <a:solidFill>
                  <a:srgbClr val="FFFFFF"/>
                </a:solidFill>
              </a:rPr>
              <a:t>(30日保持で全期間等価)</a:t>
            </a:r>
          </a:p>
        </p:txBody>
      </p:sp>
      <p:sp>
        <p:nvSpPr>
          <p:cNvPr id="14" name="TextBox 13"/>
          <p:cNvSpPr txBox="1"/>
          <p:nvPr/>
        </p:nvSpPr>
        <p:spPr>
          <a:xfrm>
            <a:off x="365760" y="1051560"/>
            <a:ext cx="11430000" cy="1280160"/>
          </a:xfrm>
          <a:prstGeom prst="rect">
            <a:avLst/>
          </a:prstGeom>
          <a:noFill/>
        </p:spPr>
        <p:txBody>
          <a:bodyPr wrap="square">
            <a:spAutoFit/>
          </a:bodyPr>
          <a:lstStyle/>
          <a:p>
            <a:r>
              <a:rPr sz="1300" b="1">
                <a:solidFill>
                  <a:srgbClr val="1F375B"/>
                </a:solidFill>
              </a:rPr>
              <a:t>入力: テレメトリ(RSOC/FCC/cycleCount/timestamp) のみ。ハードウェア識別子は判定に使わない(機種非依存)。</a:t>
            </a:r>
          </a:p>
          <a:p>
            <a:r>
              <a:rPr sz="1250" b="0"/>
              <a:t>出力: 各ユーザを NORMAL / ゲージ再較正候補 / FW確認候補 / 判定保留(データ品質) に振り分け。①〜⑤の各段が後述の特許候補に対応する。</a:t>
            </a:r>
          </a:p>
        </p:txBody>
      </p:sp>
      <p:sp>
        <p:nvSpPr>
          <p:cNvPr id="15" name="TextBox 14"/>
          <p:cNvSpPr txBox="1"/>
          <p:nvPr/>
        </p:nvSpPr>
        <p:spPr>
          <a:xfrm>
            <a:off x="365760" y="4297680"/>
            <a:ext cx="11430000" cy="1463040"/>
          </a:xfrm>
          <a:prstGeom prst="rect">
            <a:avLst/>
          </a:prstGeom>
          <a:noFill/>
        </p:spPr>
        <p:txBody>
          <a:bodyPr wrap="square">
            <a:spAutoFit/>
          </a:bodyPr>
          <a:lstStyle/>
          <a:p>
            <a:r>
              <a:rPr sz="1250" b="0">
                <a:solidFill>
                  <a:srgbClr val="555555"/>
                </a:solidFill>
              </a:rPr>
              <a:t>•  ①+③+④ → 特許候補①（機会条件付き無応答監査・中核判定法）</a:t>
            </a:r>
          </a:p>
          <a:p>
            <a:r>
              <a:rPr sz="1250" b="0">
                <a:solidFill>
                  <a:srgbClr val="555555"/>
                </a:solidFill>
              </a:rPr>
              <a:t>•  ②(微小変化の扱い) → 特許候補②（デュアルトラック非対称リセット状態機械）</a:t>
            </a:r>
          </a:p>
          <a:p>
            <a:r>
              <a:rPr sz="1250" b="0">
                <a:solidFill>
                  <a:srgbClr val="555555"/>
                </a:solidFill>
              </a:rPr>
              <a:t>•  ⑤(保持制約下の証拠保全) → 特許候補③（有界保持の因果証拠台帳・最小状態）</a:t>
            </a:r>
          </a:p>
        </p:txBody>
      </p:sp>
      <p:sp>
        <p:nvSpPr>
          <p:cNvPr id="16" name="TextBox 15"/>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根拠① 応答は『真の機会』に特異（負の対照検定 A2）</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1 ─ 判定法が機能する根拠</a:t>
            </a:r>
          </a:p>
        </p:txBody>
      </p:sp>
      <p:pic>
        <p:nvPicPr>
          <p:cNvPr id="5" name="Picture 4" descr="negative_control_true_vs_null.png"/>
          <p:cNvPicPr>
            <a:picLocks noChangeAspect="1"/>
          </p:cNvPicPr>
          <p:nvPr/>
        </p:nvPicPr>
        <p:blipFill>
          <a:blip r:embed="rId2"/>
          <a:stretch>
            <a:fillRect/>
          </a:stretch>
        </p:blipFill>
        <p:spPr>
          <a:xfrm>
            <a:off x="365760" y="1024128"/>
            <a:ext cx="6492240" cy="3700322"/>
          </a:xfrm>
          <a:prstGeom prst="rect">
            <a:avLst/>
          </a:prstGeom>
        </p:spPr>
      </p:pic>
      <p:sp>
        <p:nvSpPr>
          <p:cNvPr id="6" name="TextBox 5"/>
          <p:cNvSpPr txBox="1"/>
          <p:nvPr/>
        </p:nvSpPr>
        <p:spPr>
          <a:xfrm>
            <a:off x="365760" y="5943600"/>
            <a:ext cx="6492240" cy="365760"/>
          </a:xfrm>
          <a:prstGeom prst="rect">
            <a:avLst/>
          </a:prstGeom>
          <a:noFill/>
        </p:spPr>
        <p:txBody>
          <a:bodyPr wrap="square">
            <a:spAutoFit/>
          </a:bodyPr>
          <a:lstStyle/>
          <a:p>
            <a:r>
              <a:rPr sz="900" b="0">
                <a:solidFill>
                  <a:srgbClr val="555555"/>
                </a:solidFill>
              </a:rPr>
              <a:t>図: negative_control_true_vs_null.png（dpi=300・匿名）</a:t>
            </a:r>
          </a:p>
        </p:txBody>
      </p:sp>
      <p:sp>
        <p:nvSpPr>
          <p:cNvPr id="7" name="TextBox 6"/>
          <p:cNvSpPr txBox="1"/>
          <p:nvPr/>
        </p:nvSpPr>
        <p:spPr>
          <a:xfrm>
            <a:off x="7086600" y="960120"/>
            <a:ext cx="4800600" cy="5303520"/>
          </a:xfrm>
          <a:prstGeom prst="rect">
            <a:avLst/>
          </a:prstGeom>
          <a:noFill/>
        </p:spPr>
        <p:txBody>
          <a:bodyPr wrap="square">
            <a:spAutoFit/>
          </a:bodyPr>
          <a:lstStyle/>
          <a:p>
            <a:pPr>
              <a:spcBef>
                <a:spcPts val="600"/>
              </a:spcBef>
            </a:pPr>
            <a:r>
              <a:rPr sz="1250" b="1">
                <a:solidFill>
                  <a:srgbClr val="1F77B4"/>
                </a:solidFill>
              </a:rPr>
              <a:t>【何のグラフか】</a:t>
            </a:r>
          </a:p>
          <a:p>
            <a:r>
              <a:rPr sz="1150" b="0">
                <a:solidFill>
                  <a:srgbClr val="222222"/>
                </a:solidFill>
              </a:rPr>
              <a:t>判定の前提『機会ENDの後に本当にFCCが応答する』を、END時刻をズラした5種のニセ機会(対照)と比較して確認。</a:t>
            </a:r>
          </a:p>
          <a:p>
            <a:pPr>
              <a:spcBef>
                <a:spcPts val="600"/>
              </a:spcBef>
            </a:pPr>
            <a:r>
              <a:rPr sz="1250" b="1">
                <a:solidFill>
                  <a:srgbClr val="1F375B"/>
                </a:solidFill>
              </a:rPr>
              <a:t>【軸・変数の定義】</a:t>
            </a:r>
          </a:p>
          <a:p>
            <a:r>
              <a:rPr sz="1150" b="0">
                <a:solidFill>
                  <a:srgbClr val="222222"/>
                </a:solidFill>
              </a:rPr>
              <a:t>縦軸=応答確率(END後72h以内に有効ステップが起きた割合)。赤線=実データ。棒=各ニセ機会の応答率と95%区間。</a:t>
            </a:r>
          </a:p>
          <a:p>
            <a:pPr>
              <a:spcBef>
                <a:spcPts val="600"/>
              </a:spcBef>
            </a:pPr>
            <a:r>
              <a:rPr sz="1250" b="1">
                <a:solidFill>
                  <a:srgbClr val="2CA02C"/>
                </a:solidFill>
              </a:rPr>
              <a:t>【主張（言いたいこと）】</a:t>
            </a:r>
          </a:p>
          <a:p>
            <a:r>
              <a:rPr sz="1150" b="0">
                <a:solidFill>
                  <a:srgbClr val="222222"/>
                </a:solidFill>
              </a:rPr>
              <a:t>実データの応答率(0.39)はどのニセ機会より高い→応答は『真の機会END時刻』に特異。単なる時間経過・活動量・ユーザ差ではない。</a:t>
            </a:r>
          </a:p>
          <a:p>
            <a:pPr>
              <a:spcBef>
                <a:spcPts val="600"/>
              </a:spcBef>
            </a:pPr>
            <a:r>
              <a:rPr sz="1250" b="1">
                <a:solidFill>
                  <a:srgbClr val="B05A00"/>
                </a:solidFill>
              </a:rPr>
              <a:t>【読み方・解釈】</a:t>
            </a:r>
          </a:p>
          <a:p>
            <a:r>
              <a:rPr sz="1150" b="0">
                <a:solidFill>
                  <a:srgbClr val="222222"/>
                </a:solidFill>
              </a:rPr>
              <a:t>赤線が棒(95%区間)より上ほど明確。5/5の対照で区間外→判定の土台(機会-応答の因果)が成立。</a:t>
            </a:r>
          </a:p>
        </p:txBody>
      </p:sp>
      <p:sp>
        <p:nvSpPr>
          <p:cNvPr id="8" name="TextBox 7"/>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根拠② 応答の起点はEND(再充電完了)が正しい（A3）</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1 ─ 判定法が機能する根拠</a:t>
            </a:r>
          </a:p>
        </p:txBody>
      </p:sp>
      <p:pic>
        <p:nvPicPr>
          <p:cNvPr id="5" name="Picture 4" descr="response_anchor_contamination.png"/>
          <p:cNvPicPr>
            <a:picLocks noChangeAspect="1"/>
          </p:cNvPicPr>
          <p:nvPr/>
        </p:nvPicPr>
        <p:blipFill>
          <a:blip r:embed="rId2"/>
          <a:stretch>
            <a:fillRect/>
          </a:stretch>
        </p:blipFill>
        <p:spPr>
          <a:xfrm>
            <a:off x="365760" y="1024128"/>
            <a:ext cx="6492240" cy="3942683"/>
          </a:xfrm>
          <a:prstGeom prst="rect">
            <a:avLst/>
          </a:prstGeom>
        </p:spPr>
      </p:pic>
      <p:sp>
        <p:nvSpPr>
          <p:cNvPr id="6" name="TextBox 5"/>
          <p:cNvSpPr txBox="1"/>
          <p:nvPr/>
        </p:nvSpPr>
        <p:spPr>
          <a:xfrm>
            <a:off x="365760" y="5943600"/>
            <a:ext cx="6492240" cy="365760"/>
          </a:xfrm>
          <a:prstGeom prst="rect">
            <a:avLst/>
          </a:prstGeom>
          <a:noFill/>
        </p:spPr>
        <p:txBody>
          <a:bodyPr wrap="square">
            <a:spAutoFit/>
          </a:bodyPr>
          <a:lstStyle/>
          <a:p>
            <a:r>
              <a:rPr sz="900" b="0">
                <a:solidFill>
                  <a:srgbClr val="555555"/>
                </a:solidFill>
              </a:rPr>
              <a:t>図: response_anchor_contamination.png（dpi=300・匿名）</a:t>
            </a:r>
          </a:p>
        </p:txBody>
      </p:sp>
      <p:sp>
        <p:nvSpPr>
          <p:cNvPr id="7" name="TextBox 6"/>
          <p:cNvSpPr txBox="1"/>
          <p:nvPr/>
        </p:nvSpPr>
        <p:spPr>
          <a:xfrm>
            <a:off x="7086600" y="960120"/>
            <a:ext cx="4800600" cy="5303520"/>
          </a:xfrm>
          <a:prstGeom prst="rect">
            <a:avLst/>
          </a:prstGeom>
          <a:noFill/>
        </p:spPr>
        <p:txBody>
          <a:bodyPr wrap="square">
            <a:spAutoFit/>
          </a:bodyPr>
          <a:lstStyle/>
          <a:p>
            <a:pPr>
              <a:spcBef>
                <a:spcPts val="600"/>
              </a:spcBef>
            </a:pPr>
            <a:r>
              <a:rPr sz="1250" b="1">
                <a:solidFill>
                  <a:srgbClr val="1F77B4"/>
                </a:solidFill>
              </a:rPr>
              <a:t>【何のグラフか】</a:t>
            </a:r>
          </a:p>
          <a:p>
            <a:r>
              <a:rPr sz="1150" b="0">
                <a:solidFill>
                  <a:srgbClr val="222222"/>
                </a:solidFill>
              </a:rPr>
              <a:t>応答を測る『起点』を START/LOW/END のどこに置くべきかを比較。誤った起点だと放電途中の変化を応答と誤計上する。</a:t>
            </a:r>
          </a:p>
          <a:p>
            <a:pPr>
              <a:spcBef>
                <a:spcPts val="600"/>
              </a:spcBef>
            </a:pPr>
            <a:r>
              <a:rPr sz="1250" b="1">
                <a:solidFill>
                  <a:srgbClr val="1F375B"/>
                </a:solidFill>
              </a:rPr>
              <a:t>【軸・変数の定義】</a:t>
            </a:r>
          </a:p>
          <a:p>
            <a:r>
              <a:rPr sz="1150" b="0">
                <a:solidFill>
                  <a:srgbClr val="222222"/>
                </a:solidFill>
              </a:rPr>
              <a:t>縦軸=因果汚染率(応答とカウントしたステップのうち実は再充電完了前=放電途中だった割合)。横軸=3起点。</a:t>
            </a:r>
          </a:p>
          <a:p>
            <a:pPr>
              <a:spcBef>
                <a:spcPts val="600"/>
              </a:spcBef>
            </a:pPr>
            <a:r>
              <a:rPr sz="1250" b="1">
                <a:solidFill>
                  <a:srgbClr val="2CA02C"/>
                </a:solidFill>
              </a:rPr>
              <a:t>【主張（言いたいこと）】</a:t>
            </a:r>
          </a:p>
          <a:p>
            <a:r>
              <a:rPr sz="1150" b="0">
                <a:solidFill>
                  <a:srgbClr val="222222"/>
                </a:solidFill>
              </a:rPr>
              <a:t>END起点なら汚染0。START起点だと0.56(=56%)が放電途中を誤計上→END起点が因果的に正しい。</a:t>
            </a:r>
          </a:p>
          <a:p>
            <a:pPr>
              <a:spcBef>
                <a:spcPts val="600"/>
              </a:spcBef>
            </a:pPr>
            <a:r>
              <a:rPr sz="1250" b="1">
                <a:solidFill>
                  <a:srgbClr val="B05A00"/>
                </a:solidFill>
              </a:rPr>
              <a:t>【読み方・解釈】</a:t>
            </a:r>
          </a:p>
          <a:p>
            <a:r>
              <a:rPr sz="1150" b="0">
                <a:solidFill>
                  <a:srgbClr val="222222"/>
                </a:solidFill>
              </a:rPr>
              <a:t>棒が低いほど良い。END=0が理想で、判定が『再充電完了後の応答』だけを見ていることを保証。</a:t>
            </a:r>
          </a:p>
        </p:txBody>
      </p:sp>
      <p:sp>
        <p:nvSpPr>
          <p:cNvPr id="8" name="TextBox 7"/>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根拠③ 真の機会の後ほど速く応答する（応答ハザード B）</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1 ─ 判定法が機能する根拠</a:t>
            </a:r>
          </a:p>
        </p:txBody>
      </p:sp>
      <p:pic>
        <p:nvPicPr>
          <p:cNvPr id="5" name="Picture 4" descr="response_hazard_true_vs_pseudo.png"/>
          <p:cNvPicPr>
            <a:picLocks noChangeAspect="1"/>
          </p:cNvPicPr>
          <p:nvPr/>
        </p:nvPicPr>
        <p:blipFill>
          <a:blip r:embed="rId2"/>
          <a:stretch>
            <a:fillRect/>
          </a:stretch>
        </p:blipFill>
        <p:spPr>
          <a:xfrm>
            <a:off x="365760" y="1024128"/>
            <a:ext cx="6492240" cy="3942683"/>
          </a:xfrm>
          <a:prstGeom prst="rect">
            <a:avLst/>
          </a:prstGeom>
        </p:spPr>
      </p:pic>
      <p:sp>
        <p:nvSpPr>
          <p:cNvPr id="6" name="TextBox 5"/>
          <p:cNvSpPr txBox="1"/>
          <p:nvPr/>
        </p:nvSpPr>
        <p:spPr>
          <a:xfrm>
            <a:off x="365760" y="5943600"/>
            <a:ext cx="6492240" cy="365760"/>
          </a:xfrm>
          <a:prstGeom prst="rect">
            <a:avLst/>
          </a:prstGeom>
          <a:noFill/>
        </p:spPr>
        <p:txBody>
          <a:bodyPr wrap="square">
            <a:spAutoFit/>
          </a:bodyPr>
          <a:lstStyle/>
          <a:p>
            <a:r>
              <a:rPr sz="900" b="0">
                <a:solidFill>
                  <a:srgbClr val="555555"/>
                </a:solidFill>
              </a:rPr>
              <a:t>図: response_hazard_true_vs_pseudo.png（dpi=300・匿名）</a:t>
            </a:r>
          </a:p>
        </p:txBody>
      </p:sp>
      <p:sp>
        <p:nvSpPr>
          <p:cNvPr id="7" name="TextBox 6"/>
          <p:cNvSpPr txBox="1"/>
          <p:nvPr/>
        </p:nvSpPr>
        <p:spPr>
          <a:xfrm>
            <a:off x="7086600" y="960120"/>
            <a:ext cx="4800600" cy="5303520"/>
          </a:xfrm>
          <a:prstGeom prst="rect">
            <a:avLst/>
          </a:prstGeom>
          <a:noFill/>
        </p:spPr>
        <p:txBody>
          <a:bodyPr wrap="square">
            <a:spAutoFit/>
          </a:bodyPr>
          <a:lstStyle/>
          <a:p>
            <a:pPr>
              <a:spcBef>
                <a:spcPts val="600"/>
              </a:spcBef>
            </a:pPr>
            <a:r>
              <a:rPr sz="1250" b="1">
                <a:solidFill>
                  <a:srgbClr val="1F77B4"/>
                </a:solidFill>
              </a:rPr>
              <a:t>【何のグラフか】</a:t>
            </a:r>
          </a:p>
          <a:p>
            <a:r>
              <a:rPr sz="1150" b="0">
                <a:solidFill>
                  <a:srgbClr val="222222"/>
                </a:solidFill>
              </a:rPr>
              <a:t>機会ENDからの経過時間に対する累積応答率。真の機会 vs ランダムに置いたニセ機会(pseudo)。</a:t>
            </a:r>
          </a:p>
          <a:p>
            <a:pPr>
              <a:spcBef>
                <a:spcPts val="600"/>
              </a:spcBef>
            </a:pPr>
            <a:r>
              <a:rPr sz="1250" b="1">
                <a:solidFill>
                  <a:srgbClr val="1F375B"/>
                </a:solidFill>
              </a:rPr>
              <a:t>【軸・変数の定義】</a:t>
            </a:r>
          </a:p>
          <a:p>
            <a:r>
              <a:rPr sz="1150" b="0">
                <a:solidFill>
                  <a:srgbClr val="222222"/>
                </a:solidFill>
              </a:rPr>
              <a:t>横軸=機会END後の経過時間(h)。縦軸=その時刻までに有効応答した累積割合(0〜1, 生存解析CIF)。</a:t>
            </a:r>
          </a:p>
          <a:p>
            <a:pPr>
              <a:spcBef>
                <a:spcPts val="600"/>
              </a:spcBef>
            </a:pPr>
            <a:r>
              <a:rPr sz="1250" b="1">
                <a:solidFill>
                  <a:srgbClr val="2CA02C"/>
                </a:solidFill>
              </a:rPr>
              <a:t>【主張（言いたいこと）】</a:t>
            </a:r>
          </a:p>
          <a:p>
            <a:r>
              <a:rPr sz="1150" b="0">
                <a:solidFill>
                  <a:srgbClr val="222222"/>
                </a:solidFill>
              </a:rPr>
              <a:t>真の曲線がpseudoより上=真の機会後の方が速く・多く応答(72hで 0.39 vs 0.29、中央値約49h)。</a:t>
            </a:r>
          </a:p>
          <a:p>
            <a:pPr>
              <a:spcBef>
                <a:spcPts val="600"/>
              </a:spcBef>
            </a:pPr>
            <a:r>
              <a:rPr sz="1250" b="1">
                <a:solidFill>
                  <a:srgbClr val="B05A00"/>
                </a:solidFill>
              </a:rPr>
              <a:t>【読み方・解釈】</a:t>
            </a:r>
          </a:p>
          <a:p>
            <a:r>
              <a:rPr sz="1150" b="0">
                <a:solidFill>
                  <a:srgbClr val="222222"/>
                </a:solidFill>
              </a:rPr>
              <a:t>上の曲線ほど応答が早い/多い。差が機会の効果。応答が無いまま時間が経つ個体=更新停止候補。</a:t>
            </a:r>
          </a:p>
        </p:txBody>
      </p:sp>
      <p:sp>
        <p:nvSpPr>
          <p:cNvPr id="8" name="TextBox 7"/>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根拠④ 欠測・打ち切りでも誤判定しない（E）</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1 ─ 判定法が機能する根拠</a:t>
            </a:r>
          </a:p>
        </p:txBody>
      </p:sp>
      <p:pic>
        <p:nvPicPr>
          <p:cNvPr id="5" name="Picture 4" descr="missingness_false_escalation.png"/>
          <p:cNvPicPr>
            <a:picLocks noChangeAspect="1"/>
          </p:cNvPicPr>
          <p:nvPr/>
        </p:nvPicPr>
        <p:blipFill>
          <a:blip r:embed="rId2"/>
          <a:stretch>
            <a:fillRect/>
          </a:stretch>
        </p:blipFill>
        <p:spPr>
          <a:xfrm>
            <a:off x="365760" y="1024128"/>
            <a:ext cx="6373963" cy="4754880"/>
          </a:xfrm>
          <a:prstGeom prst="rect">
            <a:avLst/>
          </a:prstGeom>
        </p:spPr>
      </p:pic>
      <p:sp>
        <p:nvSpPr>
          <p:cNvPr id="6" name="TextBox 5"/>
          <p:cNvSpPr txBox="1"/>
          <p:nvPr/>
        </p:nvSpPr>
        <p:spPr>
          <a:xfrm>
            <a:off x="365760" y="5943600"/>
            <a:ext cx="6492240" cy="365760"/>
          </a:xfrm>
          <a:prstGeom prst="rect">
            <a:avLst/>
          </a:prstGeom>
          <a:noFill/>
        </p:spPr>
        <p:txBody>
          <a:bodyPr wrap="square">
            <a:spAutoFit/>
          </a:bodyPr>
          <a:lstStyle/>
          <a:p>
            <a:r>
              <a:rPr sz="900" b="0">
                <a:solidFill>
                  <a:srgbClr val="555555"/>
                </a:solidFill>
              </a:rPr>
              <a:t>図: missingness_false_escalation.png（dpi=300・匿名）</a:t>
            </a:r>
          </a:p>
        </p:txBody>
      </p:sp>
      <p:sp>
        <p:nvSpPr>
          <p:cNvPr id="7" name="TextBox 6"/>
          <p:cNvSpPr txBox="1"/>
          <p:nvPr/>
        </p:nvSpPr>
        <p:spPr>
          <a:xfrm>
            <a:off x="7086600" y="960120"/>
            <a:ext cx="4800600" cy="5303520"/>
          </a:xfrm>
          <a:prstGeom prst="rect">
            <a:avLst/>
          </a:prstGeom>
          <a:noFill/>
        </p:spPr>
        <p:txBody>
          <a:bodyPr wrap="square">
            <a:spAutoFit/>
          </a:bodyPr>
          <a:lstStyle/>
          <a:p>
            <a:pPr>
              <a:spcBef>
                <a:spcPts val="600"/>
              </a:spcBef>
            </a:pPr>
            <a:r>
              <a:rPr sz="1250" b="1">
                <a:solidFill>
                  <a:srgbClr val="1F77B4"/>
                </a:solidFill>
              </a:rPr>
              <a:t>【何のグラフか】</a:t>
            </a:r>
          </a:p>
          <a:p>
            <a:r>
              <a:rPr sz="1150" b="0">
                <a:solidFill>
                  <a:srgbClr val="222222"/>
                </a:solidFill>
              </a:rPr>
              <a:t>データ欠測を人工注入したとき、各検出器が『誤って無応答と判定』した件数。実運用の穴に強いかを検証。</a:t>
            </a:r>
          </a:p>
          <a:p>
            <a:pPr>
              <a:spcBef>
                <a:spcPts val="600"/>
              </a:spcBef>
            </a:pPr>
            <a:r>
              <a:rPr sz="1250" b="1">
                <a:solidFill>
                  <a:srgbClr val="1F375B"/>
                </a:solidFill>
              </a:rPr>
              <a:t>【軸・変数の定義】</a:t>
            </a:r>
          </a:p>
          <a:p>
            <a:r>
              <a:rPr sz="1150" b="0">
                <a:solidFill>
                  <a:srgbClr val="222222"/>
                </a:solidFill>
              </a:rPr>
              <a:t>縦軸=欠測regime(MCAR・連続ギャップ・末尾打ち切り・睡眠ギャップ等)。横軸=誤った確定無応答の件数。色=検出器。</a:t>
            </a:r>
          </a:p>
          <a:p>
            <a:pPr>
              <a:spcBef>
                <a:spcPts val="600"/>
              </a:spcBef>
            </a:pPr>
            <a:r>
              <a:rPr sz="1250" b="1">
                <a:solidFill>
                  <a:srgbClr val="2CA02C"/>
                </a:solidFill>
              </a:rPr>
              <a:t>【主張（言いたいこと）】</a:t>
            </a:r>
          </a:p>
          <a:p>
            <a:r>
              <a:rPr sz="1150" b="0">
                <a:solidFill>
                  <a:srgbClr val="222222"/>
                </a:solidFill>
              </a:rPr>
              <a:t>naive(素朴)は欠測を無応答と誤判定し多発。提案(段階品質+censor考慮)は誤判定を 643→4.1に抑制。</a:t>
            </a:r>
          </a:p>
          <a:p>
            <a:pPr>
              <a:spcBef>
                <a:spcPts val="600"/>
              </a:spcBef>
            </a:pPr>
            <a:r>
              <a:rPr sz="1250" b="1">
                <a:solidFill>
                  <a:srgbClr val="B05A00"/>
                </a:solidFill>
              </a:rPr>
              <a:t>【読み方・解釈】</a:t>
            </a:r>
          </a:p>
          <a:p>
            <a:r>
              <a:rPr sz="1150" b="0">
                <a:solidFill>
                  <a:srgbClr val="222222"/>
                </a:solidFill>
              </a:rPr>
              <a:t>棒が短いほど良い。提案が全regimeで最短=穴のあるデータでも『見かけの無応答』に騙されない。</a:t>
            </a:r>
          </a:p>
        </p:txBody>
      </p:sp>
      <p:sp>
        <p:nvSpPr>
          <p:cNvPr id="8" name="TextBox 7"/>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根拠⑤ 30日保持でも全期間と同じ判定（D）</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1 ─ 判定法が機能する根拠</a:t>
            </a:r>
          </a:p>
        </p:txBody>
      </p:sp>
      <p:pic>
        <p:nvPicPr>
          <p:cNvPr id="5" name="Picture 4" descr="retention_invariance_heatmap.png"/>
          <p:cNvPicPr>
            <a:picLocks noChangeAspect="1"/>
          </p:cNvPicPr>
          <p:nvPr/>
        </p:nvPicPr>
        <p:blipFill>
          <a:blip r:embed="rId2"/>
          <a:stretch>
            <a:fillRect/>
          </a:stretch>
        </p:blipFill>
        <p:spPr>
          <a:xfrm>
            <a:off x="365760" y="1024128"/>
            <a:ext cx="6492240" cy="2537016"/>
          </a:xfrm>
          <a:prstGeom prst="rect">
            <a:avLst/>
          </a:prstGeom>
        </p:spPr>
      </p:pic>
      <p:sp>
        <p:nvSpPr>
          <p:cNvPr id="6" name="TextBox 5"/>
          <p:cNvSpPr txBox="1"/>
          <p:nvPr/>
        </p:nvSpPr>
        <p:spPr>
          <a:xfrm>
            <a:off x="365760" y="5943600"/>
            <a:ext cx="6492240" cy="365760"/>
          </a:xfrm>
          <a:prstGeom prst="rect">
            <a:avLst/>
          </a:prstGeom>
          <a:noFill/>
        </p:spPr>
        <p:txBody>
          <a:bodyPr wrap="square">
            <a:spAutoFit/>
          </a:bodyPr>
          <a:lstStyle/>
          <a:p>
            <a:r>
              <a:rPr sz="900" b="0">
                <a:solidFill>
                  <a:srgbClr val="555555"/>
                </a:solidFill>
              </a:rPr>
              <a:t>図: retention_invariance_heatmap.png（dpi=300・匿名）</a:t>
            </a:r>
          </a:p>
        </p:txBody>
      </p:sp>
      <p:sp>
        <p:nvSpPr>
          <p:cNvPr id="7" name="TextBox 6"/>
          <p:cNvSpPr txBox="1"/>
          <p:nvPr/>
        </p:nvSpPr>
        <p:spPr>
          <a:xfrm>
            <a:off x="7086600" y="960120"/>
            <a:ext cx="4800600" cy="5303520"/>
          </a:xfrm>
          <a:prstGeom prst="rect">
            <a:avLst/>
          </a:prstGeom>
          <a:noFill/>
        </p:spPr>
        <p:txBody>
          <a:bodyPr wrap="square">
            <a:spAutoFit/>
          </a:bodyPr>
          <a:lstStyle/>
          <a:p>
            <a:pPr>
              <a:spcBef>
                <a:spcPts val="600"/>
              </a:spcBef>
            </a:pPr>
            <a:r>
              <a:rPr sz="1250" b="1">
                <a:solidFill>
                  <a:srgbClr val="1F77B4"/>
                </a:solidFill>
              </a:rPr>
              <a:t>【何のグラフか】</a:t>
            </a:r>
          </a:p>
          <a:p>
            <a:r>
              <a:rPr sz="1150" b="0">
                <a:solidFill>
                  <a:srgbClr val="222222"/>
                </a:solidFill>
              </a:rPr>
              <a:t>生データ保持を短くしても『全期間版と同じ結論』が出るか。フリート運用のストレージ制約下での妥当性。</a:t>
            </a:r>
          </a:p>
          <a:p>
            <a:pPr>
              <a:spcBef>
                <a:spcPts val="600"/>
              </a:spcBef>
            </a:pPr>
            <a:r>
              <a:rPr sz="1250" b="1">
                <a:solidFill>
                  <a:srgbClr val="1F375B"/>
                </a:solidFill>
              </a:rPr>
              <a:t>【軸・変数の定義】</a:t>
            </a:r>
          </a:p>
          <a:p>
            <a:r>
              <a:rPr sz="1150" b="0">
                <a:solidFill>
                  <a:srgbClr val="222222"/>
                </a:solidFill>
              </a:rPr>
              <a:t>行=処理方式(stateful=状態あり/stateless=状態なし)。列=保持日数(7〜90)。セル=全期間版との一致率(緑=高,1.0=完全一致)。</a:t>
            </a:r>
          </a:p>
          <a:p>
            <a:pPr>
              <a:spcBef>
                <a:spcPts val="600"/>
              </a:spcBef>
            </a:pPr>
            <a:r>
              <a:rPr sz="1250" b="1">
                <a:solidFill>
                  <a:srgbClr val="2CA02C"/>
                </a:solidFill>
              </a:rPr>
              <a:t>【主張（言いたいこと）】</a:t>
            </a:r>
          </a:p>
          <a:p>
            <a:r>
              <a:rPr sz="1150" b="0">
                <a:solidFill>
                  <a:srgbClr val="222222"/>
                </a:solidFill>
              </a:rPr>
              <a:t>状態あり方式は全保持期間で一致≈1.0。約4%のストレージで全期間と同じ判定(重複0/誤差≈0.02)。</a:t>
            </a:r>
          </a:p>
          <a:p>
            <a:pPr>
              <a:spcBef>
                <a:spcPts val="600"/>
              </a:spcBef>
            </a:pPr>
            <a:r>
              <a:rPr sz="1250" b="1">
                <a:solidFill>
                  <a:srgbClr val="B05A00"/>
                </a:solidFill>
              </a:rPr>
              <a:t>【読み方・解釈】</a:t>
            </a:r>
          </a:p>
          <a:p>
            <a:r>
              <a:rPr sz="1150" b="0">
                <a:solidFill>
                  <a:srgbClr val="222222"/>
                </a:solidFill>
              </a:rPr>
              <a:t>statefulの行が全緑=有界保持でも判定が変わらない。statelessは短保持で劣化(状態を持つ価値)。</a:t>
            </a:r>
          </a:p>
        </p:txBody>
      </p:sp>
      <p:sp>
        <p:nvSpPr>
          <p:cNvPr id="8" name="TextBox 7"/>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6A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過程で生まれた特許候補アイデア（位置づけ）</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a:t>
            </a:r>
          </a:p>
        </p:txBody>
      </p:sp>
      <p:sp>
        <p:nvSpPr>
          <p:cNvPr id="5" name="TextBox 4"/>
          <p:cNvSpPr txBox="1"/>
          <p:nvPr/>
        </p:nvSpPr>
        <p:spPr>
          <a:xfrm>
            <a:off x="548640" y="1005840"/>
            <a:ext cx="11064240" cy="1828800"/>
          </a:xfrm>
          <a:prstGeom prst="rect">
            <a:avLst/>
          </a:prstGeom>
          <a:noFill/>
        </p:spPr>
        <p:txBody>
          <a:bodyPr wrap="square">
            <a:spAutoFit/>
          </a:bodyPr>
          <a:lstStyle/>
          <a:p>
            <a:r>
              <a:rPr sz="1400" b="1">
                <a:solidFill>
                  <a:srgbClr val="1F375B"/>
                </a:solidFill>
              </a:rPr>
              <a:t>本技術(FCC更新停止者の判定)は単一目的の一連の手法。その実現過程で、単独でも特許になりうる中核アイデアが生まれた。</a:t>
            </a:r>
          </a:p>
          <a:p>
            <a:pPr>
              <a:spcBef>
                <a:spcPts val="400"/>
              </a:spcBef>
            </a:pPr>
            <a:r>
              <a:rPr sz="1300" b="0">
                <a:solidFill>
                  <a:srgbClr val="555555"/>
                </a:solidFill>
              </a:rPr>
              <a:t>細分化しすぎると評価しづらいため、ここでは3つ(+将来2つ)に集約して提示する。どこをどの粒度で特許化するかの最終判断は社内reviewerに委ねる。各候補に技術エビデンス強度と新規性リスクを併記し判断材料を提供。</a:t>
            </a:r>
          </a:p>
        </p:txBody>
      </p:sp>
      <p:graphicFrame>
        <p:nvGraphicFramePr>
          <p:cNvPr id="6" name="Table 5"/>
          <p:cNvGraphicFramePr>
            <a:graphicFrameLocks noGrp="1"/>
          </p:cNvGraphicFramePr>
          <p:nvPr/>
        </p:nvGraphicFramePr>
        <p:xfrm>
          <a:off x="457200" y="3017520"/>
          <a:ext cx="11247120" cy="2743200"/>
        </p:xfrm>
        <a:graphic>
          <a:graphicData uri="http://schemas.openxmlformats.org/drawingml/2006/table">
            <a:tbl>
              <a:tblPr firstRow="1" bandRow="1">
                <a:tableStyleId>{5C22544A-7EE6-4342-B048-85BDC9FD1C3A}</a:tableStyleId>
              </a:tblPr>
              <a:tblGrid>
                <a:gridCol w="4937760"/>
                <a:gridCol w="1828800"/>
                <a:gridCol w="2194560"/>
                <a:gridCol w="2286000"/>
              </a:tblGrid>
              <a:tr h="457200">
                <a:tc>
                  <a:txBody>
                    <a:bodyPr/>
                    <a:lstStyle/>
                    <a:p>
                      <a:r>
                        <a:rPr sz="1100" b="1">
                          <a:solidFill>
                            <a:srgbClr val="FFFFFF"/>
                          </a:solidFill>
                        </a:rPr>
                        <a:t>特許候補（集約後）</a:t>
                      </a:r>
                    </a:p>
                  </a:txBody>
                  <a:tcPr>
                    <a:solidFill>
                      <a:srgbClr val="1F375B"/>
                    </a:solidFill>
                  </a:tcPr>
                </a:tc>
                <a:tc>
                  <a:txBody>
                    <a:bodyPr/>
                    <a:lstStyle/>
                    <a:p>
                      <a:r>
                        <a:rPr sz="1100" b="1">
                          <a:solidFill>
                            <a:srgbClr val="FFFFFF"/>
                          </a:solidFill>
                        </a:rPr>
                        <a:t>対応する手法段</a:t>
                      </a:r>
                    </a:p>
                  </a:txBody>
                  <a:tcPr>
                    <a:solidFill>
                      <a:srgbClr val="1F375B"/>
                    </a:solidFill>
                  </a:tcPr>
                </a:tc>
                <a:tc>
                  <a:txBody>
                    <a:bodyPr/>
                    <a:lstStyle/>
                    <a:p>
                      <a:r>
                        <a:rPr sz="1100" b="1">
                          <a:solidFill>
                            <a:srgbClr val="FFFFFF"/>
                          </a:solidFill>
                        </a:rPr>
                        <a:t>技術エビデンス</a:t>
                      </a:r>
                    </a:p>
                  </a:txBody>
                  <a:tcPr>
                    <a:solidFill>
                      <a:srgbClr val="1F375B"/>
                    </a:solidFill>
                  </a:tcPr>
                </a:tc>
                <a:tc>
                  <a:txBody>
                    <a:bodyPr/>
                    <a:lstStyle/>
                    <a:p>
                      <a:r>
                        <a:rPr sz="1100" b="1">
                          <a:solidFill>
                            <a:srgbClr val="FFFFFF"/>
                          </a:solidFill>
                        </a:rPr>
                        <a:t>新規性リスク(UNVERIFIED)</a:t>
                      </a:r>
                    </a:p>
                  </a:txBody>
                  <a:tcPr>
                    <a:solidFill>
                      <a:srgbClr val="1F375B"/>
                    </a:solidFill>
                  </a:tcPr>
                </a:tc>
              </a:tr>
              <a:tr h="457200">
                <a:tc>
                  <a:txBody>
                    <a:bodyPr/>
                    <a:lstStyle/>
                    <a:p>
                      <a:r>
                        <a:rPr sz="1050"/>
                        <a:t>① 機会条件付き無応答監査（中核判定法）</a:t>
                      </a:r>
                    </a:p>
                  </a:txBody>
                  <a:tcPr>
                    <a:solidFill>
                      <a:srgbClr val="EEF2F7"/>
                    </a:solidFill>
                  </a:tcPr>
                </a:tc>
                <a:tc>
                  <a:txBody>
                    <a:bodyPr/>
                    <a:lstStyle/>
                    <a:p>
                      <a:r>
                        <a:rPr sz="1050"/>
                        <a:t>①+③+④</a:t>
                      </a:r>
                    </a:p>
                  </a:txBody>
                  <a:tcPr>
                    <a:solidFill>
                      <a:srgbClr val="EEF2F7"/>
                    </a:solidFill>
                  </a:tcPr>
                </a:tc>
                <a:tc>
                  <a:txBody>
                    <a:bodyPr/>
                    <a:lstStyle/>
                    <a:p>
                      <a:r>
                        <a:rPr sz="1050" b="1">
                          <a:solidFill>
                            <a:srgbClr val="2CA02C"/>
                          </a:solidFill>
                        </a:rPr>
                        <a:t>STRONG</a:t>
                      </a:r>
                    </a:p>
                  </a:txBody>
                  <a:tcPr>
                    <a:solidFill>
                      <a:srgbClr val="EEF2F7"/>
                    </a:solidFill>
                  </a:tcPr>
                </a:tc>
                <a:tc>
                  <a:txBody>
                    <a:bodyPr/>
                    <a:lstStyle/>
                    <a:p>
                      <a:r>
                        <a:rPr sz="1050"/>
                        <a:t>MEDIUM-HIGH</a:t>
                      </a:r>
                    </a:p>
                  </a:txBody>
                  <a:tcPr>
                    <a:solidFill>
                      <a:srgbClr val="EEF2F7"/>
                    </a:solidFill>
                  </a:tcPr>
                </a:tc>
              </a:tr>
              <a:tr h="457200">
                <a:tc>
                  <a:txBody>
                    <a:bodyPr/>
                    <a:lstStyle/>
                    <a:p>
                      <a:r>
                        <a:rPr sz="1050"/>
                        <a:t>② デュアルトラック非対称リセット状態機械</a:t>
                      </a:r>
                    </a:p>
                  </a:txBody>
                  <a:tcPr>
                    <a:solidFill>
                      <a:srgbClr val="FFFFFF"/>
                    </a:solidFill>
                  </a:tcPr>
                </a:tc>
                <a:tc>
                  <a:txBody>
                    <a:bodyPr/>
                    <a:lstStyle/>
                    <a:p>
                      <a:r>
                        <a:rPr sz="1050"/>
                        <a:t>②(微小変化)</a:t>
                      </a:r>
                    </a:p>
                  </a:txBody>
                  <a:tcPr>
                    <a:solidFill>
                      <a:srgbClr val="FFFFFF"/>
                    </a:solidFill>
                  </a:tcPr>
                </a:tc>
                <a:tc>
                  <a:txBody>
                    <a:bodyPr/>
                    <a:lstStyle/>
                    <a:p>
                      <a:r>
                        <a:rPr sz="1050" b="1">
                          <a:solidFill>
                            <a:srgbClr val="2CA02C"/>
                          </a:solidFill>
                        </a:rPr>
                        <a:t>STRONG</a:t>
                      </a:r>
                    </a:p>
                  </a:txBody>
                  <a:tcPr>
                    <a:solidFill>
                      <a:srgbClr val="FFFFFF"/>
                    </a:solidFill>
                  </a:tcPr>
                </a:tc>
                <a:tc>
                  <a:txBody>
                    <a:bodyPr/>
                    <a:lstStyle/>
                    <a:p>
                      <a:r>
                        <a:rPr sz="1050" b="1">
                          <a:solidFill>
                            <a:srgbClr val="C0392B"/>
                          </a:solidFill>
                        </a:rPr>
                        <a:t>HIGH</a:t>
                      </a:r>
                    </a:p>
                  </a:txBody>
                  <a:tcPr>
                    <a:solidFill>
                      <a:srgbClr val="FFFFFF"/>
                    </a:solidFill>
                  </a:tcPr>
                </a:tc>
              </a:tr>
              <a:tr h="457200">
                <a:tc>
                  <a:txBody>
                    <a:bodyPr/>
                    <a:lstStyle/>
                    <a:p>
                      <a:r>
                        <a:rPr sz="1050"/>
                        <a:t>③ 有界保持の因果証拠台帳（最小状態）</a:t>
                      </a:r>
                    </a:p>
                  </a:txBody>
                  <a:tcPr>
                    <a:solidFill>
                      <a:srgbClr val="EEF2F7"/>
                    </a:solidFill>
                  </a:tcPr>
                </a:tc>
                <a:tc>
                  <a:txBody>
                    <a:bodyPr/>
                    <a:lstStyle/>
                    <a:p>
                      <a:r>
                        <a:rPr sz="1050"/>
                        <a:t>⑤(保持制約)</a:t>
                      </a:r>
                    </a:p>
                  </a:txBody>
                  <a:tcPr>
                    <a:solidFill>
                      <a:srgbClr val="EEF2F7"/>
                    </a:solidFill>
                  </a:tcPr>
                </a:tc>
                <a:tc>
                  <a:txBody>
                    <a:bodyPr/>
                    <a:lstStyle/>
                    <a:p>
                      <a:r>
                        <a:rPr sz="1050" b="1">
                          <a:solidFill>
                            <a:srgbClr val="2CA02C"/>
                          </a:solidFill>
                        </a:rPr>
                        <a:t>STRONG</a:t>
                      </a:r>
                    </a:p>
                  </a:txBody>
                  <a:tcPr>
                    <a:solidFill>
                      <a:srgbClr val="EEF2F7"/>
                    </a:solidFill>
                  </a:tcPr>
                </a:tc>
                <a:tc>
                  <a:txBody>
                    <a:bodyPr/>
                    <a:lstStyle/>
                    <a:p>
                      <a:r>
                        <a:rPr sz="1050"/>
                        <a:t>MEDIUM-HIGH</a:t>
                      </a:r>
                    </a:p>
                  </a:txBody>
                  <a:tcPr>
                    <a:solidFill>
                      <a:srgbClr val="EEF2F7"/>
                    </a:solidFill>
                  </a:tcPr>
                </a:tc>
              </a:tr>
              <a:tr h="457200">
                <a:tc>
                  <a:txBody>
                    <a:bodyPr/>
                    <a:lstStyle/>
                    <a:p>
                      <a:r>
                        <a:rPr sz="1050"/>
                        <a:t>(将来④) 診断依存クローズドループ介入検証</a:t>
                      </a:r>
                    </a:p>
                  </a:txBody>
                  <a:tcPr>
                    <a:solidFill>
                      <a:srgbClr val="FFFFFF"/>
                    </a:solidFill>
                  </a:tcPr>
                </a:tc>
                <a:tc>
                  <a:txBody>
                    <a:bodyPr/>
                    <a:lstStyle/>
                    <a:p>
                      <a:r>
                        <a:rPr sz="1050"/>
                        <a:t>介入後検証</a:t>
                      </a:r>
                    </a:p>
                  </a:txBody>
                  <a:tcPr>
                    <a:solidFill>
                      <a:srgbClr val="FFFFFF"/>
                    </a:solidFill>
                  </a:tcPr>
                </a:tc>
                <a:tc>
                  <a:txBody>
                    <a:bodyPr/>
                    <a:lstStyle/>
                    <a:p>
                      <a:r>
                        <a:rPr sz="1050" b="1">
                          <a:solidFill>
                            <a:srgbClr val="555555"/>
                          </a:solidFill>
                        </a:rPr>
                        <a:t>PROSPECTIVE</a:t>
                      </a:r>
                    </a:p>
                  </a:txBody>
                  <a:tcPr>
                    <a:solidFill>
                      <a:srgbClr val="FFFFFF"/>
                    </a:solidFill>
                  </a:tcPr>
                </a:tc>
                <a:tc>
                  <a:txBody>
                    <a:bodyPr/>
                    <a:lstStyle/>
                    <a:p>
                      <a:r>
                        <a:rPr sz="1050"/>
                        <a:t>—</a:t>
                      </a:r>
                    </a:p>
                  </a:txBody>
                  <a:tcPr>
                    <a:solidFill>
                      <a:srgbClr val="FFFFFF"/>
                    </a:solidFill>
                  </a:tcPr>
                </a:tc>
              </a:tr>
              <a:tr h="457200">
                <a:tc>
                  <a:txBody>
                    <a:bodyPr/>
                    <a:lstStyle/>
                    <a:p>
                      <a:r>
                        <a:rPr sz="1050"/>
                        <a:t>(将来⑤) 機種非依存スクリーニング+version局在</a:t>
                      </a:r>
                    </a:p>
                  </a:txBody>
                  <a:tcPr>
                    <a:solidFill>
                      <a:srgbClr val="EEF2F7"/>
                    </a:solidFill>
                  </a:tcPr>
                </a:tc>
                <a:tc>
                  <a:txBody>
                    <a:bodyPr/>
                    <a:lstStyle/>
                    <a:p>
                      <a:r>
                        <a:rPr sz="1050"/>
                        <a:t>原因局在</a:t>
                      </a:r>
                    </a:p>
                  </a:txBody>
                  <a:tcPr>
                    <a:solidFill>
                      <a:srgbClr val="EEF2F7"/>
                    </a:solidFill>
                  </a:tcPr>
                </a:tc>
                <a:tc>
                  <a:txBody>
                    <a:bodyPr/>
                    <a:lstStyle/>
                    <a:p>
                      <a:r>
                        <a:rPr sz="1050" b="1">
                          <a:solidFill>
                            <a:srgbClr val="1F77B4"/>
                          </a:solidFill>
                        </a:rPr>
                        <a:t>MEDIUM</a:t>
                      </a:r>
                    </a:p>
                  </a:txBody>
                  <a:tcPr>
                    <a:solidFill>
                      <a:srgbClr val="EEF2F7"/>
                    </a:solidFill>
                  </a:tcPr>
                </a:tc>
                <a:tc>
                  <a:txBody>
                    <a:bodyPr/>
                    <a:lstStyle/>
                    <a:p>
                      <a:r>
                        <a:rPr sz="1050"/>
                        <a:t>MEDIUM</a:t>
                      </a:r>
                    </a:p>
                  </a:txBody>
                  <a:tcPr>
                    <a:solidFill>
                      <a:srgbClr val="EEF2F7"/>
                    </a:solidFill>
                  </a:tcPr>
                </a:tc>
              </a:tr>
            </a:tbl>
          </a:graphicData>
        </a:graphic>
      </p:graphicFrame>
      <p:sp>
        <p:nvSpPr>
          <p:cNvPr id="7" name="TextBox 6"/>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特許候補① 機会条件付き無応答監査（中核判定法）</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候補①  [IC1+IC6+二分岐 相当]</a:t>
            </a:r>
          </a:p>
        </p:txBody>
      </p:sp>
      <p:sp>
        <p:nvSpPr>
          <p:cNvPr id="5" name="TextBox 4"/>
          <p:cNvSpPr txBox="1"/>
          <p:nvPr/>
        </p:nvSpPr>
        <p:spPr>
          <a:xfrm>
            <a:off x="457200" y="877824"/>
            <a:ext cx="11277295" cy="384048"/>
          </a:xfrm>
          <a:prstGeom prst="rect">
            <a:avLst/>
          </a:prstGeom>
          <a:noFill/>
        </p:spPr>
        <p:txBody>
          <a:bodyPr wrap="square">
            <a:spAutoFit/>
          </a:bodyPr>
          <a:lstStyle/>
          <a:p>
            <a:r>
              <a:rPr sz="1200" b="1">
                <a:solidFill>
                  <a:srgbClr val="1F375B"/>
                </a:solidFill>
              </a:rPr>
              <a:t>技術エビデンス強度: </a:t>
            </a:r>
            <a:r>
              <a:rPr sz="1200" b="1">
                <a:solidFill>
                  <a:srgbClr val="2CA02C"/>
                </a:solidFill>
              </a:rPr>
              <a:t>STRONG    </a:t>
            </a:r>
            <a:r>
              <a:rPr sz="1200" b="1">
                <a:solidFill>
                  <a:srgbClr val="1F375B"/>
                </a:solidFill>
              </a:rPr>
              <a:t>先行技術リスク(UNVERIFIED): </a:t>
            </a:r>
            <a:r>
              <a:rPr sz="1200" b="1">
                <a:solidFill>
                  <a:srgbClr val="C0392B"/>
                </a:solidFill>
              </a:rPr>
              <a:t>MEDIUM-HIGH</a:t>
            </a:r>
          </a:p>
        </p:txBody>
      </p:sp>
      <p:sp>
        <p:nvSpPr>
          <p:cNvPr id="6" name="TextBox 5"/>
          <p:cNvSpPr txBox="1"/>
          <p:nvPr/>
        </p:nvSpPr>
        <p:spPr>
          <a:xfrm>
            <a:off x="457200" y="1325880"/>
            <a:ext cx="11277295" cy="5074920"/>
          </a:xfrm>
          <a:prstGeom prst="rect">
            <a:avLst/>
          </a:prstGeom>
          <a:noFill/>
        </p:spPr>
        <p:txBody>
          <a:bodyPr wrap="square">
            <a:spAutoFit/>
          </a:bodyPr>
          <a:lstStyle/>
          <a:p>
            <a:pPr>
              <a:spcBef>
                <a:spcPts val="500"/>
              </a:spcBef>
            </a:pPr>
            <a:r>
              <a:rPr sz="1400" b="1">
                <a:solidFill>
                  <a:srgbClr val="1F375B"/>
                </a:solidFill>
              </a:rPr>
              <a:t>背景</a:t>
            </a:r>
          </a:p>
          <a:p>
            <a:r>
              <a:rPr sz="1250" b="0"/>
              <a:t>FCC再学習は『深い充放電(学習機会)』でしか起きない。だが機会の有無と応答の有無は静的検査では分離できない。</a:t>
            </a:r>
          </a:p>
          <a:p>
            <a:pPr>
              <a:spcBef>
                <a:spcPts val="500"/>
              </a:spcBef>
            </a:pPr>
            <a:r>
              <a:rPr sz="1400" b="1">
                <a:solidFill>
                  <a:srgbClr val="1F375B"/>
                </a:solidFill>
              </a:rPr>
              <a:t>問題</a:t>
            </a:r>
          </a:p>
          <a:p>
            <a:r>
              <a:rPr sz="1250" b="0"/>
              <a:t>FCC凍結を『機会が無いだけ(正常/再較正)』なのか『機会はあるのに応答しない(FW/HW疑い)』なのか判別できない。</a:t>
            </a:r>
          </a:p>
          <a:p>
            <a:pPr>
              <a:spcBef>
                <a:spcPts val="500"/>
              </a:spcBef>
            </a:pPr>
            <a:r>
              <a:rPr sz="1400" b="1">
                <a:solidFill>
                  <a:srgbClr val="1F375B"/>
                </a:solidFill>
              </a:rPr>
              <a:t>課題</a:t>
            </a:r>
          </a:p>
          <a:p>
            <a:r>
              <a:rPr sz="1250" b="0"/>
              <a:t>テレメトリだけで、機会の有無と応答の有無を因果的に分離し、欠測・打ち切りに騙されずに判定する。</a:t>
            </a:r>
          </a:p>
          <a:p>
            <a:pPr>
              <a:spcBef>
                <a:spcPts val="500"/>
              </a:spcBef>
            </a:pPr>
            <a:r>
              <a:rPr sz="1400" b="1">
                <a:solidFill>
                  <a:srgbClr val="1F375B"/>
                </a:solidFill>
              </a:rPr>
              <a:t>解決法</a:t>
            </a:r>
          </a:p>
          <a:p>
            <a:r>
              <a:rPr sz="1250" b="0"/>
              <a:t>RSOC high→low→high 機会を抽出→END起点72h窓で有効ステップを responded/no_response/censored に分類→段階品質ティアとcensor除外で欠測を無応答に数えない→機会反復×無応答=FW候補/機会皆無=ゲージ再較正に二分岐。</a:t>
            </a:r>
          </a:p>
          <a:p>
            <a:pPr>
              <a:spcBef>
                <a:spcPts val="500"/>
              </a:spcBef>
            </a:pPr>
            <a:r>
              <a:rPr sz="1400" b="1">
                <a:solidFill>
                  <a:srgbClr val="1F375B"/>
                </a:solidFill>
              </a:rPr>
              <a:t>特許性 / 新規性</a:t>
            </a:r>
          </a:p>
          <a:p>
            <a:r>
              <a:rPr sz="1250" b="0"/>
              <a:t>A2で機会-応答の特異性、A3でEND起点の因果汚染0、Eで欠測耐性を実証(根拠①②④)。判定の中核。【リスク】『非発生イベント監視』は広い先行技術→狭め(80/20/80・72h・50mWh・censor除外)で出願推奨。UNVERIFIED。</a:t>
            </a:r>
          </a:p>
        </p:txBody>
      </p:sp>
      <p:sp>
        <p:nvSpPr>
          <p:cNvPr id="7" name="TextBox 6"/>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特許候補① 必要な特徴量（と作成方法）</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候補①</a:t>
            </a:r>
          </a:p>
        </p:txBody>
      </p:sp>
      <p:graphicFrame>
        <p:nvGraphicFramePr>
          <p:cNvPr id="5" name="Table 4"/>
          <p:cNvGraphicFramePr>
            <a:graphicFrameLocks noGrp="1"/>
          </p:cNvGraphicFramePr>
          <p:nvPr/>
        </p:nvGraphicFramePr>
        <p:xfrm>
          <a:off x="365760" y="932688"/>
          <a:ext cx="11430000" cy="2926080"/>
        </p:xfrm>
        <a:graphic>
          <a:graphicData uri="http://schemas.openxmlformats.org/drawingml/2006/table">
            <a:tbl>
              <a:tblPr firstRow="1" bandRow="1">
                <a:tableStyleId>{5C22544A-7EE6-4342-B048-85BDC9FD1C3A}</a:tableStyleId>
              </a:tblPr>
              <a:tblGrid>
                <a:gridCol w="3108960"/>
                <a:gridCol w="1234440"/>
                <a:gridCol w="7086600"/>
              </a:tblGrid>
              <a:tr h="365760">
                <a:tc>
                  <a:txBody>
                    <a:bodyPr/>
                    <a:lstStyle/>
                    <a:p>
                      <a:r>
                        <a:rPr sz="1150" b="1">
                          <a:solidFill>
                            <a:srgbClr val="FFFFFF"/>
                          </a:solidFill>
                        </a:rPr>
                        <a:t>変数 / 特徴量</a:t>
                      </a:r>
                    </a:p>
                  </a:txBody>
                  <a:tcPr>
                    <a:solidFill>
                      <a:srgbClr val="1F375B"/>
                    </a:solidFill>
                  </a:tcPr>
                </a:tc>
                <a:tc>
                  <a:txBody>
                    <a:bodyPr/>
                    <a:lstStyle/>
                    <a:p>
                      <a:r>
                        <a:rPr sz="1150" b="1">
                          <a:solidFill>
                            <a:srgbClr val="FFFFFF"/>
                          </a:solidFill>
                        </a:rPr>
                        <a:t>種別</a:t>
                      </a:r>
                    </a:p>
                  </a:txBody>
                  <a:tcPr>
                    <a:solidFill>
                      <a:srgbClr val="1F375B"/>
                    </a:solidFill>
                  </a:tcPr>
                </a:tc>
                <a:tc>
                  <a:txBody>
                    <a:bodyPr/>
                    <a:lstStyle/>
                    <a:p>
                      <a:r>
                        <a:rPr sz="1150" b="1">
                          <a:solidFill>
                            <a:srgbClr val="FFFFFF"/>
                          </a:solidFill>
                        </a:rPr>
                        <a:t>作成方法（特徴量エンジニアリング）</a:t>
                      </a:r>
                    </a:p>
                  </a:txBody>
                  <a:tcPr>
                    <a:solidFill>
                      <a:srgbClr val="1F375B"/>
                    </a:solidFill>
                  </a:tcPr>
                </a:tc>
              </a:tr>
              <a:tr h="365760">
                <a:tc>
                  <a:txBody>
                    <a:bodyPr/>
                    <a:lstStyle/>
                    <a:p>
                      <a:r>
                        <a:rPr sz="1050"/>
                        <a:t>RSOC / FCC / cycleCount / timestamp</a:t>
                      </a:r>
                    </a:p>
                  </a:txBody>
                  <a:tcPr>
                    <a:solidFill>
                      <a:srgbClr val="EEF2F7"/>
                    </a:solidFill>
                  </a:tcPr>
                </a:tc>
                <a:tc>
                  <a:txBody>
                    <a:bodyPr/>
                    <a:lstStyle/>
                    <a:p>
                      <a:r>
                        <a:rPr sz="1050" b="1">
                          <a:solidFill>
                            <a:srgbClr val="555555"/>
                          </a:solidFill>
                        </a:rPr>
                        <a:t>raw</a:t>
                      </a:r>
                    </a:p>
                  </a:txBody>
                  <a:tcPr>
                    <a:solidFill>
                      <a:srgbClr val="EEF2F7"/>
                    </a:solidFill>
                  </a:tcPr>
                </a:tc>
                <a:tc>
                  <a:txBody>
                    <a:bodyPr/>
                    <a:lstStyle/>
                    <a:p>
                      <a:r>
                        <a:rPr sz="1050"/>
                        <a:t>テレメトリ生データ（PWMログ）。識別子は使わない</a:t>
                      </a:r>
                    </a:p>
                  </a:txBody>
                  <a:tcPr>
                    <a:solidFill>
                      <a:srgbClr val="EEF2F7"/>
                    </a:solidFill>
                  </a:tcPr>
                </a:tc>
              </a:tr>
              <a:tr h="365760">
                <a:tc>
                  <a:txBody>
                    <a:bodyPr/>
                    <a:lstStyle/>
                    <a:p>
                      <a:r>
                        <a:rPr sz="1050"/>
                        <a:t>学習機会 episode (start/low/end)</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RSOC high→low→high 状態機械(80/20/80等): extract_high_low_high_episodes</a:t>
                      </a:r>
                    </a:p>
                  </a:txBody>
                  <a:tcPr>
                    <a:solidFill>
                      <a:srgbClr val="FFFFFF"/>
                    </a:solidFill>
                  </a:tcPr>
                </a:tc>
              </a:tr>
              <a:tr h="365760">
                <a:tc>
                  <a:txBody>
                    <a:bodyPr/>
                    <a:lstStyle/>
                    <a:p>
                      <a:r>
                        <a:rPr sz="1050"/>
                        <a:t>有効FCCステップ(≥50mWh)</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時刻順FCC差分の絶対値≥50mWh: fcc_step_indicator(FCC,50)</a:t>
                      </a:r>
                    </a:p>
                  </a:txBody>
                  <a:tcPr>
                    <a:solidFill>
                      <a:srgbClr val="EEF2F7"/>
                    </a:solidFill>
                  </a:tcPr>
                </a:tc>
              </a:tr>
              <a:tr h="365760">
                <a:tc>
                  <a:txBody>
                    <a:bodyPr/>
                    <a:lstStyle/>
                    <a:p>
                      <a:r>
                        <a:rPr sz="1050"/>
                        <a:t>応答ステータス response_status_72h</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END起点[end,end+72h]の有効step有無+窓完全性で responded/no_response/censored</a:t>
                      </a:r>
                    </a:p>
                  </a:txBody>
                  <a:tcPr>
                    <a:solidFill>
                      <a:srgbClr val="FFFFFF"/>
                    </a:solidFill>
                  </a:tcPr>
                </a:tc>
              </a:tr>
              <a:tr h="365760">
                <a:tc>
                  <a:txBody>
                    <a:bodyPr/>
                    <a:lstStyle/>
                    <a:p>
                      <a:r>
                        <a:rPr sz="1050"/>
                        <a:t>段階品質ティア quality_tier</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エピソード最大ギャップ→HIGH_OK/MEDIUM_GAP/LOW_LARGE_GAP: online_gap_quality</a:t>
                      </a:r>
                    </a:p>
                  </a:txBody>
                  <a:tcPr>
                    <a:solidFill>
                      <a:srgbClr val="EEF2F7"/>
                    </a:solidFill>
                  </a:tcPr>
                </a:tc>
              </a:tr>
              <a:tr h="365760">
                <a:tc>
                  <a:txBody>
                    <a:bodyPr/>
                    <a:lstStyle/>
                    <a:p>
                      <a:r>
                        <a:rPr sz="1050"/>
                        <a:t>二分岐スコア(FW/ゲージ)</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機会反復×無応答 vs 機会皆無 のカウンタから振り分け</a:t>
                      </a:r>
                    </a:p>
                  </a:txBody>
                  <a:tcPr>
                    <a:solidFill>
                      <a:srgbClr val="FFFFFF"/>
                    </a:solidFill>
                  </a:tcPr>
                </a:tc>
              </a:tr>
              <a:tr h="365760">
                <a:tc>
                  <a:txBody>
                    <a:bodyPr/>
                    <a:lstStyle/>
                    <a:p>
                      <a:r>
                        <a:rPr sz="1050"/>
                        <a:t>(学習除外) 機種名/ベンダー/FRU</a:t>
                      </a:r>
                    </a:p>
                  </a:txBody>
                  <a:tcPr>
                    <a:solidFill>
                      <a:srgbClr val="EEF2F7"/>
                    </a:solidFill>
                  </a:tcPr>
                </a:tc>
                <a:tc>
                  <a:txBody>
                    <a:bodyPr/>
                    <a:lstStyle/>
                    <a:p>
                      <a:r>
                        <a:rPr sz="1050" b="1">
                          <a:solidFill>
                            <a:srgbClr val="555555"/>
                          </a:solidFill>
                        </a:rPr>
                        <a:t>—</a:t>
                      </a:r>
                    </a:p>
                  </a:txBody>
                  <a:tcPr>
                    <a:solidFill>
                      <a:srgbClr val="EEF2F7"/>
                    </a:solidFill>
                  </a:tcPr>
                </a:tc>
                <a:tc>
                  <a:txBody>
                    <a:bodyPr/>
                    <a:lstStyle/>
                    <a:p>
                      <a:r>
                        <a:rPr sz="1050"/>
                        <a:t>ハードウェア識別子は判定に一切使わない(機種非依存)</a:t>
                      </a:r>
                    </a:p>
                  </a:txBody>
                  <a:tcPr>
                    <a:solidFill>
                      <a:srgbClr val="EEF2F7"/>
                    </a:solidFill>
                  </a:tcPr>
                </a:tc>
              </a:tr>
            </a:tbl>
          </a:graphicData>
        </a:graphic>
      </p:graphicFrame>
      <p:sp>
        <p:nvSpPr>
          <p:cNvPr id="6" name="TextBox 5"/>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特許候補② デュアルトラック非対称リセット状態機械</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候補②  [IC2 + 有効閾値C3 相当]</a:t>
            </a:r>
          </a:p>
        </p:txBody>
      </p:sp>
      <p:sp>
        <p:nvSpPr>
          <p:cNvPr id="5" name="TextBox 4"/>
          <p:cNvSpPr txBox="1"/>
          <p:nvPr/>
        </p:nvSpPr>
        <p:spPr>
          <a:xfrm>
            <a:off x="457200" y="877824"/>
            <a:ext cx="11277295" cy="384048"/>
          </a:xfrm>
          <a:prstGeom prst="rect">
            <a:avLst/>
          </a:prstGeom>
          <a:noFill/>
        </p:spPr>
        <p:txBody>
          <a:bodyPr wrap="square">
            <a:spAutoFit/>
          </a:bodyPr>
          <a:lstStyle/>
          <a:p>
            <a:r>
              <a:rPr sz="1200" b="1">
                <a:solidFill>
                  <a:srgbClr val="1F375B"/>
                </a:solidFill>
              </a:rPr>
              <a:t>技術エビデンス強度: </a:t>
            </a:r>
            <a:r>
              <a:rPr sz="1200" b="1">
                <a:solidFill>
                  <a:srgbClr val="2CA02C"/>
                </a:solidFill>
              </a:rPr>
              <a:t>STRONG    </a:t>
            </a:r>
            <a:r>
              <a:rPr sz="1200" b="1">
                <a:solidFill>
                  <a:srgbClr val="1F375B"/>
                </a:solidFill>
              </a:rPr>
              <a:t>先行技術リスク(UNVERIFIED): </a:t>
            </a:r>
            <a:r>
              <a:rPr sz="1200" b="1">
                <a:solidFill>
                  <a:srgbClr val="C0392B"/>
                </a:solidFill>
              </a:rPr>
              <a:t>HIGH</a:t>
            </a:r>
          </a:p>
        </p:txBody>
      </p:sp>
      <p:sp>
        <p:nvSpPr>
          <p:cNvPr id="6" name="TextBox 5"/>
          <p:cNvSpPr txBox="1"/>
          <p:nvPr/>
        </p:nvSpPr>
        <p:spPr>
          <a:xfrm>
            <a:off x="457200" y="1325880"/>
            <a:ext cx="11277295" cy="5074920"/>
          </a:xfrm>
          <a:prstGeom prst="rect">
            <a:avLst/>
          </a:prstGeom>
          <a:noFill/>
        </p:spPr>
        <p:txBody>
          <a:bodyPr wrap="square">
            <a:spAutoFit/>
          </a:bodyPr>
          <a:lstStyle/>
          <a:p>
            <a:pPr>
              <a:spcBef>
                <a:spcPts val="500"/>
              </a:spcBef>
            </a:pPr>
            <a:r>
              <a:rPr sz="1400" b="1">
                <a:solidFill>
                  <a:srgbClr val="1F375B"/>
                </a:solidFill>
              </a:rPr>
              <a:t>背景</a:t>
            </a:r>
          </a:p>
          <a:p>
            <a:r>
              <a:rPr sz="1250" b="0"/>
              <a:t>燃料計は整数mWh量子化(最小10mWh)。微小変化(micro)と意味ある再学習(effective≥50mWh)が混在(二峰: 14/217mWh)。</a:t>
            </a:r>
          </a:p>
          <a:p>
            <a:pPr>
              <a:spcBef>
                <a:spcPts val="500"/>
              </a:spcBef>
            </a:pPr>
            <a:r>
              <a:rPr sz="1400" b="1">
                <a:solidFill>
                  <a:srgbClr val="1F375B"/>
                </a:solidFill>
              </a:rPr>
              <a:t>問題</a:t>
            </a:r>
          </a:p>
          <a:p>
            <a:r>
              <a:rPr sz="1250" b="0"/>
              <a:t>状態を1系統で持つと、microステップが『まだ未解決の無応答証拠』をリセットして消し、FW疑いを見逃す。</a:t>
            </a:r>
          </a:p>
          <a:p>
            <a:pPr>
              <a:spcBef>
                <a:spcPts val="500"/>
              </a:spcBef>
            </a:pPr>
            <a:r>
              <a:rPr sz="1400" b="1">
                <a:solidFill>
                  <a:srgbClr val="1F375B"/>
                </a:solidFill>
              </a:rPr>
              <a:t>課題</a:t>
            </a:r>
          </a:p>
          <a:p>
            <a:r>
              <a:rPr sz="1250" b="0"/>
              <a:t>微小ゆらぎで証拠を失わず、かつ『ソフト較正』と『ハードリセット』を区別する(過剰なハード指示を避ける)。</a:t>
            </a:r>
          </a:p>
          <a:p>
            <a:pPr>
              <a:spcBef>
                <a:spcPts val="500"/>
              </a:spcBef>
            </a:pPr>
            <a:r>
              <a:rPr sz="1400" b="1">
                <a:solidFill>
                  <a:srgbClr val="1F375B"/>
                </a:solidFill>
              </a:rPr>
              <a:t>解決法</a:t>
            </a:r>
          </a:p>
          <a:p>
            <a:r>
              <a:rPr sz="1250" b="0"/>
              <a:t>any系統(任意変化でリセット)とeffective系統(≥50mWhのみリセット)を分離。microはany系統だけリセットしeffective状態/未解決証拠は保持(非対称)。同時刻は complete&lt;reset&lt;deadline の決定的順序。</a:t>
            </a:r>
          </a:p>
          <a:p>
            <a:pPr>
              <a:spcBef>
                <a:spcPts val="500"/>
              </a:spcBef>
            </a:pPr>
            <a:r>
              <a:rPr sz="1400" b="1">
                <a:solidFill>
                  <a:srgbClr val="1F375B"/>
                </a:solidFill>
              </a:rPr>
              <a:t>特許性 / 新規性</a:t>
            </a:r>
          </a:p>
          <a:p>
            <a:r>
              <a:rPr sz="1250" b="0"/>
              <a:t>C2で対称リセットが消す無応答462件を非対称が温存(+115)、ハード指示209→97。【リスク高】この設計は既にproduction実装済+deadband系は一般的先行技術→新規性は着想日依存(法的)。非対称規則を明示してクレーム。</a:t>
            </a:r>
          </a:p>
        </p:txBody>
      </p:sp>
      <p:sp>
        <p:nvSpPr>
          <p:cNvPr id="7" name="TextBox 6"/>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特許候補② 必要な特徴量（と作成方法）</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候補②</a:t>
            </a:r>
          </a:p>
        </p:txBody>
      </p:sp>
      <p:graphicFrame>
        <p:nvGraphicFramePr>
          <p:cNvPr id="5" name="Table 4"/>
          <p:cNvGraphicFramePr>
            <a:graphicFrameLocks noGrp="1"/>
          </p:cNvGraphicFramePr>
          <p:nvPr/>
        </p:nvGraphicFramePr>
        <p:xfrm>
          <a:off x="365760" y="932688"/>
          <a:ext cx="11430000" cy="2926080"/>
        </p:xfrm>
        <a:graphic>
          <a:graphicData uri="http://schemas.openxmlformats.org/drawingml/2006/table">
            <a:tbl>
              <a:tblPr firstRow="1" bandRow="1">
                <a:tableStyleId>{5C22544A-7EE6-4342-B048-85BDC9FD1C3A}</a:tableStyleId>
              </a:tblPr>
              <a:tblGrid>
                <a:gridCol w="3108960"/>
                <a:gridCol w="1234440"/>
                <a:gridCol w="7086600"/>
              </a:tblGrid>
              <a:tr h="365760">
                <a:tc>
                  <a:txBody>
                    <a:bodyPr/>
                    <a:lstStyle/>
                    <a:p>
                      <a:r>
                        <a:rPr sz="1150" b="1">
                          <a:solidFill>
                            <a:srgbClr val="FFFFFF"/>
                          </a:solidFill>
                        </a:rPr>
                        <a:t>変数 / 特徴量</a:t>
                      </a:r>
                    </a:p>
                  </a:txBody>
                  <a:tcPr>
                    <a:solidFill>
                      <a:srgbClr val="1F375B"/>
                    </a:solidFill>
                  </a:tcPr>
                </a:tc>
                <a:tc>
                  <a:txBody>
                    <a:bodyPr/>
                    <a:lstStyle/>
                    <a:p>
                      <a:r>
                        <a:rPr sz="1150" b="1">
                          <a:solidFill>
                            <a:srgbClr val="FFFFFF"/>
                          </a:solidFill>
                        </a:rPr>
                        <a:t>種別</a:t>
                      </a:r>
                    </a:p>
                  </a:txBody>
                  <a:tcPr>
                    <a:solidFill>
                      <a:srgbClr val="1F375B"/>
                    </a:solidFill>
                  </a:tcPr>
                </a:tc>
                <a:tc>
                  <a:txBody>
                    <a:bodyPr/>
                    <a:lstStyle/>
                    <a:p>
                      <a:r>
                        <a:rPr sz="1150" b="1">
                          <a:solidFill>
                            <a:srgbClr val="FFFFFF"/>
                          </a:solidFill>
                        </a:rPr>
                        <a:t>作成方法（特徴量エンジニアリング）</a:t>
                      </a:r>
                    </a:p>
                  </a:txBody>
                  <a:tcPr>
                    <a:solidFill>
                      <a:srgbClr val="1F375B"/>
                    </a:solidFill>
                  </a:tcPr>
                </a:tc>
              </a:tr>
              <a:tr h="365760">
                <a:tc>
                  <a:txBody>
                    <a:bodyPr/>
                    <a:lstStyle/>
                    <a:p>
                      <a:r>
                        <a:rPr sz="1050"/>
                        <a:t>FCCステップ(符号付き/絶対値)</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時刻順FCC差分の非ゼロ値: patent_dual_track.fcc_steps</a:t>
                      </a:r>
                    </a:p>
                  </a:txBody>
                  <a:tcPr>
                    <a:solidFill>
                      <a:srgbClr val="EEF2F7"/>
                    </a:solidFill>
                  </a:tcPr>
                </a:tc>
              </a:tr>
              <a:tr h="365760">
                <a:tc>
                  <a:txBody>
                    <a:bodyPr/>
                    <a:lstStyle/>
                    <a:p>
                      <a:r>
                        <a:rPr sz="1050"/>
                        <a:t>is_effective / is_micro</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絶対値 ≥ / &lt; 50mWh(有効閾値): step_threshold_mwh</a:t>
                      </a:r>
                    </a:p>
                  </a:txBody>
                  <a:tcPr>
                    <a:solidFill>
                      <a:srgbClr val="FFFFFF"/>
                    </a:solidFill>
                  </a:tcPr>
                </a:tc>
              </a:tr>
              <a:tr h="365760">
                <a:tc>
                  <a:txBody>
                    <a:bodyPr/>
                    <a:lstStyle/>
                    <a:p>
                      <a:r>
                        <a:rPr sz="1050"/>
                        <a:t>量子化単位 quantization_unit</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観測された最小の正の|step|(=10mWh)</a:t>
                      </a:r>
                    </a:p>
                  </a:txBody>
                  <a:tcPr>
                    <a:solidFill>
                      <a:srgbClr val="EEF2F7"/>
                    </a:solidFill>
                  </a:tcPr>
                </a:tc>
              </a:tr>
              <a:tr h="365760">
                <a:tc>
                  <a:txBody>
                    <a:bodyPr/>
                    <a:lstStyle/>
                    <a:p>
                      <a:r>
                        <a:rPr sz="1050"/>
                        <a:t>any/effective 状態・未解決証拠カウンタ</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イベント列の状態機械リプレイ(micro/effで非対称リセット): online_step_state</a:t>
                      </a:r>
                    </a:p>
                  </a:txBody>
                  <a:tcPr>
                    <a:solidFill>
                      <a:srgbClr val="FFFFFF"/>
                    </a:solidFill>
                  </a:tcPr>
                </a:tc>
              </a:tr>
              <a:tr h="365760">
                <a:tc>
                  <a:txBody>
                    <a:bodyPr/>
                    <a:lstStyle/>
                    <a:p>
                      <a:r>
                        <a:rPr sz="1050"/>
                        <a:t>混合分布 micro/effective モード・谷</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log10(|step|)に2成分Gaussian Mixtureを適合: patent_effective_threshold</a:t>
                      </a:r>
                    </a:p>
                  </a:txBody>
                  <a:tcPr>
                    <a:solidFill>
                      <a:srgbClr val="EEF2F7"/>
                    </a:solidFill>
                  </a:tcPr>
                </a:tc>
              </a:tr>
              <a:tr h="365760">
                <a:tc>
                  <a:txBody>
                    <a:bodyPr/>
                    <a:lstStyle/>
                    <a:p>
                      <a:r>
                        <a:rPr sz="1050"/>
                        <a:t>持続/反転(persistence/reversal)</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各stepの次step時刻差・符号反転(microがノイズか否かの検証)</a:t>
                      </a:r>
                    </a:p>
                  </a:txBody>
                  <a:tcPr>
                    <a:solidFill>
                      <a:srgbClr val="FFFFFF"/>
                    </a:solidFill>
                  </a:tcPr>
                </a:tc>
              </a:tr>
              <a:tr h="365760">
                <a:tc>
                  <a:txBody>
                    <a:bodyPr/>
                    <a:lstStyle/>
                    <a:p>
                      <a:r>
                        <a:rPr sz="1050"/>
                        <a:t>適応閾値(代替)</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max(k·quantization, α·DesignCapacity, noise percentile)</a:t>
                      </a:r>
                    </a:p>
                  </a:txBody>
                  <a:tcPr>
                    <a:solidFill>
                      <a:srgbClr val="EEF2F7"/>
                    </a:solidFill>
                  </a:tcPr>
                </a:tc>
              </a:tr>
            </a:tbl>
          </a:graphicData>
        </a:graphic>
      </p:graphicFrame>
      <p:sp>
        <p:nvSpPr>
          <p:cNvPr id="6" name="TextBox 5"/>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候補②の根拠: 微小変化で証拠が消える vs 守る（C2）</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候補②</a:t>
            </a:r>
          </a:p>
        </p:txBody>
      </p:sp>
      <p:pic>
        <p:nvPicPr>
          <p:cNvPr id="5" name="Picture 4" descr="dual_track_erased_evidence.png"/>
          <p:cNvPicPr>
            <a:picLocks noChangeAspect="1"/>
          </p:cNvPicPr>
          <p:nvPr/>
        </p:nvPicPr>
        <p:blipFill>
          <a:blip r:embed="rId2"/>
          <a:stretch>
            <a:fillRect/>
          </a:stretch>
        </p:blipFill>
        <p:spPr>
          <a:xfrm>
            <a:off x="365760" y="1024128"/>
            <a:ext cx="6492240" cy="3644436"/>
          </a:xfrm>
          <a:prstGeom prst="rect">
            <a:avLst/>
          </a:prstGeom>
        </p:spPr>
      </p:pic>
      <p:sp>
        <p:nvSpPr>
          <p:cNvPr id="6" name="TextBox 5"/>
          <p:cNvSpPr txBox="1"/>
          <p:nvPr/>
        </p:nvSpPr>
        <p:spPr>
          <a:xfrm>
            <a:off x="365760" y="5943600"/>
            <a:ext cx="6492240" cy="365760"/>
          </a:xfrm>
          <a:prstGeom prst="rect">
            <a:avLst/>
          </a:prstGeom>
          <a:noFill/>
        </p:spPr>
        <p:txBody>
          <a:bodyPr wrap="square">
            <a:spAutoFit/>
          </a:bodyPr>
          <a:lstStyle/>
          <a:p>
            <a:r>
              <a:rPr sz="900" b="0">
                <a:solidFill>
                  <a:srgbClr val="555555"/>
                </a:solidFill>
              </a:rPr>
              <a:t>図: dual_track_erased_evidence.png（dpi=300・匿名）</a:t>
            </a:r>
          </a:p>
        </p:txBody>
      </p:sp>
      <p:sp>
        <p:nvSpPr>
          <p:cNvPr id="7" name="TextBox 6"/>
          <p:cNvSpPr txBox="1"/>
          <p:nvPr/>
        </p:nvSpPr>
        <p:spPr>
          <a:xfrm>
            <a:off x="7086600" y="960120"/>
            <a:ext cx="4800600" cy="5303520"/>
          </a:xfrm>
          <a:prstGeom prst="rect">
            <a:avLst/>
          </a:prstGeom>
          <a:noFill/>
        </p:spPr>
        <p:txBody>
          <a:bodyPr wrap="square">
            <a:spAutoFit/>
          </a:bodyPr>
          <a:lstStyle/>
          <a:p>
            <a:pPr>
              <a:spcBef>
                <a:spcPts val="600"/>
              </a:spcBef>
            </a:pPr>
            <a:r>
              <a:rPr sz="1250" b="1">
                <a:solidFill>
                  <a:srgbClr val="1F77B4"/>
                </a:solidFill>
              </a:rPr>
              <a:t>【何のグラフか】</a:t>
            </a:r>
          </a:p>
          <a:p>
            <a:r>
              <a:rPr sz="1150" b="0">
                <a:solidFill>
                  <a:srgbClr val="222222"/>
                </a:solidFill>
              </a:rPr>
              <a:t>microステップによって『消されてしまう』未解決証拠の件数を、リセット方式別に比較。</a:t>
            </a:r>
          </a:p>
          <a:p>
            <a:pPr>
              <a:spcBef>
                <a:spcPts val="600"/>
              </a:spcBef>
            </a:pPr>
            <a:r>
              <a:rPr sz="1250" b="1">
                <a:solidFill>
                  <a:srgbClr val="1F375B"/>
                </a:solidFill>
              </a:rPr>
              <a:t>【軸・変数の定義】</a:t>
            </a:r>
          </a:p>
          <a:p>
            <a:r>
              <a:rPr sz="1150" b="0">
                <a:solidFill>
                  <a:srgbClr val="222222"/>
                </a:solidFill>
              </a:rPr>
              <a:t>縦軸=消去された pending(保留中の機会)+no_response(確定無応答)件数。横軸=リセット方式(D0〜D5)。</a:t>
            </a:r>
          </a:p>
          <a:p>
            <a:pPr>
              <a:spcBef>
                <a:spcPts val="600"/>
              </a:spcBef>
            </a:pPr>
            <a:r>
              <a:rPr sz="1250" b="1">
                <a:solidFill>
                  <a:srgbClr val="2CA02C"/>
                </a:solidFill>
              </a:rPr>
              <a:t>【主張（言いたいこと）】</a:t>
            </a:r>
          </a:p>
          <a:p>
            <a:r>
              <a:rPr sz="1150" b="0">
                <a:solidFill>
                  <a:srgbClr val="222222"/>
                </a:solidFill>
              </a:rPr>
              <a:t>対称リセット(D0/D2)はmicroで pending 1802・no_response 462件を消去。非対称(D4,提案)は0。</a:t>
            </a:r>
          </a:p>
          <a:p>
            <a:pPr>
              <a:spcBef>
                <a:spcPts val="600"/>
              </a:spcBef>
            </a:pPr>
            <a:r>
              <a:rPr sz="1250" b="1">
                <a:solidFill>
                  <a:srgbClr val="B05A00"/>
                </a:solidFill>
              </a:rPr>
              <a:t>【読み方・解釈】</a:t>
            </a:r>
          </a:p>
          <a:p>
            <a:r>
              <a:rPr sz="1150" b="0">
                <a:solidFill>
                  <a:srgbClr val="222222"/>
                </a:solidFill>
              </a:rPr>
              <a:t>棒が高い=証拠を失う方式。D4=0が理想。これが『非対称リセットが証拠を守る』直接証拠。</a:t>
            </a:r>
          </a:p>
        </p:txBody>
      </p:sp>
      <p:sp>
        <p:nvSpPr>
          <p:cNvPr id="8" name="TextBox 7"/>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候補②の根拠: 有効閾値はデータの谷で裏付け（C3）</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候補②</a:t>
            </a:r>
          </a:p>
        </p:txBody>
      </p:sp>
      <p:pic>
        <p:nvPicPr>
          <p:cNvPr id="5" name="Picture 4" descr="effective_threshold_mixture_fit.png"/>
          <p:cNvPicPr>
            <a:picLocks noChangeAspect="1"/>
          </p:cNvPicPr>
          <p:nvPr/>
        </p:nvPicPr>
        <p:blipFill>
          <a:blip r:embed="rId2"/>
          <a:stretch>
            <a:fillRect/>
          </a:stretch>
        </p:blipFill>
        <p:spPr>
          <a:xfrm>
            <a:off x="365760" y="1024128"/>
            <a:ext cx="6492240" cy="3939301"/>
          </a:xfrm>
          <a:prstGeom prst="rect">
            <a:avLst/>
          </a:prstGeom>
        </p:spPr>
      </p:pic>
      <p:sp>
        <p:nvSpPr>
          <p:cNvPr id="6" name="TextBox 5"/>
          <p:cNvSpPr txBox="1"/>
          <p:nvPr/>
        </p:nvSpPr>
        <p:spPr>
          <a:xfrm>
            <a:off x="365760" y="5943600"/>
            <a:ext cx="6492240" cy="365760"/>
          </a:xfrm>
          <a:prstGeom prst="rect">
            <a:avLst/>
          </a:prstGeom>
          <a:noFill/>
        </p:spPr>
        <p:txBody>
          <a:bodyPr wrap="square">
            <a:spAutoFit/>
          </a:bodyPr>
          <a:lstStyle/>
          <a:p>
            <a:r>
              <a:rPr sz="900" b="0">
                <a:solidFill>
                  <a:srgbClr val="555555"/>
                </a:solidFill>
              </a:rPr>
              <a:t>図: effective_threshold_mixture_fit.png（dpi=300・匿名）</a:t>
            </a:r>
          </a:p>
        </p:txBody>
      </p:sp>
      <p:sp>
        <p:nvSpPr>
          <p:cNvPr id="7" name="TextBox 6"/>
          <p:cNvSpPr txBox="1"/>
          <p:nvPr/>
        </p:nvSpPr>
        <p:spPr>
          <a:xfrm>
            <a:off x="7086600" y="960120"/>
            <a:ext cx="4800600" cy="5303520"/>
          </a:xfrm>
          <a:prstGeom prst="rect">
            <a:avLst/>
          </a:prstGeom>
          <a:noFill/>
        </p:spPr>
        <p:txBody>
          <a:bodyPr wrap="square">
            <a:spAutoFit/>
          </a:bodyPr>
          <a:lstStyle/>
          <a:p>
            <a:pPr>
              <a:spcBef>
                <a:spcPts val="600"/>
              </a:spcBef>
            </a:pPr>
            <a:r>
              <a:rPr sz="1250" b="1">
                <a:solidFill>
                  <a:srgbClr val="1F77B4"/>
                </a:solidFill>
              </a:rPr>
              <a:t>【何のグラフか】</a:t>
            </a:r>
          </a:p>
          <a:p>
            <a:r>
              <a:rPr sz="1150" b="0">
                <a:solidFill>
                  <a:srgbClr val="222222"/>
                </a:solidFill>
              </a:rPr>
              <a:t>FCCステップ大きさ(対数)の分布。微小ゆらぎと意味ある再学習を分ける閾値の妥当性。</a:t>
            </a:r>
          </a:p>
          <a:p>
            <a:pPr>
              <a:spcBef>
                <a:spcPts val="600"/>
              </a:spcBef>
            </a:pPr>
            <a:r>
              <a:rPr sz="1250" b="1">
                <a:solidFill>
                  <a:srgbClr val="1F375B"/>
                </a:solidFill>
              </a:rPr>
              <a:t>【軸・変数の定義】</a:t>
            </a:r>
          </a:p>
          <a:p>
            <a:r>
              <a:rPr sz="1150" b="0">
                <a:solidFill>
                  <a:srgbClr val="222222"/>
                </a:solidFill>
              </a:rPr>
              <a:t>横軸=log10(|FCCステップ|,mWh)。縦軸=密度。点線=候補閾値、黒線=50mWh。</a:t>
            </a:r>
          </a:p>
          <a:p>
            <a:pPr>
              <a:spcBef>
                <a:spcPts val="600"/>
              </a:spcBef>
            </a:pPr>
            <a:r>
              <a:rPr sz="1250" b="1">
                <a:solidFill>
                  <a:srgbClr val="2CA02C"/>
                </a:solidFill>
              </a:rPr>
              <a:t>【主張（言いたいこと）】</a:t>
            </a:r>
          </a:p>
          <a:p>
            <a:r>
              <a:rPr sz="1150" b="0">
                <a:solidFill>
                  <a:srgbClr val="222222"/>
                </a:solidFill>
              </a:rPr>
              <a:t>分布は二峰(micro≈14/effective≈217mWh)。谷(≈35mWh)の上に50mWh→閾値として妥当。</a:t>
            </a:r>
          </a:p>
          <a:p>
            <a:pPr>
              <a:spcBef>
                <a:spcPts val="600"/>
              </a:spcBef>
            </a:pPr>
            <a:r>
              <a:rPr sz="1250" b="1">
                <a:solidFill>
                  <a:srgbClr val="B05A00"/>
                </a:solidFill>
              </a:rPr>
              <a:t>【読み方・解釈】</a:t>
            </a:r>
          </a:p>
          <a:p>
            <a:r>
              <a:rPr sz="1150" b="0">
                <a:solidFill>
                  <a:srgbClr val="222222"/>
                </a:solidFill>
              </a:rPr>
              <a:t>2つの山の谷が境界。固定50mWhは一実施形態、広い概念は量子化・ノイズ帯を超える適応閾値(粒度はreviewer判断)。</a:t>
            </a:r>
          </a:p>
        </p:txBody>
      </p:sp>
      <p:sp>
        <p:nvSpPr>
          <p:cNvPr id="8" name="TextBox 7"/>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特許候補③ 有界保持下の因果証拠台帳（最小十分状態）</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候補③  [IC5 相当]</a:t>
            </a:r>
          </a:p>
        </p:txBody>
      </p:sp>
      <p:sp>
        <p:nvSpPr>
          <p:cNvPr id="5" name="TextBox 4"/>
          <p:cNvSpPr txBox="1"/>
          <p:nvPr/>
        </p:nvSpPr>
        <p:spPr>
          <a:xfrm>
            <a:off x="457200" y="877824"/>
            <a:ext cx="11277295" cy="384048"/>
          </a:xfrm>
          <a:prstGeom prst="rect">
            <a:avLst/>
          </a:prstGeom>
          <a:noFill/>
        </p:spPr>
        <p:txBody>
          <a:bodyPr wrap="square">
            <a:spAutoFit/>
          </a:bodyPr>
          <a:lstStyle/>
          <a:p>
            <a:r>
              <a:rPr sz="1200" b="1">
                <a:solidFill>
                  <a:srgbClr val="1F375B"/>
                </a:solidFill>
              </a:rPr>
              <a:t>技術エビデンス強度: </a:t>
            </a:r>
            <a:r>
              <a:rPr sz="1200" b="1">
                <a:solidFill>
                  <a:srgbClr val="2CA02C"/>
                </a:solidFill>
              </a:rPr>
              <a:t>STRONG    </a:t>
            </a:r>
            <a:r>
              <a:rPr sz="1200" b="1">
                <a:solidFill>
                  <a:srgbClr val="1F375B"/>
                </a:solidFill>
              </a:rPr>
              <a:t>先行技術リスク(UNVERIFIED): </a:t>
            </a:r>
            <a:r>
              <a:rPr sz="1200" b="1">
                <a:solidFill>
                  <a:srgbClr val="C0392B"/>
                </a:solidFill>
              </a:rPr>
              <a:t>MEDIUM-HIGH</a:t>
            </a:r>
          </a:p>
        </p:txBody>
      </p:sp>
      <p:sp>
        <p:nvSpPr>
          <p:cNvPr id="6" name="TextBox 5"/>
          <p:cNvSpPr txBox="1"/>
          <p:nvPr/>
        </p:nvSpPr>
        <p:spPr>
          <a:xfrm>
            <a:off x="457200" y="1325880"/>
            <a:ext cx="11277295" cy="5074920"/>
          </a:xfrm>
          <a:prstGeom prst="rect">
            <a:avLst/>
          </a:prstGeom>
          <a:noFill/>
        </p:spPr>
        <p:txBody>
          <a:bodyPr wrap="square">
            <a:spAutoFit/>
          </a:bodyPr>
          <a:lstStyle/>
          <a:p>
            <a:pPr>
              <a:spcBef>
                <a:spcPts val="500"/>
              </a:spcBef>
            </a:pPr>
            <a:r>
              <a:rPr sz="1400" b="1">
                <a:solidFill>
                  <a:srgbClr val="1F375B"/>
                </a:solidFill>
              </a:rPr>
              <a:t>背景</a:t>
            </a:r>
          </a:p>
          <a:p>
            <a:r>
              <a:rPr sz="1250" b="0"/>
              <a:t>フリート監視では生テレメトリの保持期間が有界(例:直近30日のみ)。</a:t>
            </a:r>
          </a:p>
          <a:p>
            <a:pPr>
              <a:spcBef>
                <a:spcPts val="500"/>
              </a:spcBef>
            </a:pPr>
            <a:r>
              <a:rPr sz="1400" b="1">
                <a:solidFill>
                  <a:srgbClr val="1F375B"/>
                </a:solidFill>
              </a:rPr>
              <a:t>問題</a:t>
            </a:r>
          </a:p>
          <a:p>
            <a:r>
              <a:rPr sz="1250" b="0"/>
              <a:t>保持窓をまたぐ機会の証拠が生データ破棄で失われる/重複する(状態なしは7日保持で recall 0.81・重複率 2.1)。</a:t>
            </a:r>
          </a:p>
          <a:p>
            <a:pPr>
              <a:spcBef>
                <a:spcPts val="500"/>
              </a:spcBef>
            </a:pPr>
            <a:r>
              <a:rPr sz="1400" b="1">
                <a:solidFill>
                  <a:srgbClr val="1F375B"/>
                </a:solidFill>
              </a:rPr>
              <a:t>課題</a:t>
            </a:r>
          </a:p>
          <a:p>
            <a:r>
              <a:rPr sz="1250" b="0"/>
              <a:t>有界保持でも『全期間版と等価』な判定を、できるだけ小さい永続状態で実現する。</a:t>
            </a:r>
          </a:p>
          <a:p>
            <a:pPr>
              <a:spcBef>
                <a:spcPts val="500"/>
              </a:spcBef>
            </a:pPr>
            <a:r>
              <a:rPr sz="1400" b="1">
                <a:solidFill>
                  <a:srgbClr val="1F375B"/>
                </a:solidFill>
              </a:rPr>
              <a:t>解決法</a:t>
            </a:r>
          </a:p>
          <a:p>
            <a:r>
              <a:rPr sz="1250" b="0"/>
              <a:t>部分FSM・pending期限キュー・確定済みID集合・直近any/effective変化を永続化し、生データ破棄後も因果リプレイで復元。期限は窓観測時のみ発火(未来情報リーク無)。</a:t>
            </a:r>
          </a:p>
          <a:p>
            <a:pPr>
              <a:spcBef>
                <a:spcPts val="500"/>
              </a:spcBef>
            </a:pPr>
            <a:r>
              <a:rPr sz="1400" b="1">
                <a:solidFill>
                  <a:srgbClr val="1F375B"/>
                </a:solidFill>
              </a:rPr>
              <a:t>特許性 / 新規性</a:t>
            </a:r>
          </a:p>
          <a:p>
            <a:r>
              <a:rPr sz="1250" b="0"/>
              <a:t>Dで状態あり方式が recall=1/重複=0/誤差≈0.02 を ストレージ 4% で達成(根拠⑤)。最小状態アブレーションで各構成要素が必要と実証。【リスク】streaming+cachingは既知の組合せ→『最小状態構造』をクレーム核に。</a:t>
            </a:r>
          </a:p>
        </p:txBody>
      </p:sp>
      <p:sp>
        <p:nvSpPr>
          <p:cNvPr id="7" name="TextBox 6"/>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特許候補③ 必要な特徴量（と作成方法）</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候補③</a:t>
            </a:r>
          </a:p>
        </p:txBody>
      </p:sp>
      <p:graphicFrame>
        <p:nvGraphicFramePr>
          <p:cNvPr id="5" name="Table 4"/>
          <p:cNvGraphicFramePr>
            <a:graphicFrameLocks noGrp="1"/>
          </p:cNvGraphicFramePr>
          <p:nvPr/>
        </p:nvGraphicFramePr>
        <p:xfrm>
          <a:off x="365760" y="932688"/>
          <a:ext cx="11430000" cy="2560320"/>
        </p:xfrm>
        <a:graphic>
          <a:graphicData uri="http://schemas.openxmlformats.org/drawingml/2006/table">
            <a:tbl>
              <a:tblPr firstRow="1" bandRow="1">
                <a:tableStyleId>{5C22544A-7EE6-4342-B048-85BDC9FD1C3A}</a:tableStyleId>
              </a:tblPr>
              <a:tblGrid>
                <a:gridCol w="3108960"/>
                <a:gridCol w="1234440"/>
                <a:gridCol w="7086600"/>
              </a:tblGrid>
              <a:tr h="365760">
                <a:tc>
                  <a:txBody>
                    <a:bodyPr/>
                    <a:lstStyle/>
                    <a:p>
                      <a:r>
                        <a:rPr sz="1150" b="1">
                          <a:solidFill>
                            <a:srgbClr val="FFFFFF"/>
                          </a:solidFill>
                        </a:rPr>
                        <a:t>変数 / 特徴量</a:t>
                      </a:r>
                    </a:p>
                  </a:txBody>
                  <a:tcPr>
                    <a:solidFill>
                      <a:srgbClr val="1F375B"/>
                    </a:solidFill>
                  </a:tcPr>
                </a:tc>
                <a:tc>
                  <a:txBody>
                    <a:bodyPr/>
                    <a:lstStyle/>
                    <a:p>
                      <a:r>
                        <a:rPr sz="1150" b="1">
                          <a:solidFill>
                            <a:srgbClr val="FFFFFF"/>
                          </a:solidFill>
                        </a:rPr>
                        <a:t>種別</a:t>
                      </a:r>
                    </a:p>
                  </a:txBody>
                  <a:tcPr>
                    <a:solidFill>
                      <a:srgbClr val="1F375B"/>
                    </a:solidFill>
                  </a:tcPr>
                </a:tc>
                <a:tc>
                  <a:txBody>
                    <a:bodyPr/>
                    <a:lstStyle/>
                    <a:p>
                      <a:r>
                        <a:rPr sz="1150" b="1">
                          <a:solidFill>
                            <a:srgbClr val="FFFFFF"/>
                          </a:solidFill>
                        </a:rPr>
                        <a:t>作成方法（特徴量エンジニアリング）</a:t>
                      </a:r>
                    </a:p>
                  </a:txBody>
                  <a:tcPr>
                    <a:solidFill>
                      <a:srgbClr val="1F375B"/>
                    </a:solidFill>
                  </a:tcPr>
                </a:tc>
              </a:tr>
              <a:tr h="365760">
                <a:tc>
                  <a:txBody>
                    <a:bodyPr/>
                    <a:lstStyle/>
                    <a:p>
                      <a:r>
                        <a:rPr sz="1050"/>
                        <a:t>episode_id(正準ID)</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user|band|start|end(同一機会を一意識別、重複防止。公開時user部はhash)</a:t>
                      </a:r>
                    </a:p>
                  </a:txBody>
                  <a:tcPr>
                    <a:solidFill>
                      <a:srgbClr val="EEF2F7"/>
                    </a:solidFill>
                  </a:tcPr>
                </a:tc>
              </a:tr>
              <a:tr h="365760">
                <a:tc>
                  <a:txBody>
                    <a:bodyPr/>
                    <a:lstStyle/>
                    <a:p>
                      <a:r>
                        <a:rPr sz="1050"/>
                        <a:t>応答期限 / 直近変化 ts+cycle</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end+72h / 状態機械が逐次更新(経過日数・サイクルを駆動)</a:t>
                      </a:r>
                    </a:p>
                  </a:txBody>
                  <a:tcPr>
                    <a:solidFill>
                      <a:srgbClr val="FFFFFF"/>
                    </a:solidFill>
                  </a:tcPr>
                </a:tc>
              </a:tr>
              <a:tr h="365760">
                <a:tc>
                  <a:txBody>
                    <a:bodyPr/>
                    <a:lstStyle/>
                    <a:p>
                      <a:r>
                        <a:rPr sz="1050"/>
                        <a:t>確定済みID集合 seen_ids</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確定済み機会IDの集合(重複カウント防止)</a:t>
                      </a:r>
                    </a:p>
                  </a:txBody>
                  <a:tcPr>
                    <a:solidFill>
                      <a:srgbClr val="EEF2F7"/>
                    </a:solidFill>
                  </a:tcPr>
                </a:tc>
              </a:tr>
              <a:tr h="365760">
                <a:tc>
                  <a:txBody>
                    <a:bodyPr/>
                    <a:lstStyle/>
                    <a:p>
                      <a:r>
                        <a:rPr sz="1050"/>
                        <a:t>pending 期限キュー</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未解決機会の期限待ち(生データ破棄後も証拠保持)</a:t>
                      </a:r>
                    </a:p>
                  </a:txBody>
                  <a:tcPr>
                    <a:solidFill>
                      <a:srgbClr val="FFFFFF"/>
                    </a:solidFill>
                  </a:tcPr>
                </a:tc>
              </a:tr>
              <a:tr h="365760">
                <a:tc>
                  <a:txBody>
                    <a:bodyPr/>
                    <a:lstStyle/>
                    <a:p>
                      <a:r>
                        <a:rPr sz="1050"/>
                        <a:t>部分FSM 状態</a:t>
                      </a:r>
                    </a:p>
                  </a:txBody>
                  <a:tcPr>
                    <a:solidFill>
                      <a:srgbClr val="EEF2F7"/>
                    </a:solidFill>
                  </a:tcPr>
                </a:tc>
                <a:tc>
                  <a:txBody>
                    <a:bodyPr/>
                    <a:lstStyle/>
                    <a:p>
                      <a:r>
                        <a:rPr sz="1050" b="1">
                          <a:solidFill>
                            <a:srgbClr val="2CA02C"/>
                          </a:solidFill>
                        </a:rPr>
                        <a:t>派生</a:t>
                      </a:r>
                    </a:p>
                  </a:txBody>
                  <a:tcPr>
                    <a:solidFill>
                      <a:srgbClr val="EEF2F7"/>
                    </a:solidFill>
                  </a:tcPr>
                </a:tc>
                <a:tc>
                  <a:txBody>
                    <a:bodyPr/>
                    <a:lstStyle/>
                    <a:p>
                      <a:r>
                        <a:rPr sz="1050"/>
                        <a:t>WAIT_HIGH/LOW/HIGH_AGAIN の途中状態(窓またぎ機会検出)</a:t>
                      </a:r>
                    </a:p>
                  </a:txBody>
                  <a:tcPr>
                    <a:solidFill>
                      <a:srgbClr val="EEF2F7"/>
                    </a:solidFill>
                  </a:tcPr>
                </a:tc>
              </a:tr>
              <a:tr h="365760">
                <a:tc>
                  <a:txBody>
                    <a:bodyPr/>
                    <a:lstStyle/>
                    <a:p>
                      <a:r>
                        <a:rPr sz="1050"/>
                        <a:t>最小十分状態(全体)</a:t>
                      </a:r>
                    </a:p>
                  </a:txBody>
                  <a:tcPr>
                    <a:solidFill>
                      <a:srgbClr val="FFFFFF"/>
                    </a:solidFill>
                  </a:tcPr>
                </a:tc>
                <a:tc>
                  <a:txBody>
                    <a:bodyPr/>
                    <a:lstStyle/>
                    <a:p>
                      <a:r>
                        <a:rPr sz="1050" b="1">
                          <a:solidFill>
                            <a:srgbClr val="2CA02C"/>
                          </a:solidFill>
                        </a:rPr>
                        <a:t>派生</a:t>
                      </a:r>
                    </a:p>
                  </a:txBody>
                  <a:tcPr>
                    <a:solidFill>
                      <a:srgbClr val="FFFFFF"/>
                    </a:solidFill>
                  </a:tcPr>
                </a:tc>
                <a:tc>
                  <a:txBody>
                    <a:bodyPr/>
                    <a:lstStyle/>
                    <a:p>
                      <a:r>
                        <a:rPr sz="1050"/>
                        <a:t>上記の集合。アブレーションで各要素の必要性を実証: patent_state_minimality</a:t>
                      </a:r>
                    </a:p>
                  </a:txBody>
                  <a:tcPr>
                    <a:solidFill>
                      <a:srgbClr val="FFFFFF"/>
                    </a:solidFill>
                  </a:tcPr>
                </a:tc>
              </a:tr>
            </a:tbl>
          </a:graphicData>
        </a:graphic>
      </p:graphicFrame>
      <p:sp>
        <p:nvSpPr>
          <p:cNvPr id="6" name="TextBox 5"/>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候補③の根拠: どの状態も削れない（最小性 D）</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候補③</a:t>
            </a:r>
          </a:p>
        </p:txBody>
      </p:sp>
      <p:pic>
        <p:nvPicPr>
          <p:cNvPr id="5" name="Picture 4" descr="minimal_state_necessity.png"/>
          <p:cNvPicPr>
            <a:picLocks noChangeAspect="1"/>
          </p:cNvPicPr>
          <p:nvPr/>
        </p:nvPicPr>
        <p:blipFill>
          <a:blip r:embed="rId2"/>
          <a:stretch>
            <a:fillRect/>
          </a:stretch>
        </p:blipFill>
        <p:spPr>
          <a:xfrm>
            <a:off x="365760" y="1024128"/>
            <a:ext cx="6492240" cy="3942683"/>
          </a:xfrm>
          <a:prstGeom prst="rect">
            <a:avLst/>
          </a:prstGeom>
        </p:spPr>
      </p:pic>
      <p:sp>
        <p:nvSpPr>
          <p:cNvPr id="6" name="TextBox 5"/>
          <p:cNvSpPr txBox="1"/>
          <p:nvPr/>
        </p:nvSpPr>
        <p:spPr>
          <a:xfrm>
            <a:off x="365760" y="5943600"/>
            <a:ext cx="6492240" cy="365760"/>
          </a:xfrm>
          <a:prstGeom prst="rect">
            <a:avLst/>
          </a:prstGeom>
          <a:noFill/>
        </p:spPr>
        <p:txBody>
          <a:bodyPr wrap="square">
            <a:spAutoFit/>
          </a:bodyPr>
          <a:lstStyle/>
          <a:p>
            <a:r>
              <a:rPr sz="900" b="0">
                <a:solidFill>
                  <a:srgbClr val="555555"/>
                </a:solidFill>
              </a:rPr>
              <a:t>図: minimal_state_necessity.png（dpi=300・匿名）</a:t>
            </a:r>
          </a:p>
        </p:txBody>
      </p:sp>
      <p:sp>
        <p:nvSpPr>
          <p:cNvPr id="7" name="TextBox 6"/>
          <p:cNvSpPr txBox="1"/>
          <p:nvPr/>
        </p:nvSpPr>
        <p:spPr>
          <a:xfrm>
            <a:off x="7086600" y="960120"/>
            <a:ext cx="4800600" cy="5303520"/>
          </a:xfrm>
          <a:prstGeom prst="rect">
            <a:avLst/>
          </a:prstGeom>
          <a:noFill/>
        </p:spPr>
        <p:txBody>
          <a:bodyPr wrap="square">
            <a:spAutoFit/>
          </a:bodyPr>
          <a:lstStyle/>
          <a:p>
            <a:pPr>
              <a:spcBef>
                <a:spcPts val="600"/>
              </a:spcBef>
            </a:pPr>
            <a:r>
              <a:rPr sz="1250" b="1">
                <a:solidFill>
                  <a:srgbClr val="1F77B4"/>
                </a:solidFill>
              </a:rPr>
              <a:t>【何のグラフか】</a:t>
            </a:r>
          </a:p>
          <a:p>
            <a:r>
              <a:rPr sz="1150" b="0">
                <a:solidFill>
                  <a:srgbClr val="222222"/>
                </a:solidFill>
              </a:rPr>
              <a:t>永続状態の各構成要素を1つずつ外したとき、どの不変量(等価性)が壊れるか。</a:t>
            </a:r>
          </a:p>
          <a:p>
            <a:pPr>
              <a:spcBef>
                <a:spcPts val="600"/>
              </a:spcBef>
            </a:pPr>
            <a:r>
              <a:rPr sz="1250" b="1">
                <a:solidFill>
                  <a:srgbClr val="1F375B"/>
                </a:solidFill>
              </a:rPr>
              <a:t>【軸・変数の定義】</a:t>
            </a:r>
          </a:p>
          <a:p>
            <a:r>
              <a:rPr sz="1150" b="0">
                <a:solidFill>
                  <a:srgbClr val="222222"/>
                </a:solidFill>
              </a:rPr>
              <a:t>横軸=外した構成要素(fsm/pending/last_eff等)。縦軸=不変量の破綻量(recall低下=赤, no_response誤差=橙)。</a:t>
            </a:r>
          </a:p>
          <a:p>
            <a:pPr>
              <a:spcBef>
                <a:spcPts val="600"/>
              </a:spcBef>
            </a:pPr>
            <a:r>
              <a:rPr sz="1250" b="1">
                <a:solidFill>
                  <a:srgbClr val="2CA02C"/>
                </a:solidFill>
              </a:rPr>
              <a:t>【主張（言いたいこと）】</a:t>
            </a:r>
          </a:p>
          <a:p>
            <a:r>
              <a:rPr sz="1150" b="0">
                <a:solidFill>
                  <a:srgbClr val="222222"/>
                </a:solidFill>
              </a:rPr>
              <a:t>各要素を外すと等価性が崩れる→これらは『最小十分状態』であり削れない(=クレームの核)。</a:t>
            </a:r>
          </a:p>
          <a:p>
            <a:pPr>
              <a:spcBef>
                <a:spcPts val="600"/>
              </a:spcBef>
            </a:pPr>
            <a:r>
              <a:rPr sz="1250" b="1">
                <a:solidFill>
                  <a:srgbClr val="B05A00"/>
                </a:solidFill>
              </a:rPr>
              <a:t>【読み方・解釈】</a:t>
            </a:r>
          </a:p>
          <a:p>
            <a:r>
              <a:rPr sz="1150" b="0">
                <a:solidFill>
                  <a:srgbClr val="222222"/>
                </a:solidFill>
              </a:rPr>
              <a:t>棒が高い要素ほど必須。例: fsmを外すと窓またぎ機会を取り逃しrecall急落。</a:t>
            </a:r>
          </a:p>
        </p:txBody>
      </p:sp>
      <p:sp>
        <p:nvSpPr>
          <p:cNvPr id="8" name="TextBox 7"/>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将来の特許候補（PROSPECTIVE）</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Part 2 ─ 将来候補</a:t>
            </a:r>
          </a:p>
        </p:txBody>
      </p:sp>
      <p:sp>
        <p:nvSpPr>
          <p:cNvPr id="5" name="TextBox 4"/>
          <p:cNvSpPr txBox="1"/>
          <p:nvPr/>
        </p:nvSpPr>
        <p:spPr>
          <a:xfrm>
            <a:off x="548640" y="1097280"/>
            <a:ext cx="11064240" cy="4572000"/>
          </a:xfrm>
          <a:prstGeom prst="rect">
            <a:avLst/>
          </a:prstGeom>
          <a:noFill/>
        </p:spPr>
        <p:txBody>
          <a:bodyPr wrap="square">
            <a:spAutoFit/>
          </a:bodyPr>
          <a:lstStyle/>
          <a:p>
            <a:r>
              <a:rPr sz="1500" b="1">
                <a:solidFill>
                  <a:srgbClr val="1F375B"/>
                </a:solidFill>
              </a:rPr>
              <a:t>将来④ 診断依存クローズドループ介入検証</a:t>
            </a:r>
          </a:p>
          <a:p>
            <a:r>
              <a:rPr sz="1250" b="0"/>
              <a:t>•  背景/課題: ラベル付け後の介入(較正/FW更新)が本当にゲージを回復させたかを検証したい。</a:t>
            </a:r>
          </a:p>
          <a:p>
            <a:r>
              <a:rPr sz="1250" b="0"/>
              <a:t>•  解決法: 介入後の『次の良質な機会』での有効応答を観測しラベルを検証(介入を因果台帳に記録)。</a:t>
            </a:r>
          </a:p>
          <a:p>
            <a:r>
              <a:rPr sz="1250" b="0"/>
              <a:t>•  状態: 介入・BIOS/EC/FWバージョンが NOT AVAILABLE → 将来スキーマ・プロトコル・検出力シミュのみ(捏造なし)。</a:t>
            </a:r>
          </a:p>
          <a:p>
            <a:pPr>
              <a:spcBef>
                <a:spcPts val="1200"/>
              </a:spcBef>
            </a:pPr>
            <a:r>
              <a:rPr sz="1500" b="1">
                <a:solidFill>
                  <a:srgbClr val="1F375B"/>
                </a:solidFill>
              </a:rPr>
              <a:t>将来⑤ 機種非依存スクリーニング + version 局在</a:t>
            </a:r>
          </a:p>
          <a:p>
            <a:r>
              <a:rPr sz="1250" b="0"/>
              <a:t>•  背景/課題: 識別子を使わず振り分け、後段で原因をversionに局在させる二段構成。</a:t>
            </a:r>
          </a:p>
          <a:p>
            <a:r>
              <a:rPr sz="1250" b="0"/>
              <a:t>•  解決法: 分類は行動特徴のみ(機種名/ベンダー/FRUを学習に使わない)。versionは記述的層別としてのみ事後利用。</a:t>
            </a:r>
          </a:p>
          <a:p>
            <a:r>
              <a:rPr sz="1250" b="0"/>
              <a:t>•  状態: スクリーニングは実装済(MEDIUM)。version局在はBIOS/EC/FW列が NOT AVAILABLE → PROSPECTIVE。</a:t>
            </a:r>
          </a:p>
        </p:txBody>
      </p:sp>
      <p:sp>
        <p:nvSpPr>
          <p:cNvPr id="6" name="TextBox 5"/>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6A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特徴量エンジニアリング 一覧 — 各変数の作成方法（判断材料）</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付録</a:t>
            </a:r>
          </a:p>
        </p:txBody>
      </p:sp>
      <p:graphicFrame>
        <p:nvGraphicFramePr>
          <p:cNvPr id="5" name="Table 4"/>
          <p:cNvGraphicFramePr>
            <a:graphicFrameLocks noGrp="1"/>
          </p:cNvGraphicFramePr>
          <p:nvPr/>
        </p:nvGraphicFramePr>
        <p:xfrm>
          <a:off x="365760" y="932688"/>
          <a:ext cx="11704320" cy="4992624"/>
        </p:xfrm>
        <a:graphic>
          <a:graphicData uri="http://schemas.openxmlformats.org/drawingml/2006/table">
            <a:tbl>
              <a:tblPr firstRow="1" bandRow="1">
                <a:tableStyleId>{5C22544A-7EE6-4342-B048-85BDC9FD1C3A}</a:tableStyleId>
              </a:tblPr>
              <a:tblGrid>
                <a:gridCol w="3657600"/>
                <a:gridCol w="1097280"/>
                <a:gridCol w="6949440"/>
              </a:tblGrid>
              <a:tr h="384048">
                <a:tc>
                  <a:txBody>
                    <a:bodyPr/>
                    <a:lstStyle/>
                    <a:p>
                      <a:r>
                        <a:rPr sz="1100" b="1">
                          <a:solidFill>
                            <a:srgbClr val="FFFFFF"/>
                          </a:solidFill>
                        </a:rPr>
                        <a:t>変数</a:t>
                      </a:r>
                    </a:p>
                  </a:txBody>
                  <a:tcPr>
                    <a:solidFill>
                      <a:srgbClr val="1F375B"/>
                    </a:solidFill>
                  </a:tcPr>
                </a:tc>
                <a:tc>
                  <a:txBody>
                    <a:bodyPr/>
                    <a:lstStyle/>
                    <a:p>
                      <a:r>
                        <a:rPr sz="1100" b="1">
                          <a:solidFill>
                            <a:srgbClr val="FFFFFF"/>
                          </a:solidFill>
                        </a:rPr>
                        <a:t>種別</a:t>
                      </a:r>
                    </a:p>
                  </a:txBody>
                  <a:tcPr>
                    <a:solidFill>
                      <a:srgbClr val="1F375B"/>
                    </a:solidFill>
                  </a:tcPr>
                </a:tc>
                <a:tc>
                  <a:txBody>
                    <a:bodyPr/>
                    <a:lstStyle/>
                    <a:p>
                      <a:r>
                        <a:rPr sz="1100" b="1">
                          <a:solidFill>
                            <a:srgbClr val="FFFFFF"/>
                          </a:solidFill>
                        </a:rPr>
                        <a:t>作成方法 / 由来</a:t>
                      </a:r>
                    </a:p>
                  </a:txBody>
                  <a:tcPr>
                    <a:solidFill>
                      <a:srgbClr val="1F375B"/>
                    </a:solidFill>
                  </a:tcPr>
                </a:tc>
              </a:tr>
              <a:tr h="384048">
                <a:tc>
                  <a:txBody>
                    <a:bodyPr/>
                    <a:lstStyle/>
                    <a:p>
                      <a:r>
                        <a:rPr sz="1000"/>
                        <a:t>RSOC / FCC / cycleCount / DesignCapacity</a:t>
                      </a:r>
                    </a:p>
                  </a:txBody>
                  <a:tcPr>
                    <a:solidFill>
                      <a:srgbClr val="EEF2F7"/>
                    </a:solidFill>
                  </a:tcPr>
                </a:tc>
                <a:tc>
                  <a:txBody>
                    <a:bodyPr/>
                    <a:lstStyle/>
                    <a:p>
                      <a:r>
                        <a:rPr sz="1000" b="1">
                          <a:solidFill>
                            <a:srgbClr val="1F77B4"/>
                          </a:solidFill>
                        </a:rPr>
                        <a:t>raw</a:t>
                      </a:r>
                    </a:p>
                  </a:txBody>
                  <a:tcPr>
                    <a:solidFill>
                      <a:srgbClr val="EEF2F7"/>
                    </a:solidFill>
                  </a:tcPr>
                </a:tc>
                <a:tc>
                  <a:txBody>
                    <a:bodyPr/>
                    <a:lstStyle/>
                    <a:p>
                      <a:r>
                        <a:rPr sz="1000"/>
                        <a:t>テレメトリ生データ。SoH=FCC×100/DesignCapacity</a:t>
                      </a:r>
                    </a:p>
                  </a:txBody>
                  <a:tcPr>
                    <a:solidFill>
                      <a:srgbClr val="EEF2F7"/>
                    </a:solidFill>
                  </a:tcPr>
                </a:tc>
              </a:tr>
              <a:tr h="384048">
                <a:tc>
                  <a:txBody>
                    <a:bodyPr/>
                    <a:lstStyle/>
                    <a:p>
                      <a:r>
                        <a:rPr sz="1000"/>
                        <a:t>design_capacity(復元)</a:t>
                      </a:r>
                    </a:p>
                  </a:txBody>
                  <a:tcPr>
                    <a:solidFill>
                      <a:srgbClr val="FFFFFF"/>
                    </a:solidFill>
                  </a:tcPr>
                </a:tc>
                <a:tc>
                  <a:txBody>
                    <a:bodyPr/>
                    <a:lstStyle/>
                    <a:p>
                      <a:r>
                        <a:rPr sz="1000" b="1">
                          <a:solidFill>
                            <a:srgbClr val="555555"/>
                          </a:solidFill>
                        </a:rPr>
                        <a:t>派生</a:t>
                      </a:r>
                    </a:p>
                  </a:txBody>
                  <a:tcPr>
                    <a:solidFill>
                      <a:srgbClr val="FFFFFF"/>
                    </a:solidFill>
                  </a:tcPr>
                </a:tc>
                <a:tc>
                  <a:txBody>
                    <a:bodyPr/>
                    <a:lstStyle/>
                    <a:p>
                      <a:r>
                        <a:rPr sz="1000"/>
                        <a:t>median(FCC×100/soh_design_pct)(単位曖昧回避): recover_design_mwh</a:t>
                      </a:r>
                    </a:p>
                  </a:txBody>
                  <a:tcPr>
                    <a:solidFill>
                      <a:srgbClr val="FFFFFF"/>
                    </a:solidFill>
                  </a:tcPr>
                </a:tc>
              </a:tr>
              <a:tr h="384048">
                <a:tc>
                  <a:txBody>
                    <a:bodyPr/>
                    <a:lstStyle/>
                    <a:p>
                      <a:r>
                        <a:rPr sz="1000"/>
                        <a:t>FCCステップ/abs_step/is_effective</a:t>
                      </a:r>
                    </a:p>
                  </a:txBody>
                  <a:tcPr>
                    <a:solidFill>
                      <a:srgbClr val="EEF2F7"/>
                    </a:solidFill>
                  </a:tcPr>
                </a:tc>
                <a:tc>
                  <a:txBody>
                    <a:bodyPr/>
                    <a:lstStyle/>
                    <a:p>
                      <a:r>
                        <a:rPr sz="1000" b="1">
                          <a:solidFill>
                            <a:srgbClr val="555555"/>
                          </a:solidFill>
                        </a:rPr>
                        <a:t>派生</a:t>
                      </a:r>
                    </a:p>
                  </a:txBody>
                  <a:tcPr>
                    <a:solidFill>
                      <a:srgbClr val="EEF2F7"/>
                    </a:solidFill>
                  </a:tcPr>
                </a:tc>
                <a:tc>
                  <a:txBody>
                    <a:bodyPr/>
                    <a:lstStyle/>
                    <a:p>
                      <a:r>
                        <a:rPr sz="1000"/>
                        <a:t>時刻順FCC差分の非ゼロ値、|Δ|≥50mWhで有効: fcc_step_indicator</a:t>
                      </a:r>
                    </a:p>
                  </a:txBody>
                  <a:tcPr>
                    <a:solidFill>
                      <a:srgbClr val="EEF2F7"/>
                    </a:solidFill>
                  </a:tcPr>
                </a:tc>
              </a:tr>
              <a:tr h="384048">
                <a:tc>
                  <a:txBody>
                    <a:bodyPr/>
                    <a:lstStyle/>
                    <a:p>
                      <a:r>
                        <a:rPr sz="1000"/>
                        <a:t>量子化単位</a:t>
                      </a:r>
                    </a:p>
                  </a:txBody>
                  <a:tcPr>
                    <a:solidFill>
                      <a:srgbClr val="FFFFFF"/>
                    </a:solidFill>
                  </a:tcPr>
                </a:tc>
                <a:tc>
                  <a:txBody>
                    <a:bodyPr/>
                    <a:lstStyle/>
                    <a:p>
                      <a:r>
                        <a:rPr sz="1000" b="1">
                          <a:solidFill>
                            <a:srgbClr val="555555"/>
                          </a:solidFill>
                        </a:rPr>
                        <a:t>派生</a:t>
                      </a:r>
                    </a:p>
                  </a:txBody>
                  <a:tcPr>
                    <a:solidFill>
                      <a:srgbClr val="FFFFFF"/>
                    </a:solidFill>
                  </a:tcPr>
                </a:tc>
                <a:tc>
                  <a:txBody>
                    <a:bodyPr/>
                    <a:lstStyle/>
                    <a:p>
                      <a:r>
                        <a:rPr sz="1000"/>
                        <a:t>観測された最小の正の|step|(=10mWh)</a:t>
                      </a:r>
                    </a:p>
                  </a:txBody>
                  <a:tcPr>
                    <a:solidFill>
                      <a:srgbClr val="FFFFFF"/>
                    </a:solidFill>
                  </a:tcPr>
                </a:tc>
              </a:tr>
              <a:tr h="384048">
                <a:tc>
                  <a:txBody>
                    <a:bodyPr/>
                    <a:lstStyle/>
                    <a:p>
                      <a:r>
                        <a:rPr sz="1000"/>
                        <a:t>学習機会(start/low/end)/episode_id</a:t>
                      </a:r>
                    </a:p>
                  </a:txBody>
                  <a:tcPr>
                    <a:solidFill>
                      <a:srgbClr val="EEF2F7"/>
                    </a:solidFill>
                  </a:tcPr>
                </a:tc>
                <a:tc>
                  <a:txBody>
                    <a:bodyPr/>
                    <a:lstStyle/>
                    <a:p>
                      <a:r>
                        <a:rPr sz="1000" b="1">
                          <a:solidFill>
                            <a:srgbClr val="555555"/>
                          </a:solidFill>
                        </a:rPr>
                        <a:t>派生</a:t>
                      </a:r>
                    </a:p>
                  </a:txBody>
                  <a:tcPr>
                    <a:solidFill>
                      <a:srgbClr val="EEF2F7"/>
                    </a:solidFill>
                  </a:tcPr>
                </a:tc>
                <a:tc>
                  <a:txBody>
                    <a:bodyPr/>
                    <a:lstStyle/>
                    <a:p>
                      <a:r>
                        <a:rPr sz="1000"/>
                        <a:t>RSOC high→low→high 状態機械 / user|band|start|end</a:t>
                      </a:r>
                    </a:p>
                  </a:txBody>
                  <a:tcPr>
                    <a:solidFill>
                      <a:srgbClr val="EEF2F7"/>
                    </a:solidFill>
                  </a:tcPr>
                </a:tc>
              </a:tr>
              <a:tr h="384048">
                <a:tc>
                  <a:txBody>
                    <a:bodyPr/>
                    <a:lstStyle/>
                    <a:p>
                      <a:r>
                        <a:rPr sz="1000"/>
                        <a:t>max_gap / quality_tier / coverage</a:t>
                      </a:r>
                    </a:p>
                  </a:txBody>
                  <a:tcPr>
                    <a:solidFill>
                      <a:srgbClr val="FFFFFF"/>
                    </a:solidFill>
                  </a:tcPr>
                </a:tc>
                <a:tc>
                  <a:txBody>
                    <a:bodyPr/>
                    <a:lstStyle/>
                    <a:p>
                      <a:r>
                        <a:rPr sz="1000" b="1">
                          <a:solidFill>
                            <a:srgbClr val="555555"/>
                          </a:solidFill>
                        </a:rPr>
                        <a:t>派生</a:t>
                      </a:r>
                    </a:p>
                  </a:txBody>
                  <a:tcPr>
                    <a:solidFill>
                      <a:srgbClr val="FFFFFF"/>
                    </a:solidFill>
                  </a:tcPr>
                </a:tc>
                <a:tc>
                  <a:txBody>
                    <a:bodyPr/>
                    <a:lstStyle/>
                    <a:p>
                      <a:r>
                        <a:rPr sz="1000"/>
                        <a:t>エピソード内ギャップ→段階品質、観測カバレッジ率: online_gap_quality</a:t>
                      </a:r>
                    </a:p>
                  </a:txBody>
                  <a:tcPr>
                    <a:solidFill>
                      <a:srgbClr val="FFFFFF"/>
                    </a:solidFill>
                  </a:tcPr>
                </a:tc>
              </a:tr>
              <a:tr h="384048">
                <a:tc>
                  <a:txBody>
                    <a:bodyPr/>
                    <a:lstStyle/>
                    <a:p>
                      <a:r>
                        <a:rPr sz="1000"/>
                        <a:t>応答ステータス/応答遅延</a:t>
                      </a:r>
                    </a:p>
                  </a:txBody>
                  <a:tcPr>
                    <a:solidFill>
                      <a:srgbClr val="EEF2F7"/>
                    </a:solidFill>
                  </a:tcPr>
                </a:tc>
                <a:tc>
                  <a:txBody>
                    <a:bodyPr/>
                    <a:lstStyle/>
                    <a:p>
                      <a:r>
                        <a:rPr sz="1000" b="1">
                          <a:solidFill>
                            <a:srgbClr val="555555"/>
                          </a:solidFill>
                        </a:rPr>
                        <a:t>派生</a:t>
                      </a:r>
                    </a:p>
                  </a:txBody>
                  <a:tcPr>
                    <a:solidFill>
                      <a:srgbClr val="EEF2F7"/>
                    </a:solidFill>
                  </a:tcPr>
                </a:tc>
                <a:tc>
                  <a:txBody>
                    <a:bodyPr/>
                    <a:lstStyle/>
                    <a:p>
                      <a:r>
                        <a:rPr sz="1000"/>
                        <a:t>END起点窓の有効step有無+窓完全性 / end→初回有効stepの時間</a:t>
                      </a:r>
                    </a:p>
                  </a:txBody>
                  <a:tcPr>
                    <a:solidFill>
                      <a:srgbClr val="EEF2F7"/>
                    </a:solidFill>
                  </a:tcPr>
                </a:tc>
              </a:tr>
              <a:tr h="384048">
                <a:tc>
                  <a:txBody>
                    <a:bodyPr/>
                    <a:lstStyle/>
                    <a:p>
                      <a:r>
                        <a:rPr sz="1000"/>
                        <a:t>直近any/effective変化, pending, seen_ids, FSM</a:t>
                      </a:r>
                    </a:p>
                  </a:txBody>
                  <a:tcPr>
                    <a:solidFill>
                      <a:srgbClr val="FFFFFF"/>
                    </a:solidFill>
                  </a:tcPr>
                </a:tc>
                <a:tc>
                  <a:txBody>
                    <a:bodyPr/>
                    <a:lstStyle/>
                    <a:p>
                      <a:r>
                        <a:rPr sz="1000" b="1">
                          <a:solidFill>
                            <a:srgbClr val="555555"/>
                          </a:solidFill>
                        </a:rPr>
                        <a:t>派生</a:t>
                      </a:r>
                    </a:p>
                  </a:txBody>
                  <a:tcPr>
                    <a:solidFill>
                      <a:srgbClr val="FFFFFF"/>
                    </a:solidFill>
                  </a:tcPr>
                </a:tc>
                <a:tc>
                  <a:txBody>
                    <a:bodyPr/>
                    <a:lstStyle/>
                    <a:p>
                      <a:r>
                        <a:rPr sz="1000"/>
                        <a:t>因果リプレイの永続最小状態: online_step_state</a:t>
                      </a:r>
                    </a:p>
                  </a:txBody>
                  <a:tcPr>
                    <a:solidFill>
                      <a:srgbClr val="FFFFFF"/>
                    </a:solidFill>
                  </a:tcPr>
                </a:tc>
              </a:tr>
              <a:tr h="384048">
                <a:tc>
                  <a:txBody>
                    <a:bodyPr/>
                    <a:lstStyle/>
                    <a:p>
                      <a:r>
                        <a:rPr sz="1000"/>
                        <a:t>累積無応答/機会カウンタ</a:t>
                      </a:r>
                    </a:p>
                  </a:txBody>
                  <a:tcPr>
                    <a:solidFill>
                      <a:srgbClr val="EEF2F7"/>
                    </a:solidFill>
                  </a:tcPr>
                </a:tc>
                <a:tc>
                  <a:txBody>
                    <a:bodyPr/>
                    <a:lstStyle/>
                    <a:p>
                      <a:r>
                        <a:rPr sz="1000" b="1">
                          <a:solidFill>
                            <a:srgbClr val="555555"/>
                          </a:solidFill>
                        </a:rPr>
                        <a:t>派生</a:t>
                      </a:r>
                    </a:p>
                  </a:txBody>
                  <a:tcPr>
                    <a:solidFill>
                      <a:srgbClr val="EEF2F7"/>
                    </a:solidFill>
                  </a:tcPr>
                </a:tc>
                <a:tc>
                  <a:txBody>
                    <a:bodyPr/>
                    <a:lstStyle/>
                    <a:p>
                      <a:r>
                        <a:rPr sz="1000"/>
                        <a:t>帯別・品質別の累積(FW/ゲージ二分岐を駆動)</a:t>
                      </a:r>
                    </a:p>
                  </a:txBody>
                  <a:tcPr>
                    <a:solidFill>
                      <a:srgbClr val="EEF2F7"/>
                    </a:solidFill>
                  </a:tcPr>
                </a:tc>
              </a:tr>
              <a:tr h="384048">
                <a:tc>
                  <a:txBody>
                    <a:bodyPr/>
                    <a:lstStyle/>
                    <a:p>
                      <a:r>
                        <a:rPr sz="1000"/>
                        <a:t>適応閾値</a:t>
                      </a:r>
                    </a:p>
                  </a:txBody>
                  <a:tcPr>
                    <a:solidFill>
                      <a:srgbClr val="FFFFFF"/>
                    </a:solidFill>
                  </a:tcPr>
                </a:tc>
                <a:tc>
                  <a:txBody>
                    <a:bodyPr/>
                    <a:lstStyle/>
                    <a:p>
                      <a:r>
                        <a:rPr sz="1000" b="1">
                          <a:solidFill>
                            <a:srgbClr val="555555"/>
                          </a:solidFill>
                        </a:rPr>
                        <a:t>派生</a:t>
                      </a:r>
                    </a:p>
                  </a:txBody>
                  <a:tcPr>
                    <a:solidFill>
                      <a:srgbClr val="FFFFFF"/>
                    </a:solidFill>
                  </a:tcPr>
                </a:tc>
                <a:tc>
                  <a:txBody>
                    <a:bodyPr/>
                    <a:lstStyle/>
                    <a:p>
                      <a:r>
                        <a:rPr sz="1000"/>
                        <a:t>max(k·quantization, α·DesignCapacity, noise percentile): C3</a:t>
                      </a:r>
                    </a:p>
                  </a:txBody>
                  <a:tcPr>
                    <a:solidFill>
                      <a:srgbClr val="FFFFFF"/>
                    </a:solidFill>
                  </a:tcPr>
                </a:tc>
              </a:tr>
              <a:tr h="384048">
                <a:tc>
                  <a:txBody>
                    <a:bodyPr/>
                    <a:lstStyle/>
                    <a:p>
                      <a:r>
                        <a:rPr sz="1000"/>
                        <a:t>行動特徴(ac_time_ratio, cycles_per_year, min_rsoc ...)</a:t>
                      </a:r>
                    </a:p>
                  </a:txBody>
                  <a:tcPr>
                    <a:solidFill>
                      <a:srgbClr val="EEF2F7"/>
                    </a:solidFill>
                  </a:tcPr>
                </a:tc>
                <a:tc>
                  <a:txBody>
                    <a:bodyPr/>
                    <a:lstStyle/>
                    <a:p>
                      <a:r>
                        <a:rPr sz="1000" b="1">
                          <a:solidFill>
                            <a:srgbClr val="555555"/>
                          </a:solidFill>
                        </a:rPr>
                        <a:t>派生</a:t>
                      </a:r>
                    </a:p>
                  </a:txBody>
                  <a:tcPr>
                    <a:solidFill>
                      <a:srgbClr val="EEF2F7"/>
                    </a:solidFill>
                  </a:tcPr>
                </a:tc>
                <a:tc>
                  <a:txBody>
                    <a:bodyPr/>
                    <a:lstStyle/>
                    <a:p>
                      <a:r>
                        <a:rPr sz="1000"/>
                        <a:t>RSOC/使用挙動由来33特徴(機種非依存): build_rsoc_features</a:t>
                      </a:r>
                    </a:p>
                  </a:txBody>
                  <a:tcPr>
                    <a:solidFill>
                      <a:srgbClr val="EEF2F7"/>
                    </a:solidFill>
                  </a:tcPr>
                </a:tc>
              </a:tr>
              <a:tr h="384048">
                <a:tc>
                  <a:txBody>
                    <a:bodyPr/>
                    <a:lstStyle/>
                    <a:p>
                      <a:r>
                        <a:rPr sz="1000"/>
                        <a:t>BIOS/EC/FW version, 介入結果</a:t>
                      </a:r>
                    </a:p>
                  </a:txBody>
                  <a:tcPr>
                    <a:solidFill>
                      <a:srgbClr val="FFFFFF"/>
                    </a:solidFill>
                  </a:tcPr>
                </a:tc>
                <a:tc>
                  <a:txBody>
                    <a:bodyPr/>
                    <a:lstStyle/>
                    <a:p>
                      <a:r>
                        <a:rPr sz="1000" b="1">
                          <a:solidFill>
                            <a:srgbClr val="555555"/>
                          </a:solidFill>
                        </a:rPr>
                        <a:t>NOT AVAIL</a:t>
                      </a:r>
                    </a:p>
                  </a:txBody>
                  <a:tcPr>
                    <a:solidFill>
                      <a:srgbClr val="FFFFFF"/>
                    </a:solidFill>
                  </a:tcPr>
                </a:tc>
                <a:tc>
                  <a:txBody>
                    <a:bodyPr/>
                    <a:lstStyle/>
                    <a:p>
                      <a:r>
                        <a:rPr sz="1000"/>
                        <a:t>現データに存在しない。将来スキーマのみ(捏造なし)</a:t>
                      </a:r>
                    </a:p>
                  </a:txBody>
                  <a:tcPr>
                    <a:solidFill>
                      <a:srgbClr val="FFFFFF"/>
                    </a:solidFill>
                  </a:tcPr>
                </a:tc>
              </a:tr>
            </a:tbl>
          </a:graphicData>
        </a:graphic>
      </p:graphicFrame>
      <p:sp>
        <p:nvSpPr>
          <p:cNvPr id="6" name="TextBox 5"/>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9814255" cy="603504"/>
          </a:xfrm>
          <a:prstGeom prst="rect">
            <a:avLst/>
          </a:prstGeom>
          <a:noFill/>
        </p:spPr>
        <p:txBody>
          <a:bodyPr wrap="square">
            <a:spAutoFit/>
          </a:bodyPr>
          <a:lstStyle/>
          <a:p>
            <a:r>
              <a:rPr sz="2200" b="1">
                <a:solidFill>
                  <a:srgbClr val="FFFFFF"/>
                </a:solidFill>
              </a:rPr>
              <a:t>まとめ — 社内reviewer向け判断材料</a:t>
            </a:r>
          </a:p>
        </p:txBody>
      </p:sp>
      <p:sp>
        <p:nvSpPr>
          <p:cNvPr id="4" name="TextBox 3"/>
          <p:cNvSpPr txBox="1"/>
          <p:nvPr/>
        </p:nvSpPr>
        <p:spPr>
          <a:xfrm>
            <a:off x="9905695" y="182880"/>
            <a:ext cx="2011680" cy="457200"/>
          </a:xfrm>
          <a:prstGeom prst="rect">
            <a:avLst/>
          </a:prstGeom>
          <a:noFill/>
        </p:spPr>
        <p:txBody>
          <a:bodyPr wrap="square">
            <a:spAutoFit/>
          </a:bodyPr>
          <a:lstStyle/>
          <a:p>
            <a:pPr algn="ctr"/>
            <a:r>
              <a:rPr sz="1200" b="1">
                <a:solidFill>
                  <a:srgbClr val="DDE8F2"/>
                </a:solidFill>
              </a:rPr>
              <a:t>Conclusion</a:t>
            </a:r>
          </a:p>
        </p:txBody>
      </p:sp>
      <p:graphicFrame>
        <p:nvGraphicFramePr>
          <p:cNvPr id="5" name="Table 4"/>
          <p:cNvGraphicFramePr>
            <a:graphicFrameLocks noGrp="1"/>
          </p:cNvGraphicFramePr>
          <p:nvPr/>
        </p:nvGraphicFramePr>
        <p:xfrm>
          <a:off x="365760" y="932688"/>
          <a:ext cx="11704320" cy="2304288"/>
        </p:xfrm>
        <a:graphic>
          <a:graphicData uri="http://schemas.openxmlformats.org/drawingml/2006/table">
            <a:tbl>
              <a:tblPr firstRow="1" bandRow="1">
                <a:tableStyleId>{5C22544A-7EE6-4342-B048-85BDC9FD1C3A}</a:tableStyleId>
              </a:tblPr>
              <a:tblGrid>
                <a:gridCol w="4023360"/>
                <a:gridCol w="2194560"/>
                <a:gridCol w="2743200"/>
                <a:gridCol w="2743200"/>
              </a:tblGrid>
              <a:tr h="384048">
                <a:tc>
                  <a:txBody>
                    <a:bodyPr/>
                    <a:lstStyle/>
                    <a:p>
                      <a:r>
                        <a:rPr sz="1100" b="1">
                          <a:solidFill>
                            <a:srgbClr val="FFFFFF"/>
                          </a:solidFill>
                        </a:rPr>
                        <a:t>特許候補（集約後）</a:t>
                      </a:r>
                    </a:p>
                  </a:txBody>
                  <a:tcPr>
                    <a:solidFill>
                      <a:srgbClr val="1F375B"/>
                    </a:solidFill>
                  </a:tcPr>
                </a:tc>
                <a:tc>
                  <a:txBody>
                    <a:bodyPr/>
                    <a:lstStyle/>
                    <a:p>
                      <a:r>
                        <a:rPr sz="1100" b="1">
                          <a:solidFill>
                            <a:srgbClr val="FFFFFF"/>
                          </a:solidFill>
                        </a:rPr>
                        <a:t>技術エビデンス</a:t>
                      </a:r>
                    </a:p>
                  </a:txBody>
                  <a:tcPr>
                    <a:solidFill>
                      <a:srgbClr val="1F375B"/>
                    </a:solidFill>
                  </a:tcPr>
                </a:tc>
                <a:tc>
                  <a:txBody>
                    <a:bodyPr/>
                    <a:lstStyle/>
                    <a:p>
                      <a:r>
                        <a:rPr sz="1100" b="1">
                          <a:solidFill>
                            <a:srgbClr val="FFFFFF"/>
                          </a:solidFill>
                        </a:rPr>
                        <a:t>新規性リスク(UNVERIFIED)</a:t>
                      </a:r>
                    </a:p>
                  </a:txBody>
                  <a:tcPr>
                    <a:solidFill>
                      <a:srgbClr val="1F375B"/>
                    </a:solidFill>
                  </a:tcPr>
                </a:tc>
                <a:tc>
                  <a:txBody>
                    <a:bodyPr/>
                    <a:lstStyle/>
                    <a:p>
                      <a:r>
                        <a:rPr sz="1100" b="1">
                          <a:solidFill>
                            <a:srgbClr val="FFFFFF"/>
                          </a:solidFill>
                        </a:rPr>
                        <a:t>出願準備度の目安</a:t>
                      </a:r>
                    </a:p>
                  </a:txBody>
                  <a:tcPr>
                    <a:solidFill>
                      <a:srgbClr val="1F375B"/>
                    </a:solidFill>
                  </a:tcPr>
                </a:tc>
              </a:tr>
              <a:tr h="384048">
                <a:tc>
                  <a:txBody>
                    <a:bodyPr/>
                    <a:lstStyle/>
                    <a:p>
                      <a:r>
                        <a:rPr sz="1000"/>
                        <a:t>① 機会条件付き無応答監査(中核)</a:t>
                      </a:r>
                    </a:p>
                  </a:txBody>
                  <a:tcPr>
                    <a:solidFill>
                      <a:srgbClr val="EEF2F7"/>
                    </a:solidFill>
                  </a:tcPr>
                </a:tc>
                <a:tc>
                  <a:txBody>
                    <a:bodyPr/>
                    <a:lstStyle/>
                    <a:p>
                      <a:r>
                        <a:rPr sz="1000" b="1">
                          <a:solidFill>
                            <a:srgbClr val="2CA02C"/>
                          </a:solidFill>
                        </a:rPr>
                        <a:t>STRONG</a:t>
                      </a:r>
                    </a:p>
                  </a:txBody>
                  <a:tcPr>
                    <a:solidFill>
                      <a:srgbClr val="EEF2F7"/>
                    </a:solidFill>
                  </a:tcPr>
                </a:tc>
                <a:tc>
                  <a:txBody>
                    <a:bodyPr/>
                    <a:lstStyle/>
                    <a:p>
                      <a:r>
                        <a:rPr sz="1000"/>
                        <a:t>MEDIUM-HIGH</a:t>
                      </a:r>
                    </a:p>
                  </a:txBody>
                  <a:tcPr>
                    <a:solidFill>
                      <a:srgbClr val="EEF2F7"/>
                    </a:solidFill>
                  </a:tcPr>
                </a:tc>
                <a:tc>
                  <a:txBody>
                    <a:bodyPr/>
                    <a:lstStyle/>
                    <a:p>
                      <a:r>
                        <a:rPr sz="1000"/>
                        <a:t>出願候補(狭め/中位で)</a:t>
                      </a:r>
                    </a:p>
                  </a:txBody>
                  <a:tcPr>
                    <a:solidFill>
                      <a:srgbClr val="EEF2F7"/>
                    </a:solidFill>
                  </a:tcPr>
                </a:tc>
              </a:tr>
              <a:tr h="384048">
                <a:tc>
                  <a:txBody>
                    <a:bodyPr/>
                    <a:lstStyle/>
                    <a:p>
                      <a:r>
                        <a:rPr sz="1000"/>
                        <a:t>② 非対称リセット状態機械</a:t>
                      </a:r>
                    </a:p>
                  </a:txBody>
                  <a:tcPr>
                    <a:solidFill>
                      <a:srgbClr val="FFFFFF"/>
                    </a:solidFill>
                  </a:tcPr>
                </a:tc>
                <a:tc>
                  <a:txBody>
                    <a:bodyPr/>
                    <a:lstStyle/>
                    <a:p>
                      <a:r>
                        <a:rPr sz="1000" b="1">
                          <a:solidFill>
                            <a:srgbClr val="2CA02C"/>
                          </a:solidFill>
                        </a:rPr>
                        <a:t>STRONG</a:t>
                      </a:r>
                    </a:p>
                  </a:txBody>
                  <a:tcPr>
                    <a:solidFill>
                      <a:srgbClr val="FFFFFF"/>
                    </a:solidFill>
                  </a:tcPr>
                </a:tc>
                <a:tc>
                  <a:txBody>
                    <a:bodyPr/>
                    <a:lstStyle/>
                    <a:p>
                      <a:r>
                        <a:rPr sz="1000"/>
                        <a:t>HIGH</a:t>
                      </a:r>
                    </a:p>
                  </a:txBody>
                  <a:tcPr>
                    <a:solidFill>
                      <a:srgbClr val="FFFFFF"/>
                    </a:solidFill>
                  </a:tcPr>
                </a:tc>
                <a:tc>
                  <a:txBody>
                    <a:bodyPr/>
                    <a:lstStyle/>
                    <a:p>
                      <a:r>
                        <a:rPr sz="1000"/>
                        <a:t>出願候補(着想日要確認・規則明示)</a:t>
                      </a:r>
                    </a:p>
                  </a:txBody>
                  <a:tcPr>
                    <a:solidFill>
                      <a:srgbClr val="FFFFFF"/>
                    </a:solidFill>
                  </a:tcPr>
                </a:tc>
              </a:tr>
              <a:tr h="384048">
                <a:tc>
                  <a:txBody>
                    <a:bodyPr/>
                    <a:lstStyle/>
                    <a:p>
                      <a:r>
                        <a:rPr sz="1000"/>
                        <a:t>③ 有界保持の因果証拠台帳</a:t>
                      </a:r>
                    </a:p>
                  </a:txBody>
                  <a:tcPr>
                    <a:solidFill>
                      <a:srgbClr val="EEF2F7"/>
                    </a:solidFill>
                  </a:tcPr>
                </a:tc>
                <a:tc>
                  <a:txBody>
                    <a:bodyPr/>
                    <a:lstStyle/>
                    <a:p>
                      <a:r>
                        <a:rPr sz="1000" b="1">
                          <a:solidFill>
                            <a:srgbClr val="2CA02C"/>
                          </a:solidFill>
                        </a:rPr>
                        <a:t>STRONG</a:t>
                      </a:r>
                    </a:p>
                  </a:txBody>
                  <a:tcPr>
                    <a:solidFill>
                      <a:srgbClr val="EEF2F7"/>
                    </a:solidFill>
                  </a:tcPr>
                </a:tc>
                <a:tc>
                  <a:txBody>
                    <a:bodyPr/>
                    <a:lstStyle/>
                    <a:p>
                      <a:r>
                        <a:rPr sz="1000"/>
                        <a:t>MEDIUM-HIGH</a:t>
                      </a:r>
                    </a:p>
                  </a:txBody>
                  <a:tcPr>
                    <a:solidFill>
                      <a:srgbClr val="EEF2F7"/>
                    </a:solidFill>
                  </a:tcPr>
                </a:tc>
                <a:tc>
                  <a:txBody>
                    <a:bodyPr/>
                    <a:lstStyle/>
                    <a:p>
                      <a:r>
                        <a:rPr sz="1000"/>
                        <a:t>出願候補(最小状態を核に)</a:t>
                      </a:r>
                    </a:p>
                  </a:txBody>
                  <a:tcPr>
                    <a:solidFill>
                      <a:srgbClr val="EEF2F7"/>
                    </a:solidFill>
                  </a:tcPr>
                </a:tc>
              </a:tr>
              <a:tr h="384048">
                <a:tc>
                  <a:txBody>
                    <a:bodyPr/>
                    <a:lstStyle/>
                    <a:p>
                      <a:r>
                        <a:rPr sz="1000"/>
                        <a:t>(将来④) クローズドループ介入</a:t>
                      </a:r>
                    </a:p>
                  </a:txBody>
                  <a:tcPr>
                    <a:solidFill>
                      <a:srgbClr val="FFFFFF"/>
                    </a:solidFill>
                  </a:tcPr>
                </a:tc>
                <a:tc>
                  <a:txBody>
                    <a:bodyPr/>
                    <a:lstStyle/>
                    <a:p>
                      <a:r>
                        <a:rPr sz="1000" b="1">
                          <a:solidFill>
                            <a:srgbClr val="555555"/>
                          </a:solidFill>
                        </a:rPr>
                        <a:t>PROSPECTIVE</a:t>
                      </a:r>
                    </a:p>
                  </a:txBody>
                  <a:tcPr>
                    <a:solidFill>
                      <a:srgbClr val="FFFFFF"/>
                    </a:solidFill>
                  </a:tcPr>
                </a:tc>
                <a:tc>
                  <a:txBody>
                    <a:bodyPr/>
                    <a:lstStyle/>
                    <a:p>
                      <a:r>
                        <a:rPr sz="1000"/>
                        <a:t>—</a:t>
                      </a:r>
                    </a:p>
                  </a:txBody>
                  <a:tcPr>
                    <a:solidFill>
                      <a:srgbClr val="FFFFFF"/>
                    </a:solidFill>
                  </a:tcPr>
                </a:tc>
                <a:tc>
                  <a:txBody>
                    <a:bodyPr/>
                    <a:lstStyle/>
                    <a:p>
                      <a:r>
                        <a:rPr sz="1000"/>
                        <a:t>継続/将来開示</a:t>
                      </a:r>
                    </a:p>
                  </a:txBody>
                  <a:tcPr>
                    <a:solidFill>
                      <a:srgbClr val="FFFFFF"/>
                    </a:solidFill>
                  </a:tcPr>
                </a:tc>
              </a:tr>
              <a:tr h="384048">
                <a:tc>
                  <a:txBody>
                    <a:bodyPr/>
                    <a:lstStyle/>
                    <a:p>
                      <a:r>
                        <a:rPr sz="1000"/>
                        <a:t>(将来⑤) 機種非依存+version局在</a:t>
                      </a:r>
                    </a:p>
                  </a:txBody>
                  <a:tcPr>
                    <a:solidFill>
                      <a:srgbClr val="EEF2F7"/>
                    </a:solidFill>
                  </a:tcPr>
                </a:tc>
                <a:tc>
                  <a:txBody>
                    <a:bodyPr/>
                    <a:lstStyle/>
                    <a:p>
                      <a:r>
                        <a:rPr sz="1000" b="1">
                          <a:solidFill>
                            <a:srgbClr val="1F77B4"/>
                          </a:solidFill>
                        </a:rPr>
                        <a:t>MEDIUM</a:t>
                      </a:r>
                    </a:p>
                  </a:txBody>
                  <a:tcPr>
                    <a:solidFill>
                      <a:srgbClr val="EEF2F7"/>
                    </a:solidFill>
                  </a:tcPr>
                </a:tc>
                <a:tc>
                  <a:txBody>
                    <a:bodyPr/>
                    <a:lstStyle/>
                    <a:p>
                      <a:r>
                        <a:rPr sz="1000"/>
                        <a:t>MEDIUM</a:t>
                      </a:r>
                    </a:p>
                  </a:txBody>
                  <a:tcPr>
                    <a:solidFill>
                      <a:srgbClr val="EEF2F7"/>
                    </a:solidFill>
                  </a:tcPr>
                </a:tc>
                <a:tc>
                  <a:txBody>
                    <a:bodyPr/>
                    <a:lstStyle/>
                    <a:p>
                      <a:r>
                        <a:rPr sz="1000"/>
                        <a:t>スクリーニングは候補/局在は継続</a:t>
                      </a:r>
                    </a:p>
                  </a:txBody>
                  <a:tcPr>
                    <a:solidFill>
                      <a:srgbClr val="EEF2F7"/>
                    </a:solidFill>
                  </a:tcPr>
                </a:tc>
              </a:tr>
            </a:tbl>
          </a:graphicData>
        </a:graphic>
      </p:graphicFrame>
      <p:sp>
        <p:nvSpPr>
          <p:cNvPr id="6" name="TextBox 5"/>
          <p:cNvSpPr txBox="1"/>
          <p:nvPr/>
        </p:nvSpPr>
        <p:spPr>
          <a:xfrm>
            <a:off x="365760" y="3401568"/>
            <a:ext cx="11430000" cy="822960"/>
          </a:xfrm>
          <a:prstGeom prst="rect">
            <a:avLst/>
          </a:prstGeom>
          <a:noFill/>
        </p:spPr>
        <p:txBody>
          <a:bodyPr wrap="square">
            <a:spAutoFit/>
          </a:bodyPr>
          <a:lstStyle/>
          <a:p>
            <a:r>
              <a:rPr sz="1200" b="1">
                <a:solidFill>
                  <a:srgbClr val="C0392B"/>
                </a:solidFill>
              </a:rPr>
              <a:t>判定技術(本題)はテレメトリのみ・欠測/保持制約下でも誤判定を抑えて FCC更新停止者を判定できる。どこをどの粒度で特許化するかの最終判断は社内reviewerに委ねる。技術強度≠新規性、先行技術はUNVERIFIED。</a:t>
            </a:r>
          </a:p>
        </p:txBody>
      </p:sp>
      <p:sp>
        <p:nvSpPr>
          <p:cNvPr id="7" name="TextBox 6"/>
          <p:cNvSpPr txBox="1"/>
          <p:nvPr/>
        </p:nvSpPr>
        <p:spPr>
          <a:xfrm>
            <a:off x="274320" y="6492240"/>
            <a:ext cx="11643055" cy="301752"/>
          </a:xfrm>
          <a:prstGeom prst="rect">
            <a:avLst/>
          </a:prstGeom>
          <a:noFill/>
        </p:spPr>
        <p:txBody>
          <a:bodyPr wrap="square">
            <a:spAutoFit/>
          </a:bodyPr>
          <a:lstStyle/>
          <a:p>
            <a:r>
              <a:rPr sz="800" b="0">
                <a:solidFill>
                  <a:srgbClr val="555555"/>
                </a:solidFill>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