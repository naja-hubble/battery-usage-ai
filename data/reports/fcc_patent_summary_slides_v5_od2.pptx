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テレメトリからの FCC更新停止（ゲージ凍結）者の判定技術</a:t>
            </a:r>
          </a:p>
          <a:p>
            <a:r>
              <a:rPr sz="1800" b="0">
                <a:solidFill>
                  <a:srgbClr val="CFDDEE"/>
                </a:solidFill>
                <a:latin typeface="Meiryo UI"/>
                <a:ea typeface="Meiryo UI"/>
                <a:cs typeface="Meiryo UI"/>
              </a:rPr>
              <a:t>— 学習機会を実機の2機構で定義した、機会条件付き無応答監査 —（社内 patent review 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728655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本題: ノートPCバッテリのテレメトリ(RSOC/FCC/サイクル/充電状態/時刻)だけで『FCCを再学習しなくなった個体』を判定する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学習機会は実機の2機構で定義: Type A（満充電→RSOC≤6%→満充電, 深放電）/ Type B（充電中に60-80%通過→満充電, 充電側）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母集団: 実バッテリ履歴 752ユーザー / 3,130,394 サンプル / 満充電END起点の応答窓 168h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核心: 両機構とも敵対的な負の対照を独立にパス → 機会条件付き無応答監査は二機構で成立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•  技術効果は proxy ラベルに依存しない独立指標(5本柱 A2/A3/B/E/D)で検証。法的結論は主張しない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エグゼクティブサマリ — 1枚で全体像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■ 課題</a:t>
            </a:r>
          </a:p>
          <a:p>
            <a:r>
              <a:rPr sz="113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SoH健全性表示を駆動する満充電容量(FCC)が長期間更新されない『ゲージ凍結』は、静的検査では『浅い使い方で正常』『要再較正』『FW/HW起因』を判別できない。752台中114台が凍結、うち70台は使用で説明不能。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■ 学習機会の定義</a:t>
            </a:r>
          </a:p>
          <a:p>
            <a:r>
              <a:rPr sz="113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燃料計がFCCを再学習するのは実機の2機構: Type A=満充電→深放電(RSOC≤6%)→満充電、Type B=充電中にRSOC 60-80%帯を通過して満充電。両者とも END=満充電到達。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■ 手法</a:t>
            </a:r>
          </a:p>
          <a:p>
            <a:r>
              <a:rPr sz="113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『凍結を予測』は失敗(AUC≈0.54)。代わりに『再学習の機会に実際に応答したか』を満充電END起点168h窓で機械的に監査する。テレメトリのみ・機種非依存・欠測/打ち切りに頑健・30日保持でも全期間と等価。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■ 実績(実フリート752台)</a:t>
            </a:r>
          </a:p>
          <a:p>
            <a:r>
              <a:rPr sz="113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全履歴監査で FW確認候補35台 / ゲージ再較正候補10台に自動振り分け。30日オンライン運用版はFW_CORE 49台 / GAUGE_CORE 0台。5本柱の独立検証(A2/A3/B/E/D)で技術効果を実証。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■ 特許候補</a:t>
            </a:r>
          </a:p>
          <a:p>
            <a:r>
              <a:rPr sz="113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①機会条件付きEND起点168h無応答監査(中核) ②デュアルトラック非対称リセット ③有界保持の因果証拠台帳 ＋将来④⑤。新規性の核心は『深放電を伴わない充電側部分再学習の検出』と『2機構を満充電ENDで統合＋機構別k較正』。</a:t>
            </a:r>
          </a:p>
          <a:p>
            <a:pPr>
              <a:spcBef>
                <a:spcPts val="5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■ reviewerへの依頼</a:t>
            </a:r>
          </a:p>
          <a:p>
            <a:r>
              <a:rPr sz="113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(1)二機構クレームの粒度・範囲の判断 (2)充電側部分再学習検出の新規性/先行技術調査の発注 (3)候補②の着想日・公開有無の確認 (4)正式なFTO/特許性調査(弁理士)の発注判断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『動くべき機会に動かなかった』事実だけを、欠測に騙されず数える監査。深放電と充電側の両機構でエビデンスは強い。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本資料の構成と読み方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Guide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51560"/>
            <a:ext cx="2468880" cy="548640"/>
          </a:xfrm>
          <a:prstGeom prst="roundRect">
            <a:avLst/>
          </a:prstGeom>
          <a:solidFill>
            <a:srgbClr val="336699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§1 基礎知識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07899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燃料計/FCC・RSOC・SoH / FCC再学習の2機構 / なぜ問題か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0" y="107899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非エンジニアはここから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09928"/>
            <a:ext cx="2468880" cy="548640"/>
          </a:xfrm>
          <a:prstGeom prst="roundRect">
            <a:avLst/>
          </a:prstGeom>
          <a:solidFill>
            <a:srgbClr val="336699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§2 用語定義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73736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バッテリ・学習機会(2機構) / 検証手法・統計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73736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つまずいたら戻る辞書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68296"/>
            <a:ext cx="2468880" cy="548640"/>
          </a:xfrm>
          <a:prstGeom prst="roundRect">
            <a:avLst/>
          </a:prstGeom>
          <a:solidFill>
            <a:srgbClr val="1F375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§3 本題(Part1)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2395728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目的 → 失敗と発想転換 → 学習機会の定義 → 手法 → 実フリート結果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3957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判定技術そのもの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26664"/>
            <a:ext cx="2468880" cy="548640"/>
          </a:xfrm>
          <a:prstGeom prst="roundRect">
            <a:avLst/>
          </a:prstGeom>
          <a:solidFill>
            <a:srgbClr val="376B3A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§4 根拠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054096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5本柱 A2/A3/B/E/D（図解説つき）+ 技術効果まとめ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054096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なぜ信じてよいか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685032"/>
            <a:ext cx="2468880" cy="548640"/>
          </a:xfrm>
          <a:prstGeom prst="roundRect">
            <a:avLst/>
          </a:prstGeom>
          <a:solidFill>
            <a:srgbClr val="6A3D8A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§5 特許候補(Part2)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12464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候補①〜③ + 新規性の核心 + 将来④⑤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712464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reviewer判断の対象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343400"/>
            <a:ext cx="2468880" cy="548640"/>
          </a:xfrm>
          <a:prstGeom prst="roundRect">
            <a:avLst/>
          </a:prstGeom>
          <a:solidFill>
            <a:srgbClr val="C0392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§6 開示とまとめ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370832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正直な開示 / 知財戦略 / 依頼事項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370832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リスクと残課題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01768"/>
            <a:ext cx="2468880" cy="548640"/>
          </a:xfrm>
          <a:prstGeom prst="roundRect">
            <a:avLst/>
          </a:prstGeom>
          <a:solidFill>
            <a:srgbClr val="555555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§7 付録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029200"/>
            <a:ext cx="5577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特徴量 / データと再現性 / 代替実施形態 / 先行技術差別化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029200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深掘り用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05856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図スライドは4ブロック（何のグラフ/軸/主張/読み方）構成。各スライド下部の黄色帯（💡）は非エンジニア向けの一言要約。</a:t>
            </a:r>
          </a:p>
          <a:p>
            <a:r>
              <a:rPr sz="1150" b="1">
                <a:solidFill>
                  <a:srgbClr val="C0392B"/>
                </a:solidFill>
                <a:latin typeface="Meiryo UI"/>
                <a:ea typeface="Meiryo UI"/>
                <a:cs typeface="Meiryo UI"/>
              </a:rPr>
              <a:t>正直さの記号 — UNVERIFIED: 先行技術は未検証 / NOT AVAILABLE: そのデータは存在しない(捏造しない) / proxy: 正解ラベルは本番システムの推定値。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基礎① 燃料計・FCC・RSOC・SoH とは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§1 基礎知識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960120"/>
          <a:ext cx="113385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5760720"/>
                <a:gridCol w="31089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意味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身近なたとえ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FCC（満充電容量）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『いま満タンでどれだけ入るか』の学習値(mWh)。劣化で減る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計り直して覚える『いまの満タン量』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RSOC（相対残量）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いまの残量% = 残容量 ÷ FCC ×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ガソリンメーターの針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SoH（健全性）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健康度% = FCC × 100 ÷ 設計容量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新品比の容量%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FCC再学習(再較正)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特定の充放電パターンのときだけ、ゲージICがFCCを計り直す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体重計のゼロ点合わせ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ゲージ凍結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FCCが長期間更新されない。SoH表示も止まる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校正が止まり表示が古いまま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2628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実容量は直接測れない。ゲージIC(燃料計チップ)が充放電から『推定』する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FCCは整数mWh量子化(最小10mWh)で階段状にしか動かない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SoH表示・残り時間・保証/リース判断はすべてこのFCC学習値に依存する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PCの電池残量・健康度は『実測』ではなく『燃料計チップの学習値』。学習が止まると表示だけが古いまま残る。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基礎② FCC再学習の『2つの機構』 — 本技術の学習機会の定義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§1 基礎知識</a:t>
            </a:r>
          </a:p>
        </p:txBody>
      </p:sp>
      <p:pic>
        <p:nvPicPr>
          <p:cNvPr id="5" name="Picture 4" descr="od2_mechanis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236460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370441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od2_mechanism_diagram.png（dpi=300・匿名化済み）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実機のFCCが再学習される2つの充放電パターンをRSOC波形で示す模式図（左=Type A / 右=Type B）。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縦=RSOC(%)、横=時間。緑破線=満充電(≥99%)、赤帯=深放電(≤6%)、橙帯=充電側の60-80%通過帯。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実機のFCC再学習は2経路: Type A（満充電→RSOC≤6%→満充電）と Type B（充電中に60-80%を通過→満充電）。この2つを『学習機会』と定義する。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どちらも END=満充電到達で完了 → END起点で応答を監査すれば一つの枠組みで両機構を扱える。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燃料計がFCCを計り直す“チャンス”は、深放電フルサイクルと、充電側の部分再学習、の2種類。これを機会と定義する。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基礎③ ゲージ凍結はなぜ問題か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§1 基礎知識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585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SoH表示が古いままだと: 劣化見逃し→突然のシャットダウン / 健全電池の誤交換→無駄コスト / 保証・リース判断の歪み（定性・金額効果は未算定）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実フリート752台: 凍結114台(15.2%) = stale 59 + very_stale 55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うち使用で説明可 44台（常時AC 22 / 低サイクル 16 / 浅放電 6）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説明不能（HW/FW疑い）70台: activeより多くサイクル(96.9 vs 65.7 cyc/yr)・深く放電するのに凍結（『疑い』であり確定診断ではない）</a:t>
            </a:r>
          </a:p>
          <a:p>
            <a:pPr>
              <a:spcAft>
                <a:spcPts val="400"/>
              </a:spcAft>
            </a:pPr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対処は原因ごとに異なる（較正で直る/FW確認が要る）。見分ける仕組みが無いと保守が空回りする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原因はユーザー起因〜FW疑いまで様々で対処も違う。凍結を見分ける仕組みが要る。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用語定義 (1/2) — バッテリと学習機会（2機構）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§2 用語定義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858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FCC / RSOC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燃料計が学習する満充電容量(mWh) / 相対残量% = 残容量÷FCC×100。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満充電(END)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RSOC ≥ 99%。両機構の学習機会の完了点＝応答監査の起点。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Type A（深放電再学習）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満充電 → RSOC ≤ 6% → 再び満充電。深いフル放電サイクル。健全機の168h応答率 0.74(強い刺激)。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Type B（充電側再学習）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充電中(chargeStatus=1)にRSOCが60-80%帯を通過して満充電へ。深放電不要。健全機の応答率 0.45(高頻度・弱い刺激)。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有効ステップ / micro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|ΔFCC| ≥ 50mWh を学習応答とみなす / &lt;50mWhの微小変化。量子化最小は10mWh。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応答ステータス(END後168h窓)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responded / no_response(窓を全観測して無し) / censored(観測が途中終了→保留、無応答に数えない)。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品質ティア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HIGH_OK / MEDIUM_GAP / LOW_LARGE_GAP（エピソード内サンプル間隔で判定）。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用語定義 (2/2) — 検証手法と統計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§2 用語定義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14400"/>
            <a:ext cx="11185855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負の対照 / ヌル分布(A2)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ニセ機会で効果が無い場合の期待分布。真の値が95%区間の外なら『偶然では説明できない』。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アンカー比較(A3)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起点をSTART/LOW/ENDに変えたときの因果汚染（END前のステップ混入率）を定量化。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応答ハザード(B)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END後経過時間に対する累積応答率(CIF)。真の機会 vs matched-pseudo。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欠測ストレス(E)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データ欠落/打ち切りを注入し、誤って『無応答』と確定する件数を検出器間で比較。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保持不変性(D)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生データ保持を短くしても永続state(台帳)で全期間と同じ結論が出るか。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k(FW閾値)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FW確認へ回す無応答回数の下限。機構別に較正: Type A=3 / Type B=5（healthy応答率 0.74/0.45 と (1-p)^k≤0.05 から）。</a:t>
            </a:r>
          </a:p>
          <a:p>
            <a:pPr>
              <a:spcAft>
                <a:spcPts val="400"/>
              </a:spcAft>
            </a:pPr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proxyラベル　</a:t>
            </a: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本番システムの出力を仮の正解としたもの（地上真実ではない）。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本来の目的と、なぜ難しいか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目的: テレメトリだけからゲージ凍結個体をフリート規模で正しく判定する。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691640"/>
            <a:ext cx="11185855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静的検査では『浅充放電で正常』『要再較正』『FW/HW起因』を区別できない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欠測・睡眠ギャップ・打ち切り: データの穴を『無応答』と誤判定しやすい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生データ保持が有界（直近30日等）で過去の証拠が失われる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機種非依存が必須（機種名ハードコードは過学習）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そもそも『どういう時に再学習するか』を実機どおり(2機構)定義しなければ監査が的外れになる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『FCCが動かない』結果は同じでも原因は複数。まず実機どおり(2機構)に学習機会を定義するのが出発点。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失敗した素朴アプローチ → 発想の転換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教師あり予測(33特徴量, 公平比較領域 obs≥180d): AUC 0.535/0.540 — ほぼコイン投げ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FCC履歴を除いた規範ML: AUC 0.5584 — near-random。最重要特徴 min_rsoc は『深放電ほど凍結』の反usage交絡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→ 発想転換: 『凍結を当てる』のではなく『再学習“機会”に対して実際に応答したかを機械的に監査する』(決定論カウンタ)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機会の定義が正しければ、この監査は機種非依存・欠測頑健・有界保持で全期間等価に作れる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壊れそうかをAIに予言させるのは失敗(コイン投げ並み)。『チャンスに応えたか』を出席簿のように数える方式に切替えたら解ける。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提案手法の全体像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58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入力: RSOC / FCC / cycleCount / chargeStatus / timestamp のみ（HW識別子は不使用）。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17320"/>
            <a:ext cx="1118585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1. 学習機会の抽出（Type A: 満充電→≤6%→満充電 / Type B: 充電中に60-80%通過→満充電）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2. END起点で応答監査（END後168h窓の有効ステップ≥50mWh）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3. 欠測/打ち切り耐性（段階品質ティア＋censored除外）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4. 二分岐トリアージ（機会反復×無応答→FW / 機会皆無→ゲージ再較正）＋機構別k較正(A=3/B=5)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5. 有界保持で証拠保全（最小状態の因果台帳、30日保持で全期間等価）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5440680"/>
            <a:ext cx="11185855" cy="384048"/>
          </a:xfrm>
          <a:prstGeom prst="roundRect">
            <a:avLst/>
          </a:prstGeom>
          <a:solidFill>
            <a:srgbClr val="EEF2F7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対応: ①(手順1+2+3+4) / ②(dual-track) / ③(手順5)。新規性の核心は『2機構＋満充電END統合＋機構別k・168h窓』。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処理フロー — データ取得から判定まで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2148840" cy="841248"/>
          </a:xfrm>
          <a:prstGeom prst="roundRect">
            <a:avLst/>
          </a:prstGeom>
          <a:solidFill>
            <a:srgbClr val="336699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① データ取得</a:t>
            </a:r>
          </a:p>
          <a:p>
            <a:pPr algn="ctr"/>
            <a:r>
              <a:rPr sz="81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S3テレメトリ: RSOC/FCC/サイクル/chargeStatus/時刻（HW識別子不使用）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468880" y="1380744"/>
            <a:ext cx="1371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606040" y="960120"/>
            <a:ext cx="2148840" cy="841248"/>
          </a:xfrm>
          <a:prstGeom prst="roundRect">
            <a:avLst/>
          </a:prstGeom>
          <a:solidFill>
            <a:srgbClr val="336699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② 前処理・品質ゲート</a:t>
            </a:r>
          </a:p>
          <a:p>
            <a:pPr algn="ctr"/>
            <a:r>
              <a:rPr sz="81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時刻整列・重複除去・OK/SPARSE/COUNTER_RESET判定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754880" y="1380744"/>
            <a:ext cx="1371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892040" y="960120"/>
            <a:ext cx="2148840" cy="841248"/>
          </a:xfrm>
          <a:prstGeom prst="roundRect">
            <a:avLst/>
          </a:prstGeom>
          <a:solidFill>
            <a:srgbClr val="1F77B4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③ 学習機会の抽出（2機構）</a:t>
            </a:r>
          </a:p>
          <a:p>
            <a:pPr algn="ctr"/>
            <a:r>
              <a:rPr sz="81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Type A 満充電→≤6%→満充電 / Type B 充電中60-80%通過→満充電（END=満充電）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40879" y="1380744"/>
            <a:ext cx="137161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178040" y="960120"/>
            <a:ext cx="2148840" cy="841248"/>
          </a:xfrm>
          <a:prstGeom prst="roundRect">
            <a:avLst/>
          </a:prstGeom>
          <a:solidFill>
            <a:srgbClr val="2E6E6A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④ END起点168h 応答監査</a:t>
            </a:r>
          </a:p>
          <a:p>
            <a:pPr algn="ctr"/>
            <a:r>
              <a:rPr sz="81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有効ステップ≥50mWh → responded / no_response / censored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9326880" y="1380744"/>
            <a:ext cx="137160" cy="0"/>
          </a:xfrm>
          <a:prstGeom prst="line">
            <a:avLst/>
          </a:prstGeom>
          <a:ln w="2540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960120"/>
            <a:ext cx="2148840" cy="841248"/>
          </a:xfrm>
          <a:prstGeom prst="roundRect">
            <a:avLst/>
          </a:prstGeom>
          <a:solidFill>
            <a:srgbClr val="376B3A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⑤ 品質ティア＋censored除外</a:t>
            </a:r>
          </a:p>
          <a:p>
            <a:pPr algn="ctr"/>
            <a:r>
              <a:rPr sz="81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HIGH_OK/MEDIUM_GAP/LOW_LARGE_GAP・打切りは無応答に数えない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1901952"/>
            <a:ext cx="2926080" cy="1024128"/>
          </a:xfrm>
          <a:prstGeom prst="roundRect">
            <a:avLst/>
          </a:prstGeom>
          <a:solidFill>
            <a:srgbClr val="EEF2F7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1947672"/>
            <a:ext cx="269748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8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④ 応答判定 → カウンタ操作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C0392B"/>
                </a:solidFill>
                <a:latin typeface="Meiryo UI"/>
                <a:ea typeface="Meiryo UI"/>
                <a:cs typeface="Meiryo UI"/>
              </a:rPr>
              <a:t>no_response → カウンタ +1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responded(≥50mWh) → 0 にリセット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censored → pending（保留・数えない）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538460" y="1801368"/>
            <a:ext cx="0" cy="137160"/>
          </a:xfrm>
          <a:prstGeom prst="line">
            <a:avLst/>
          </a:prstGeom>
          <a:ln w="25400">
            <a:solidFill>
              <a:srgbClr val="1F3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6080760" y="1938528"/>
            <a:ext cx="4457700" cy="0"/>
          </a:xfrm>
          <a:prstGeom prst="line">
            <a:avLst/>
          </a:prstGeom>
          <a:ln w="25400">
            <a:solidFill>
              <a:srgbClr val="1F37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080760" y="1938528"/>
            <a:ext cx="0" cy="182880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383280" y="2121408"/>
            <a:ext cx="5394960" cy="548640"/>
          </a:xfrm>
          <a:prstGeom prst="roundRect">
            <a:avLst/>
          </a:prstGeom>
          <a:solidFill>
            <a:srgbClr val="336699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前段ゲート：データ十分か / FCC更新継続(候補外)か / 境界か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2311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→ 非アクション/保留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778240" y="2395728"/>
            <a:ext cx="685800" cy="393192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64040" y="2788920"/>
            <a:ext cx="2286000" cy="530352"/>
          </a:xfrm>
          <a:prstGeom prst="roundRect">
            <a:avLst/>
          </a:prstGeom>
          <a:solidFill>
            <a:srgbClr val="336699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NORMAL</a:t>
            </a:r>
          </a:p>
          <a:p>
            <a:pPr algn="ctr"/>
            <a:r>
              <a:rPr sz="78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候補外＝FCC健全群並みに更新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464040" y="3392424"/>
            <a:ext cx="2286000" cy="530352"/>
          </a:xfrm>
          <a:prstGeom prst="roundRect">
            <a:avLst/>
          </a:prstGeom>
          <a:solidFill>
            <a:srgbClr val="555555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REVIEW</a:t>
            </a:r>
          </a:p>
          <a:p>
            <a:pPr algn="ctr"/>
            <a:r>
              <a:rPr sz="78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obs&lt;120d / n&lt;200 / カウンタ・パック異常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761488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 b="0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no/low-change候補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3337560" y="2670048"/>
            <a:ext cx="1600200" cy="530352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1280160" y="3200400"/>
            <a:ext cx="4114800" cy="566928"/>
          </a:xfrm>
          <a:prstGeom prst="roundRect">
            <a:avLst/>
          </a:prstGeom>
          <a:solidFill>
            <a:srgbClr val="1F375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⑥ 二分岐トリアージ（機構別k: A≥3 / B≥5）</a:t>
            </a:r>
          </a:p>
        </p:txBody>
      </p:sp>
      <p:cxnSp>
        <p:nvCxnSpPr>
          <p:cNvPr id="27" name="Connector 26"/>
          <p:cNvCxnSpPr/>
          <p:nvPr/>
        </p:nvCxnSpPr>
        <p:spPr>
          <a:xfrm flipH="1">
            <a:off x="1920240" y="3767328"/>
            <a:ext cx="1417320" cy="393192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337560" y="3767328"/>
            <a:ext cx="960120" cy="393192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822960" y="4160520"/>
            <a:ext cx="2194560" cy="868680"/>
          </a:xfrm>
          <a:prstGeom prst="roundRect">
            <a:avLst/>
          </a:prstGeom>
          <a:solidFill>
            <a:srgbClr val="C0392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FW確認候補</a:t>
            </a:r>
          </a:p>
          <a:p>
            <a:pPr algn="ctr"/>
            <a:r>
              <a:rPr sz="86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機会あり×無応答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200400" y="4160520"/>
            <a:ext cx="2194560" cy="868680"/>
          </a:xfrm>
          <a:prstGeom prst="roundRect">
            <a:avLst/>
          </a:prstGeom>
          <a:solidFill>
            <a:srgbClr val="B05A00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ゲージ再較正候補</a:t>
            </a:r>
          </a:p>
          <a:p>
            <a:pPr algn="ctr"/>
            <a:r>
              <a:rPr sz="860" b="0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学習機会が皆無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3675887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どちらも確信できず→保留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394960" y="3566160"/>
            <a:ext cx="1737360" cy="594360"/>
          </a:xfrm>
          <a:prstGeom prst="line">
            <a:avLst/>
          </a:prstGeom>
          <a:ln w="2032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035040" y="4160520"/>
            <a:ext cx="2194560" cy="868680"/>
          </a:xfrm>
          <a:prstGeom prst="roundRect">
            <a:avLst/>
          </a:prstGeom>
          <a:solidFill>
            <a:srgbClr val="C89B2A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50" b="1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WATCH</a:t>
            </a:r>
          </a:p>
          <a:p>
            <a:pPr algn="ctr"/>
            <a:r>
              <a:rPr sz="84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境界/large-gap/完全窓不足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0040" y="5230368"/>
            <a:ext cx="11292840" cy="548640"/>
          </a:xfrm>
          <a:prstGeom prst="roundRect">
            <a:avLst/>
          </a:prstGeom>
          <a:solidFill>
            <a:srgbClr val="EEF2F7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3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⑦ 有界保持の因果証拠台帳（最小状態: FSM/pending期限/seen_ids/直近有効変化/gap-censor/順序）→ 直近30日の生データだけで全期間と等価な判定（30日オンライン運用版 = 9段ラベル）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前段ゲートで REVIEW(データ不足)/NORMAL(候補外) を除外 → 候補は⑥で『FW確認 ⇄ ゲージ再較正』に二分岐。どちらも確信できない残差は WATCH で保留。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詳細フロー① ④⑤ — 機会ごとの判定と『Type A / Type B 別カウント』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987552"/>
            <a:ext cx="11247120" cy="530352"/>
          </a:xfrm>
          <a:prstGeom prst="roundRect">
            <a:avLst/>
          </a:prstGeom>
          <a:solidFill>
            <a:srgbClr val="336699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学習機会の END（満充電到達）— この機会は Type A（深放電サイクル）か Type B（充電側部分再学習）のどちらか（③で確定済み）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0" y="1517904"/>
            <a:ext cx="0" cy="237744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57200" y="1755648"/>
            <a:ext cx="8229600" cy="841248"/>
          </a:xfrm>
          <a:prstGeom prst="roundRect">
            <a:avLst/>
          </a:prstGeom>
          <a:solidFill>
            <a:srgbClr val="376B3A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6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共通判定（A・B 同じロジック）  ⑤品質ティア(HIGH_OK / MEDIUM_GAP のみ有効) → ⑤完全観測(END+168h ≤ 最終観測サンプル = 非censored) → ④ 窓[END, END+168h] に 有効ステップ |ΔFCC|≥50mWh か？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810512"/>
            <a:ext cx="2880360" cy="731520"/>
          </a:xfrm>
          <a:prstGeom prst="roundRect">
            <a:avLst/>
          </a:prstGeom>
          <a:solidFill>
            <a:srgbClr val="C89B2A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LOW_LARGE_GAP / INVALID / censored → 保留（どちらのカウンタにも数えない）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487168" y="2596896"/>
            <a:ext cx="0" cy="438912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693408" y="2596896"/>
            <a:ext cx="0" cy="438912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02920" y="3035808"/>
            <a:ext cx="3977639" cy="457200"/>
          </a:xfrm>
          <a:prstGeom prst="roundRect">
            <a:avLst/>
          </a:prstGeom>
          <a:solidFill>
            <a:srgbClr val="1F77B4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Type A（深放電サイクル）の機会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3977639" cy="512064"/>
          </a:xfrm>
          <a:prstGeom prst="roundRect">
            <a:avLst/>
          </a:prstGeom>
          <a:solidFill>
            <a:srgbClr val="C0392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④ no_response → Type A 無応答カウンタ +1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233672"/>
            <a:ext cx="3977639" cy="512064"/>
          </a:xfrm>
          <a:prstGeom prst="roundRect">
            <a:avLst/>
          </a:prstGeom>
          <a:solidFill>
            <a:srgbClr val="2CA02C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8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④ responded (≥50mWh) → 同カウンタ 0 にリセット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855464"/>
            <a:ext cx="3977639" cy="457200"/>
          </a:xfrm>
          <a:prstGeom prst="roundRect">
            <a:avLst/>
          </a:prstGeom>
          <a:solidFill>
            <a:srgbClr val="E2ECF7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8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→ FW判定に寄与: Type A 無応答 ≥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09160" y="3035808"/>
            <a:ext cx="3977639" cy="457200"/>
          </a:xfrm>
          <a:prstGeom prst="roundRect">
            <a:avLst/>
          </a:prstGeom>
          <a:solidFill>
            <a:srgbClr val="2E6E6A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Type B（充電側部分再学習）の機会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09160" y="3611880"/>
            <a:ext cx="3977639" cy="512064"/>
          </a:xfrm>
          <a:prstGeom prst="roundRect">
            <a:avLst/>
          </a:prstGeom>
          <a:solidFill>
            <a:srgbClr val="C0392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④ no_response → Type B 無応答カウンタ +1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09160" y="4233672"/>
            <a:ext cx="3977639" cy="512064"/>
          </a:xfrm>
          <a:prstGeom prst="roundRect">
            <a:avLst/>
          </a:prstGeom>
          <a:solidFill>
            <a:srgbClr val="2CA02C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8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④ responded (≥50mWh) → 同カウンタ 0 にリセット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09160" y="4855464"/>
            <a:ext cx="3977639" cy="457200"/>
          </a:xfrm>
          <a:prstGeom prst="roundRect">
            <a:avLst/>
          </a:prstGeom>
          <a:solidFill>
            <a:srgbClr val="E2ECF7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8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→ FW判定に寄与: Type B 無応答 ≥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★各機会は Type A / Type B のどちらか。共通の判定(⑤④)を通し、無応答なら『その機構』のカウンタに +1・応答なら 0 リセット。A と B は別カウンタ・別閾値（FW: A≥3 / B≥5）で数える。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1F37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詳細フロー② ⑥ — ユーザーごとの二分岐トリアージ（候補のみ）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005840"/>
            <a:ext cx="6400800" cy="475488"/>
          </a:xfrm>
          <a:prstGeom prst="roundRect">
            <a:avLst/>
          </a:prstGeom>
          <a:solidFill>
            <a:srgbClr val="336699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候補（前段ゲートで REVIEW/NORMAL は除外済）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023360" y="1481328"/>
            <a:ext cx="0" cy="210312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22960" y="1691640"/>
            <a:ext cx="6400800" cy="658368"/>
          </a:xfrm>
          <a:prstGeom prst="roundRect">
            <a:avLst/>
          </a:prstGeom>
          <a:solidFill>
            <a:srgbClr val="1F375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① FW確認(high): flat_tail≥180日 &amp; tail_cyc≥30 &amp; 品質OK &amp; (Type B無応答≥5 or Type A無応答≥3)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7223760" y="2020824"/>
            <a:ext cx="365760" cy="18288"/>
          </a:xfrm>
          <a:prstGeom prst="line">
            <a:avLst/>
          </a:prstGeom>
          <a:ln w="20320">
            <a:solidFill>
              <a:srgbClr val="2CA0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589520" y="1764792"/>
            <a:ext cx="4206240" cy="512064"/>
          </a:xfrm>
          <a:prstGeom prst="roundRect">
            <a:avLst/>
          </a:prstGeom>
          <a:solidFill>
            <a:srgbClr val="C0392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FW確認候補（high）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23360" y="2350008"/>
            <a:ext cx="0" cy="100584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71800" y="227228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No 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450592"/>
            <a:ext cx="6400800" cy="658368"/>
          </a:xfrm>
          <a:prstGeom prst="roundRect">
            <a:avLst/>
          </a:prstGeom>
          <a:solidFill>
            <a:srgbClr val="1F375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② ゲージ(high): flat_tail≥120日 &amp; 学習機会ゼロ(A・Bとも) &amp; 使用ゲート &amp; 品質OK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223760" y="2779776"/>
            <a:ext cx="365760" cy="18288"/>
          </a:xfrm>
          <a:prstGeom prst="line">
            <a:avLst/>
          </a:prstGeom>
          <a:ln w="20320">
            <a:solidFill>
              <a:srgbClr val="2CA0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589520" y="2523744"/>
            <a:ext cx="4206240" cy="512064"/>
          </a:xfrm>
          <a:prstGeom prst="roundRect">
            <a:avLst/>
          </a:prstGeom>
          <a:solidFill>
            <a:srgbClr val="B05A00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ゲージ再較正候補（high）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23360" y="3108960"/>
            <a:ext cx="0" cy="100584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2971800" y="303123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No 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209544"/>
            <a:ext cx="6400800" cy="658368"/>
          </a:xfrm>
          <a:prstGeom prst="roundRect">
            <a:avLst/>
          </a:prstGeom>
          <a:solidFill>
            <a:srgbClr val="1F375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③ FW確認(medium): flat_tail≥120日 &amp; tail_cyc≥20 &amp; Type B無応答≥4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7223760" y="3538728"/>
            <a:ext cx="365760" cy="18287"/>
          </a:xfrm>
          <a:prstGeom prst="line">
            <a:avLst/>
          </a:prstGeom>
          <a:ln w="20320">
            <a:solidFill>
              <a:srgbClr val="2CA0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589520" y="3282696"/>
            <a:ext cx="4206240" cy="512064"/>
          </a:xfrm>
          <a:prstGeom prst="roundRect">
            <a:avLst/>
          </a:prstGeom>
          <a:solidFill>
            <a:srgbClr val="C0392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FW確認候補（medium）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023360" y="3867911"/>
            <a:ext cx="0" cy="100585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71800" y="37901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No 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968496"/>
            <a:ext cx="6400800" cy="658368"/>
          </a:xfrm>
          <a:prstGeom prst="roundRect">
            <a:avLst/>
          </a:prstGeom>
          <a:solidFill>
            <a:srgbClr val="1F375B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3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④ ゲージ(medium): flat_tail≥60日 &amp; 学習機会ゼロ &amp; 使用ゲート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7223760" y="4297680"/>
            <a:ext cx="365760" cy="18288"/>
          </a:xfrm>
          <a:prstGeom prst="line">
            <a:avLst/>
          </a:prstGeom>
          <a:ln w="20320">
            <a:solidFill>
              <a:srgbClr val="2CA02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589520" y="4041648"/>
            <a:ext cx="4206240" cy="512064"/>
          </a:xfrm>
          <a:prstGeom prst="roundRect">
            <a:avLst/>
          </a:prstGeom>
          <a:solidFill>
            <a:srgbClr val="B05A00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ゲージ再較正候補（medium）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023360" y="4626864"/>
            <a:ext cx="0" cy="100584"/>
          </a:xfrm>
          <a:prstGeom prst="line">
            <a:avLst/>
          </a:prstGeom>
          <a:ln w="25400">
            <a:solidFill>
              <a:srgbClr val="1F375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971800" y="454914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No 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2960" y="4727448"/>
            <a:ext cx="6400800" cy="475488"/>
          </a:xfrm>
          <a:prstGeom prst="roundRect">
            <a:avLst/>
          </a:prstGeom>
          <a:solidFill>
            <a:srgbClr val="C89B2A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上記いずれも不成立 → WATCH（保留）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321808"/>
            <a:ext cx="11338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8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適用順: fw_high &gt; gauge_high &gt; fw_med &gt; gauge_med &gt; watch（上から順・最初の一致で確定）｜ 使用ゲート = tail_cycle&lt;20 / tail_min_rsoc&gt;20 / tail_rsoc_swing&lt;60 / tail_ac≥0.80 のいずれか（mediumは &lt;30 / &gt;25 / &lt;50 / ≥0.75）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候補を上から順に判定し、最初に一致した規則で確定。FW=機会ありに無応答(機構別≥k)、ゲージ=学習機会ゼロ、どれも不成立ならWATCH。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なぜ応答窓は168hか — 再学習の応答は72hを越えて続く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pic>
        <p:nvPicPr>
          <p:cNvPr id="5" name="Picture 4" descr="od2_attribution_wind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3771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777834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od2_attribution_window.png（dpi=300・匿名化済み）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実際に起きたFCC更新のうち、直前にType A/Bの機会ENDがあるものの割合を、監査窓の幅ごとに示す。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縦=Type A/Bの機会で説明できたFCC更新の割合(%)、横=応答窓(h)。緑破線=採用する主窓168h。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窓が24h→72h→168h→336hと広がるほど説明率は 46.7%→69.1%→86.1%→91.1% と上がる。応答の多くは満充電の数日後に起きる。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168h(7日)で86%を捕捉。実機の再学習レイテンシに整合する窓として168hを主窓に採用する。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満充電の後どれだけFCCを計り直したかを数える。応答は数日遅れて起きるので、締切は7日(168h)が実機どおり。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366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2機構の『強度』の違い — 深放電は強い、充電側は高頻度だが弱い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pic>
        <p:nvPicPr>
          <p:cNvPr id="5" name="Picture 4" descr="od2_mechanism_streng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296511" cy="4526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53212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od2_mechanism_strength.png（dpi=300・匿名化済み）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健全な(active-reference)ゲージが、各機構の機会に168h以内で応答する割合。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縦=健全機の応答率@168h、棒上=FW確認へ回す無応答回数の閾値k。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Type A=0.74（強い深放電トリガ, k=3）、Type B=0.45（高頻度だが弱い充電側トリガ, k=5）。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機構ごとに『健全でも応答しない率』が違うため、FW判定のkを機構別に較正する（Type Bは高めのk=5）。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同じ『無応答』でも深放電(強)と充電側(弱)で健全機の応答率が違う。だからFW閾値kを機構別に較正する。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FW閾値 k の根拠 — 機構別に『誤警報5%以下』で較正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585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設計方針: 健全なゲージが偶然 k 回連続で無応答になる確率 (1−p)^k を 5% 以下にする（p=健全機の応答率）。弱い/高頻度のトリガほど誤って無応答が出やすいので、確信に必要な k は大きくなる。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20" cy="1700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2377440"/>
                <a:gridCol w="4206240"/>
                <a:gridCol w="128016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機構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健全応答率 p@168h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(1−p)^k の計算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採用 k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Type A（深放電, 強いトリガ）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0.74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0.26² = 6.8%(NG) / 0.26³ = 1.8%(OK)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6B3A"/>
                          </a:solidFill>
                          <a:latin typeface="Meiryo UI"/>
                          <a:ea typeface="Meiryo UI"/>
                          <a:cs typeface="Meiryo UI"/>
                        </a:rPr>
                        <a:t>3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Type B（充電側, 弱い・高頻度）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0.45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0.55⁴ = 9.2%(NG) / 0.55⁵ = 5.0%(OK)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376B3A"/>
                          </a:solidFill>
                          <a:latin typeface="Meiryo UI"/>
                          <a:ea typeface="Meiryo UI"/>
                          <a:cs typeface="Meiryo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566160"/>
            <a:ext cx="11185855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健全応答率 p は active-reference（obs≥180d・cycle≥20・凍結&lt;60日・品質OK）から実測（Type A 0.74 / Type B 0.45）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Type B は健全でも55%が無応答なので、k=4では誤警報9.2%と過大 → k=5で5.0%に収める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k は固定値ではなく調整可能（§7 代替実施形態）。窓・有効ステップ閾値と同じく感度解析対象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運用の確定(FW_CORE)は k 単独ではなく『凍結日数・サイクル数・データ品質OK』も併せて要件化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kは恣意的でなく『健全機の誤警報5%以下』から機構別に導出。弱いトリガ(Type B)ほど k を大きくする。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監査可能カバレッジ — フリートの大半が学習機会を持つ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pic>
        <p:nvPicPr>
          <p:cNvPr id="5" name="Picture 4" descr="od2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34913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49722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od2_coverage.png（dpi=300・匿名化済み）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OKクオリティの学習機会を1回以上持つユーザー数（=監査可能）と、機会が全く無いユーザー数。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縦=ユーザー数、緑=監査可能(687)、橙=機会ゼロ=ゲージ候補(46)、点線=コホート752。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2機構で数えると 687/752 が監査可能。機会が全く無い『ゲージ再較正候補』は46人。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充電側(Type B)が遍在するため、ほとんどの端末が何らかの学習機会を持つ。機会ゼロは真にゲージ候補。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実機どおり2機構で数えると、フリートの大半が監査できる。機会が全く無い端末だけがゲージ候補。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実フリート結果① 全履歴監査のトリアージ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pic>
        <p:nvPicPr>
          <p:cNvPr id="5" name="Picture 4" descr="od2_triage_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43868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39267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od2_triage_offline.png（dpi=300・匿名化済み）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no/low-change候補(96台)を、機会条件付き無応答監査で FW確認 / ゲージリセット / WATCH に振り分けた結果。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縦=ユーザー数。FW確認=機会あるのに無応答、ゲージリセット=機会皆無、WATCH=境界/large-gap。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FW確認35台 / ゲージリセット10台 / WATCH42台（NORMAL 327・REVIEW 338は候補外）。active層からの誤エスカレーション0件。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機会があるのにFCCが応答しない端末(FW確認)が最多。機会皆無で較正候補が10台。境界はWATCHで保留。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『機会に無応答→FW確認』が中心。機会が本当に無い端末だけを『ゲージ較正』に回す。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実フリート結果② 30日オンライン運用版の9段判定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§3 Part1</a:t>
            </a:r>
          </a:p>
        </p:txBody>
      </p:sp>
      <p:pic>
        <p:nvPicPr>
          <p:cNvPr id="5" name="Picture 4" descr="od2_online_t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35564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56226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od2_online_tiers.png（dpi=300・匿名化済み）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直近30日の生データ＋永続stateで運用する版が、各ユーザーに与える9段ラベルの分布。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横=ユーザー数。FW_CORE/FW_WATCH=FW確認系、GAUGE系=較正系、REVIEW_DQ=データ品質保留、WATCH系=保留。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FW_CORE 49 / FW_WATCH 99 / GAUGE_CORE 0 / GAUGE_SOFT 2 / REVIEW_DQ 325 / NORMAL 41。Core判定 proxy精度は高精度・能動誤報0件。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充電側機会がほぼ毎窓あるため『機会皆無=ゲージCore』はほぼ発生せず、確定信号はFW側に集中する。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運用版でも同じ方向: 確定アクションはFW確認が中心。累積判定の副作用は§6で正直に開示する。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判定法が機能する根拠 — 5本柱（機構別）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§4 根拠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1161288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743200"/>
                <a:gridCol w="5394960"/>
                <a:gridCol w="274320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根拠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検証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主張（本手法の技術効果）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ひとことで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A2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負の対照(ニセ機会4種)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真応答 A0.637/B0.368/union0.359 が各null外(4/4)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プラセボでは効かず本物でだけ効く（両機構）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応答起点の比較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END汚染0(両機構)。起点をずらすと過大計上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採点はテスト後(満充電)から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B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応答ハザード(CIF)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真CIF&gt;&gt;pseudo。応答は72hを越えて続き168hで捕捉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本物の機会の後ほど遅れて計り直す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欠測・打ち切り注入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誤無応答 naive204→proposed5(~40x)・回収0.96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データの穴を冤罪にしない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保持グリッド7〜90日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stateful recall1.0/重複0・容量4.2%(@168h)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30日のメモで全履歴と同じ結論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75488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いずれも proxy 非依存の独立エンドポイント。user-clustered bootstrap。各機構(Type A/Type B/union)で個別に検証。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5本柱すべて成立。特に A2 で『充電側 Type B も本物の学習刺激』であることが決定的に示された。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根拠① A2 負の対照 — 両機構が『自分専用のnull』を超える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§4 根拠</a:t>
            </a:r>
          </a:p>
        </p:txBody>
      </p:sp>
      <p:pic>
        <p:nvPicPr>
          <p:cNvPr id="5" name="Picture 4" descr="od2_negative_control_by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251210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517945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od2_negative_control_by_mechanism.png（dpi=300・匿名化済み）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真の応答確率(赤線)と、機会と応答の対応を壊した4種のニセ機会null(灰棒)を、機構別に比較(168h)。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縦=END起点の有効応答確率@168h、横=4つの負の対照。赤線=真値。左=Type A/中=Type B/右=union。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Type A 0.637 / Type B 0.368 / union 0.359 がいずれも自分専用null(0.18〜0.53)の95%上端を超える(各4/4・4/4方向一致→SUPPORTED)。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★Type Bは短窓では自分のnull近くだが168hで0.368に上がり明確に超える → 充電側は背景充電でなく本物の学習刺激。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プラセボ(ニセ機会)では効かず本物の機会でだけ効く。★充電側Type Bも本物の学習刺激だと確定した。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根拠② B 応答ハザード — 応答は72hを越えて続く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§4 根拠</a:t>
            </a:r>
          </a:p>
        </p:txBody>
      </p:sp>
      <p:pic>
        <p:nvPicPr>
          <p:cNvPr id="5" name="Picture 4" descr="od2_response_hazard_by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251632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3522163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od2_response_hazard_by_mechanism.png（dpi=300・匿名化済み）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END後の累積応答率(CIF)を、真の機会(赤)と matched-pseudo(灰破線)で、機構別に時間軸で示す。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縦=累積応答率(CIF)、横=END後経過時間(h)。緑破線=採用する主窓168h。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真CIFは常に pseudo を上回り、差は時間とともに増大: Type A 0.643(168h)、Type B 0.368(168h)。応答中央値≈48h。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本物の機会の後ほど遅れてFCCを計り直す。応答が72h以降にも続くため、168h窓が時間分解能で裏付けられる。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本物の機会の後ほど遅れて計り直す。応答は72hを越えて続くので168h窓が時間分解能でも妥当。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根拠③ A3 アンカー汚染 — END起点は構造的に汚染ゼロ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§4 根拠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5855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汚染 = 計上した応答ステップのうち『満充電ENDより前』に起きた割合（充電途中の変化は応答ではなく充放電の一部）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END起点: 両機構とも汚染 0.0（構造的性質）。起点をSTART/LOWにずらすと 0.45〜0.69 の過大計上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Type B の帯入口(arm)起点の汚染は小さい（72h=0.072 / 168h=0.034）— エピソードが短いため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★正直な注意: Type B の END重複帰属率=0.65。密な168h窓が重なり、1つの再学習ステップが複数エピソードに帰属する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対処は first-step-only 帰属（1ステップは最初のエピソードにのみ帰属）。union は同時刻ENDの重複を約1.6pt緩和（§6）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charge-termination(充電完了)アンカーは per-sample の電流/テーパ情報が無く NOT AVAILABLE。END を運用代理に使用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採点は満充電(END)の後から数えるので構造的に汚染ゼロ。ただしType Bは窓が重なりやすく重複帰属が課題(正直開示)。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根拠④ E 欠測ストレス — 提案検出器は誤無応答を~40x圧縮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§4 根拠</a:t>
            </a:r>
          </a:p>
        </p:txBody>
      </p:sp>
      <p:pic>
        <p:nvPicPr>
          <p:cNvPr id="5" name="Picture 4" descr="od2_missing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32767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28255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od2_missingness.png（dpi=300・匿名化済み）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データ欠落/打ち切りを注入したとき、誤って『無応答』と確定する件数を naive と proposed(censor-aware) で比較。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縦=平均の誤・確定無応答件数、機構別。赤=naive、緑=proposed(段階品質+censored除外)。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union で naive 203.7 → proposed 5.0（約40x削減）。機会回収率は0.96を維持。censored/unknownを無応答に数えないのが効く。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データの穴をそのまま『無応答』と数える素朴検出器は大量に冤罪を出すが、提案法はほぼ出さない（IC6成立）。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データの穴をそのまま無応答と数えると大量に冤罪。提案法(censored除外)はほぼ冤罪を出さない。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根拠⑤ D 有界保持 — 30日保持でも全履歴と等価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§4 根拠</a:t>
            </a:r>
          </a:p>
        </p:txBody>
      </p:sp>
      <p:pic>
        <p:nvPicPr>
          <p:cNvPr id="5" name="Picture 4" descr="od2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42882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294109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od2_retention.png（dpi=300・匿名化済み）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生データ保持を短くしたとき、無応答判定が全履歴と一致する度合いを、stateless と stateful で比較。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縦=全履歴との一致度、横=生データ保持日数。緑=stateful(保持不問=1.0)、灰/赤=stateless。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statefulは W=30日・168h窓で recall 1.0/重複0/MAE 0、容量比 0.0417(4.2%)。168h窓は最小7日の先読みが要る(&lt;30日)ので30日保持で十分。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生データを捨てても、最小状態の因果台帳で全履歴と同じ結論。stateless は7日保持だと168h窓を観測できず破綻する。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レシートは30日で捨てても、少数項目の家計簿(最小状態台帳)があれば全履歴と同じ結論が出る。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37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5本柱まとめ — 本手法の技術効果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§4 根拠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11430000" cy="3401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377440"/>
                <a:gridCol w="6035040"/>
                <a:gridCol w="2286000"/>
              </a:tblGrid>
              <a:tr h="56692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柱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検証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技術効果（proxy非依存）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判定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A2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負の対照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真応答 A0.637/B0.368/union0.359 が各null外(4/4)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両機構とも本物の刺激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A3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アンカー汚染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END汚染 0.0（両機構）※Type B重複帰属0.65は開示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END無汚染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B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応答ハザード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真CIF&gt;&gt;pseudo。応答は72hを越え168hで捕捉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168h窓を裏付け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欠測ストレス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誤無応答 naive204→proposed5(~40x)、回収0.96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IC6成立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D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有界保持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stateful recall1.0/重複0/容量4.2%（30日保持で等価）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IC5成立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5本柱すべて成立し、機会条件付き無応答監査は深放電・充電側の二機構で技術的に強く裏付けられる。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6A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特許候補の位置づけ（集約）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§5 Part2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60120"/>
          <a:ext cx="116128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40"/>
                <a:gridCol w="1645920"/>
                <a:gridCol w="2194560"/>
                <a:gridCol w="2651760"/>
              </a:tblGrid>
              <a:tr h="54864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特許候補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手法段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技術エビデンス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新規性リスク(UNVERIFIED)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① 機会条件付き無応答監査（二機構）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1+2+3+4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MEDIUM-HIGH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  └ 新規性の核: 充電側部分再学習の検出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(Type B)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MEDIUM（要調査）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② デュアルトラック非対称リセット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dual-track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392B"/>
                          </a:solidFill>
                          <a:latin typeface="Meiryo UI"/>
                          <a:ea typeface="Meiryo UI"/>
                          <a:cs typeface="Meiryo UI"/>
                        </a:rPr>
                        <a:t>HIGH（着想日依存）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③ 有界保持の因果証拠台帳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(将来④) クローズドループ介入検証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介入後検証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555"/>
                          </a:solidFill>
                          <a:latin typeface="Meiryo UI"/>
                          <a:ea typeface="Meiryo UI"/>
                          <a:cs typeface="Meiryo UI"/>
                        </a:rPr>
                        <a:t>PROSPECTIVE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555"/>
                          </a:solidFill>
                          <a:latin typeface="Meiryo UI"/>
                          <a:ea typeface="Meiryo UI"/>
                          <a:cs typeface="Meiryo UI"/>
                        </a:rPr>
                        <a:t>—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(将来⑤) 機種非依存+version局在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原因局在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MEDIUM/PROSP.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『技術エビデンスが強い』と『特許が取れる』は別軸。核心の新規性は『充電側部分再学習の無応答検出』にある。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6A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候補① 機会条件付き無応答監査（二機構）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§5 候補①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9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技術エビデンス強度: </a:t>
            </a: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STRONG    </a:t>
            </a: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先行技術リスク(UNVERIFIED): </a:t>
            </a:r>
            <a:r>
              <a:rPr sz="1200" b="1">
                <a:solidFill>
                  <a:srgbClr val="C0392B"/>
                </a:solidFill>
                <a:latin typeface="Meiryo UI"/>
                <a:ea typeface="Meiryo UI"/>
                <a:cs typeface="Meiryo UI"/>
              </a:rPr>
              <a:t>MEDIUM-HIGH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43584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背景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FCC再学習は学習機会でしか起きないが、機会有無と応答有無は静的検査で分離不能。実機の機会は Type A(深放電) と Type B(充電側) の2経路。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問題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凍結が『機会なし(正常/再較正)』か『機会あるのに無応答(FW/HW疑い)』か判別できない。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課題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欠測・打ち切り・機種依存に頑健で、かつ2機構を一つの枠組みで扱う必要がある。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解決法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Type A/B の機会を抽出→満充電END起点168h窓で responded/no_response/censored 分類→品質ティア+censor除外→機構別k(A=3/B=5)で二分岐。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特許性 / 新規性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A2特異性(両機構)・A3汚染0・E欠測耐性で実証。★新規性の核=『深放電を伴わない充電側部分再学習の無応答検出』＋『2機構を満充電ENDで統合』＋『機構別k・168h窓』。狭め/中位で出願推奨。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『満充電の後に計り直さなかった』を、深放電と充電側の両方の機会について、欠測に騙されず数える監査。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6A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候補② デュアルトラック非対称リセット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§5 候補②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9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技術エビデンス強度: </a:t>
            </a: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STRONG    </a:t>
            </a: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先行技術リスク(UNVERIFIED): </a:t>
            </a:r>
            <a:r>
              <a:rPr sz="1200" b="1">
                <a:solidFill>
                  <a:srgbClr val="C0392B"/>
                </a:solidFill>
                <a:latin typeface="Meiryo UI"/>
                <a:ea typeface="Meiryo UI"/>
                <a:cs typeface="Meiryo UI"/>
              </a:rPr>
              <a:t>HIGH（着想日依存）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43584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背景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量子化最小10mWh。micro(&lt;50mWh)とeffective(≥50mWh)が混在。1系統だとmicroが未解決の無応答証拠を消しFW疑いを見逃す。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問題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microステップが effective系統の未解決『無応答』証拠を誤って消去してしまう。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課題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any系統(任意変化でリセット)とeffective系統(≥50mWhのみリセット)を分離し、microは any系統のみリセット(非対称)する必要。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解決法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同時刻順序は complete&lt;reset&lt;deadline。microは any系統のみリセットし effective系統の無応答証拠は保持。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特許性 / 新規性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【リスク高】production実装済（本パスは特徴付け/検証であり着想ではない）+ deadband は一般先行技術 → 新規性は着想日依存。要・着想日/公開有無の確認。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微小なゆらぎで『まだ計り直していない』証拠を消さないよう、2つの帳簿を非対称に運用する。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6A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候補③ 有界保持下の因果証拠台帳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§5 候補③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59536"/>
            <a:ext cx="112772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技術エビデンス強度: </a:t>
            </a: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STRONG    </a:t>
            </a: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先行技術リスク(UNVERIFIED): </a:t>
            </a:r>
            <a:r>
              <a:rPr sz="1200" b="1">
                <a:solidFill>
                  <a:srgbClr val="C0392B"/>
                </a:solidFill>
                <a:latin typeface="Meiryo UI"/>
                <a:ea typeface="Meiryo UI"/>
                <a:cs typeface="Meiryo UI"/>
              </a:rPr>
              <a:t>MEDIUM-HIGH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43584"/>
            <a:ext cx="112772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背景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生テレメトリ保持は有界(例:30日)。窓をまたぐ機会の証拠が失われる/二重計上。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問題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168h窓は最小7日の先読みが要り、保持が短いと窓をまたぐ証拠が失われる（stateless 7日保持で一致0.011）。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課題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生データを捨てても、因果的にリプレイ可能な最小状態(FSM/pending期限/seen_ids/直近有効変化/gap-censor/順序規則)を永続化する必要。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解決法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Type A の high-low-high FSM と Type B の WAIT/ARMED(充電) FSM を並置し、満充電ENDで統合・重複排除。期限は窓観測時のみ発火。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特許性 / 新規性</a:t>
            </a:r>
          </a:p>
          <a:p>
            <a:r>
              <a:rPr sz="1180" b="0">
                <a:latin typeface="Meiryo UI"/>
                <a:ea typeface="Meiryo UI"/>
                <a:cs typeface="Meiryo UI"/>
              </a:rPr>
              <a:t>Dグリッドで recall 1.0・重複0・MAE≈0 を保持比 0.0417(4.2%)で達成(rw=168h)。stateless は168h窓で破綻するため最小状態台帳の価値が明確。『最小状態構造』をクレーム核に。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レシートは30日で捨てても、少数項目の家計簿(最小状態台帳)があれば全履歴と同じ結論。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6A3D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将来候補（PROSPECTIVE — データは存在しない、捏造しない）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§5 Part2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1118585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50" b="1">
                <a:solidFill>
                  <a:srgbClr val="6A3D8A"/>
                </a:solidFill>
                <a:latin typeface="Meiryo UI"/>
                <a:ea typeface="Meiryo UI"/>
                <a:cs typeface="Meiryo UI"/>
              </a:rPr>
              <a:t>■ 将来④ クローズドループ介入検証</a:t>
            </a:r>
          </a:p>
          <a:p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診断別介入(安全な較正/FW更新)後、最初のHIGH_OK機会から168h以内の有効応答を主要評価項目に。介入・versionデータは NOT AVAILABLE（power simulationとスキーマのみ）。</a:t>
            </a:r>
          </a:p>
          <a:p>
            <a:pPr>
              <a:spcBef>
                <a:spcPts val="800"/>
              </a:spcBef>
            </a:pPr>
            <a:r>
              <a:rPr sz="1350" b="1">
                <a:solidFill>
                  <a:srgbClr val="6A3D8A"/>
                </a:solidFill>
                <a:latin typeface="Meiryo UI"/>
                <a:ea typeface="Meiryo UI"/>
                <a:cs typeface="Meiryo UI"/>
              </a:rPr>
              <a:t>■ 将来⑤ 機種非依存スクリーニング + version局在</a:t>
            </a:r>
          </a:p>
          <a:p>
            <a:r>
              <a:rPr sz="12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分類は行動特徴のみ。分類後の記述統計でHW偏在を集計（分類には不使用）。BIOS/EC/FW version列 NOT AVAILABLE → PROSPECTIVE。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介入効果とFW versionが取れれば『直したら本当に直った』まで示せる。今はデータが無いので将来候補として正直に留保。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正直な開示① — 必須の開示事項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§6 開示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58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8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Type B 重複帰属 0.65: 密な168h窓が重なり、1つの再学習ステップが複数エピソードに帰属。union dedupは同時刻ENDのみ緩和(約1.6pt) → first-step-only帰属で対処予定</a:t>
            </a:r>
          </a:p>
          <a:p>
            <a:pPr>
              <a:spcAft>
                <a:spcPts val="400"/>
              </a:spcAft>
            </a:pPr>
            <a:r>
              <a:rPr sz="118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オンライン累積kの副作用: 確定信号がFW側に大きく振れる(FW_CORE 49・NORMAL 41)。Type Bのhealthy応答が0.45と低く累積で無応答が貯まる。全履歴の tail-scoped 版(FW 35)がより保守的 → tail-scope化/累積対応閾値が改善余地</a:t>
            </a:r>
          </a:p>
          <a:p>
            <a:pPr>
              <a:spcAft>
                <a:spcPts val="400"/>
              </a:spcAft>
            </a:pPr>
            <a:r>
              <a:rPr sz="118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残差 ~9%: 監査窓を14日に広げても未説明のFCC更新(中央値260mWh=ノイズでない)が残る。第3の再学習経路 or 満充電END取りこぼし(conservationモード上限・ロガー寝過ごし)の可能性。46台はRSOC≥99に未到達</a:t>
            </a:r>
          </a:p>
          <a:p>
            <a:pPr>
              <a:spcAft>
                <a:spcPts val="400"/>
              </a:spcAft>
            </a:pPr>
            <a:r>
              <a:rPr sz="118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charge-termination アンカー NOT AVAILABLE（per-sample電流/テーパ無し）。END を運用代理に使用（捏造しない）</a:t>
            </a:r>
          </a:p>
          <a:p>
            <a:pPr>
              <a:spcAft>
                <a:spcPts val="400"/>
              </a:spcAft>
            </a:pPr>
            <a:r>
              <a:rPr sz="118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proxyラベルは地上真実でない / 先行技術は全て UNVERIFIED / 本資料は技術エビデンスであり法的意見ではない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強い結果ほど弱点を明示する。Type B重複帰属・online累積k・未説明残差の3点はクレーム設計と追加検証で対処する。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正直な開示② — 限界と残課題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§6 開示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58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proxy一致は『FW確認対象の抽出』であって『FW不良の検出』ではない（確定診断ではない）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END汚染0は定義から従う構造的性質（発見ではない）。MCAR極端条件では回収率が低下しうる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充電側部分再学習の無応答検出（新規性の核）は正式な先行技術/特許性調査が未実施 → 弁理士による FTO/特許性調査が出願前必須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候補②は production 実装済 → 新規性は着想日依存。社内外の公開有無の確認（新規性喪失の例外含む法務確認）が必要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介入→FCC回復のクローズドループ実証データ・BIOS/EC/FW version は未取得（将来④⑤の前提）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エビデンスは強いが、特許性(新規性)判断・FTO・着想日確認はここから先が本番。データ未取得の主張は将来候補に留保。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知財戦略オプション &amp; reviewerへの依頼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§6 まとめ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32688"/>
          <a:ext cx="11612880" cy="3182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1737360"/>
                <a:gridCol w="2194560"/>
                <a:gridCol w="3200400"/>
              </a:tblGrid>
              <a:tr h="530352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特許候補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エビデンス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新規性リスク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出願準備度の目安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① 無応答監査（二機構・中核）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MEDIUM-HIGH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出願候補(狭め/中位, 二機構明記)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  └ 充電側部分再学習の検出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MEDIUM(要調査)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新規性調査を優先発注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② 非対称リセット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392B"/>
                          </a:solidFill>
                          <a:latin typeface="Meiryo UI"/>
                          <a:ea typeface="Meiryo UI"/>
                          <a:cs typeface="Meiryo UI"/>
                        </a:rPr>
                        <a:t>HIGH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着想日要確認 or 防御的公開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③ 因果証拠台帳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STRONG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MEDIUM-HIGH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最小状態を核に出願候補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(将来④⑤) 介入/version局在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555"/>
                          </a:solidFill>
                          <a:latin typeface="Meiryo UI"/>
                          <a:ea typeface="Meiryo UI"/>
                          <a:cs typeface="Meiryo UI"/>
                        </a:rPr>
                        <a:t>PROSPECTIVE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F77B4"/>
                          </a:solidFill>
                          <a:latin typeface="Meiryo UI"/>
                          <a:ea typeface="Meiryo UI"/>
                          <a:cs typeface="Meiryo UI"/>
                        </a:rPr>
                        <a:t>—/MEDIUM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継続/将来開示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434840"/>
            <a:ext cx="1127729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C0392B"/>
                </a:solidFill>
                <a:latin typeface="Meiryo UI"/>
                <a:ea typeface="Meiryo UI"/>
                <a:cs typeface="Meiryo UI"/>
              </a:rPr>
              <a:t>reviewerへの依頼: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(1) 二機構クレームの粒度・範囲の判断（Type A+B を独立/従属どちらで組むか）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(2) 『充電側部分再学習の無応答検出』の新規性・先行技術調査の発注判断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(3) 候補②の着想日・社内外公開有無の確認  (4) Type B重複帰属・online累積k のクレーム上の扱い（除外/従属化）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出願・営業秘密・防御的公開の切り分けと、核心の新規性面（充電側検出）の調査発注がreviewerへの問い。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2E5A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付録A — 特徴量（raw と派生・HW識別子不使用）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§7 付録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32688"/>
          <a:ext cx="114300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1371600"/>
                <a:gridCol w="5852160"/>
              </a:tblGrid>
              <a:tr h="40233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変数 / 特徴量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種別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作成方法（特徴量エンジニアリング）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RSOC / FCC / cycleCount / chargeStatus / timestamp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555555"/>
                          </a:solidFill>
                          <a:latin typeface="Meiryo UI"/>
                          <a:ea typeface="Meiryo UI"/>
                          <a:cs typeface="Meiryo UI"/>
                        </a:rPr>
                        <a:t>raw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生入力（HW識別子は不使用）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Type A エピソード(満充電→≤6%→満充電)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派生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high-low-high FSM (high=99, low=6)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Type B エピソード(充電中60-80通過→満充電)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派生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WAIT/ARMED FSM (chargeStatus=1, 60-80帯, abort&lt;60)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有効ステップ(≥50mWh) / micro(&lt;50mWh)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派生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|ΔFCC| 閾値。量子化最小10mWh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応答ステータス(END後24/72/168h)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派生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responded/no_response/censored/unknown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品質ティア / 最小状態台帳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派生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HIGH_OK/MEDIUM_GAP/LOW_LARGE_GAP / FSM+pending+seen_ids…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BIOS/EC/FW version・介入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 UI"/>
                          <a:ea typeface="Meiryo UI"/>
                          <a:cs typeface="Meiryo UI"/>
                        </a:rPr>
                        <a:t>NOT AVAIL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本データに存在しない（NOT AVAILABLE）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付録B — データと再現性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§7 付録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1118585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母集団: 752ユーザー / 3,130,394 サンプル / PWMログ約30分間隔 / パック交換 0件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学習機会: Type A 3,913(475人) / Type B 34,578(704人) / union(満充電END重複排除) 36,225。監査可能 687/752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全て新規ファイルに出力（現行の本番コードは無変更）。ユニットテスト15件pass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主要成果物: data/reports/fcc_relearn_od2_MASTER_report.md（総括）、data/processed/fcc_relearn_od2/・fcc_patent_evidence_od2/・fcc_online_od2/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数値は proxy 非依存の独立エンドポイント。user-clustered bootstrap。決定的シード。PII匿名化。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全て新規ファイルで再現し、本番コードを壊さず並存する。数値は proxy 非依存の独立指標で検証済み。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付録C — 代替実施形態 / 先行技術差別化（全件UNVERIFIED）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§7 付録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5669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代替実施形態: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満充電閾値 97/99/100%（既定99）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Type A 深放電 4/6/8/10%（既定6）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Type B 帯 55-80 / 60-80 / 60-85、abort 50/60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応答窓 72/168/336h（主168h）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有効ステップ 固定10-100mWh・容量比・適応式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リセット規則・保持7-90日・ギャップ処理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32688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先行技術差別化(UNVERIFIED):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US7610172: 非発生イベント監視（充電側部分再学習の無応答は未教示）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TI Impedance-Track US6832171: 機会=qualified discharge が前提（充電側部分再学習を教示しない）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US20130085715 / US9218527: streaming窓（有界保持の最小状態台帳を教示しない）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汎用deadband: micro/effectiveの非対称リセットを教示しない</a:t>
            </a:r>
          </a:p>
          <a:p>
            <a:pPr>
              <a:spcAft>
                <a:spcPts val="400"/>
              </a:spcAft>
            </a:pPr>
            <a:r>
              <a:rPr sz="11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→ 二機構(特に充電側)の統合監査は差別化余地。要・弁理士による正式調査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先行技術は全て未検証(AI提示)。特にType B(充電側部分再学習)の差別化は正式なFTO/特許性調査で確定が必要。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付録 — 判定閾値一覧（前段ゲート・候補判定・トリアージ）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§7 付録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914400"/>
          <a:ext cx="11704320" cy="3584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9601200"/>
              </a:tblGrid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ラベル / 段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判定条件（各行内はAND。『いずれか』はOR）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REVIEW（保留）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obs&lt;120日 ／ n_samples&lt;200 ／ cycleCount減少・serialNumber変化 の いずれか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候補判定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fcc_changes=0&amp;obs≥120 ／ flat_tail≥180日 ／ cycle≥50&amp;更新率≤4.24 ／ obs≥180&amp;更新率≤1.41 の いずれか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NORMAL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候補条件に一つも該当しない（FCCが健全群並みに更新）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FW確認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候補 &amp; flat_tail≥180日 &amp; tail_cycle≥30 &amp; 品質OK &amp; (Type B無応答≥5 or Type A無応答≥3)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ゲージ再較正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候補 &amp; flat_tail≥120日 &amp; 学習機会ゼロ(A・Bとも) &amp; 使用ゲート &amp; 品質OK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WATCH（保留）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候補だがFW・ゲージのどちらにも確信できない残差（境界 / large-gap / 完全窓不足）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4480560"/>
            <a:ext cx="11430000" cy="1234440"/>
          </a:xfrm>
          <a:prstGeom prst="roundRect">
            <a:avLst/>
          </a:prstGeom>
          <a:solidFill>
            <a:srgbClr val="EEF2F7"/>
          </a:solidFill>
          <a:ln>
            <a:solidFill>
              <a:srgbClr val="1F37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3542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■ 共通パラメータ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28032"/>
            <a:ext cx="11094415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満充電(END): RSOC≥99% ／ Type A 深放電: RSOC≤6% ／ Type B: 充電中に60-80%を通過(abort&lt;60)</a:t>
            </a:r>
          </a:p>
          <a:p>
            <a:pPr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有効ステップ: |ΔFCC|≥50mWh ／ 応答窓: 168h(主, 24/72hは副) ／ 品質ティア: HIGH_OK≤12h・MEDIUM_GAP≤24h</a:t>
            </a:r>
          </a:p>
          <a:p>
            <a:pPr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FW閾値k: A=3 / B=5（健全応答0.74/0.45から誤警報5%以下で導出）｜ p05(健全群): 4.24(/100cyc)・1.41(/100d), active-reference n=214</a:t>
            </a:r>
          </a:p>
          <a:p>
            <a:pPr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※ 更新率の単位は /100cyc・/100d。窓・各閾値は代替実施形態として調整可能（一部の微調整値は営業秘密として非公開）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全ラベルは透明なしきい値ルール（機種名は不使用）。数値は本解析の運用値で、窓・閾値は調整可能な代替実施形態。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付録 — 品質ティア＋censored除外（⑤の判定詳細）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§7 付録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932688"/>
            <a:ext cx="111858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目的: データの穴(大ギャップ)・打切り(未観測窓)を『無応答』と誤計上しない（根拠E: 誤無応答 204→5, 約40x削減）</a:t>
            </a:r>
          </a:p>
          <a:p>
            <a:pPr>
              <a:spcAft>
                <a:spcPts val="300"/>
              </a:spcAft>
            </a:pPr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品質スコア = 0.45×(最大ギャップ成分) + 0.35×(観測カバレッジ) + 0.20×(端点ギャップ成分)（重み和=1.0）｜ 最大ギャップ成分: ≤12h→1.0 / 12-24hで1.0→0.5 / 24-48hで0.5→0.0 / &gt;48h→0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874519"/>
          <a:ext cx="117043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480560"/>
                <a:gridCol w="4846320"/>
              </a:tblGrid>
              <a:tr h="51206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品質ティア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条件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no_response 計上</a:t>
                      </a:r>
                    </a:p>
                  </a:txBody>
                  <a:tcPr>
                    <a:solidFill>
                      <a:srgbClr val="1F375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HIGH_OK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max_gap ≤ 12h かつ score ≥ 0.80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可（FW_CORE/GAUGE_CORE も支持）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MEDIUM_GAP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max_gap ≤ 24h かつ score ≥ 0.50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CA02C"/>
                          </a:solidFill>
                          <a:latin typeface="Meiryo UI"/>
                          <a:ea typeface="Meiryo UI"/>
                          <a:cs typeface="Meiryo UI"/>
                        </a:rPr>
                        <a:t>✅ 可（FW_WATCH。FW_CORE単独は不可）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LOW_LARGE_GAP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それ以外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392B"/>
                          </a:solidFill>
                          <a:latin typeface="Meiryo UI"/>
                          <a:ea typeface="Meiryo UI"/>
                          <a:cs typeface="Meiryo UI"/>
                        </a:rPr>
                        <a:t>❌ 曖昧のみ・数えない</a:t>
                      </a:r>
                    </a:p>
                  </a:txBody>
                  <a:tcPr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INVALID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22222"/>
                          </a:solidFill>
                          <a:latin typeface="Meiryo UI"/>
                          <a:ea typeface="Meiryo UI"/>
                          <a:cs typeface="Meiryo UI"/>
                        </a:rPr>
                        <a:t>FCC/RSOC欠損・順序異常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C0392B"/>
                          </a:solidFill>
                          <a:latin typeface="Meiryo UI"/>
                          <a:ea typeface="Meiryo UI"/>
                          <a:cs typeface="Meiryo UI"/>
                        </a:rPr>
                        <a:t>❌ 除外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4434840"/>
            <a:ext cx="111858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0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censored除外: 応答窓 END+168h が最終観測サンプルより後 → censored → pending(保留)・数えない（END+168h ≤ 最終観測 なら no_response 確定可）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計上ルール: no_response(+1) は『(HIGH_OK または MEDIUM_GAP) かつ 非censored』の機会だけ。それ以外は保留（加算しない）</a:t>
            </a:r>
          </a:p>
          <a:p>
            <a:pPr>
              <a:spcAft>
                <a:spcPts val="300"/>
              </a:spcAft>
            </a:pPr>
            <a:r>
              <a:rPr sz="105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•  ※ 全履歴監査版は簡易に最大ギャップ 12h/24h のみでティア分け（オンライン版はスコア併用）。結論は同じ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データの穴と打切りを冤罪にしない二重の関門。数えるのは『十分サンプリング(≤12/24h)＋完全観測(非censored)』の機会のみ。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265615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FFFFFF"/>
                </a:solidFill>
                <a:latin typeface="Meiryo UI"/>
                <a:ea typeface="Meiryo UI"/>
                <a:cs typeface="Meiryo UI"/>
              </a:rPr>
              <a:t>付録 — 品質スコアの3成分（最大ギャップ / カバレッジ / 端点ギャップ）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65615" y="1828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>
                <a:solidFill>
                  <a:srgbClr val="DDE8F2"/>
                </a:solidFill>
                <a:latin typeface="Meiryo UI"/>
                <a:ea typeface="Meiryo UI"/>
                <a:cs typeface="Meiryo UI"/>
              </a:rPr>
              <a:t>§7 付録</a:t>
            </a:r>
          </a:p>
        </p:txBody>
      </p:sp>
      <p:pic>
        <p:nvPicPr>
          <p:cNvPr id="5" name="Picture 4" descr="od2_quality_compon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87552"/>
            <a:ext cx="6492240" cy="32524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25826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図: od2_quality_components.png（dpi=300・匿名化済み）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0880" y="914400"/>
            <a:ext cx="48463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 b="1">
                <a:solidFill>
                  <a:srgbClr val="1F77B4"/>
                </a:solidFill>
                <a:latin typeface="Meiryo UI"/>
                <a:ea typeface="Meiryo UI"/>
                <a:cs typeface="Meiryo UI"/>
              </a:rPr>
              <a:t>【何のグラフか】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1つの学習機会の区間を RSOC 波形＋サンプル点(●)で示し、観測の“穴”の3つの見方を図示した模式図。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1F375B"/>
                </a:solidFill>
                <a:latin typeface="Meiryo UI"/>
                <a:ea typeface="Meiryo UI"/>
                <a:cs typeface="Meiryo UI"/>
              </a:rPr>
              <a:t>【軸・変数の定義】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縦=RSOC(%)、横=時間(h)。●=観測サンプル、赤帯=未観測の穴、灰破線=未観測区間の推定、START/LOW/END=機会のアンカー。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2CA02C"/>
                </a:solidFill>
                <a:latin typeface="Meiryo UI"/>
                <a:ea typeface="Meiryo UI"/>
                <a:cs typeface="Meiryo UI"/>
              </a:rPr>
              <a:t>【主張（言いたいこと）】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①最大ギャップ=区間内の最大の穴（赤帯=20h） ②観測カバレッジ=“見えていた”時間の割合（赤帯の外） ③端点ギャップ=END等の境界付近の穴（小さいほど良い）。</a:t>
            </a:r>
          </a:p>
          <a:p>
            <a:pPr>
              <a:spcBef>
                <a:spcPts val="500"/>
              </a:spcBef>
            </a:pPr>
            <a:r>
              <a:rPr sz="1200" b="1">
                <a:solidFill>
                  <a:srgbClr val="B05A00"/>
                </a:solidFill>
                <a:latin typeface="Meiryo UI"/>
                <a:ea typeface="Meiryo UI"/>
                <a:cs typeface="Meiryo UI"/>
              </a:rPr>
              <a:t>【読み方・解釈】</a:t>
            </a:r>
          </a:p>
          <a:p>
            <a:r>
              <a:rPr sz="1100" b="0">
                <a:solidFill>
                  <a:srgbClr val="222222"/>
                </a:solidFill>
                <a:latin typeface="Meiryo UI"/>
                <a:ea typeface="Meiryo UI"/>
                <a:cs typeface="Meiryo UI"/>
              </a:rPr>
              <a:t>この例は中央に大穴があり①↓・②↓（LOWも未観測）だが、END付近は密で③↑。3成分を 0.45/0.35/0.20 で合成→score→ティア判定。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5943600"/>
            <a:ext cx="11551615" cy="475488"/>
          </a:xfrm>
          <a:prstGeom prst="roundRect">
            <a:avLst/>
          </a:prstGeom>
          <a:solidFill>
            <a:srgbClr val="FFF6DA"/>
          </a:solidFill>
          <a:ln>
            <a:solidFill>
              <a:srgbClr val="D9A4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5400" bIns="25400"/>
          <a:lstStyle/>
          <a:p>
            <a:pPr algn="ctr"/>
            <a:r>
              <a:rPr sz="1150" b="1">
                <a:solidFill>
                  <a:srgbClr val="6B4A1F"/>
                </a:solidFill>
                <a:latin typeface="Meiryo UI"/>
                <a:ea typeface="Meiryo UI"/>
                <a:cs typeface="Meiryo UI"/>
              </a:rPr>
              <a:t>💡 観測の“穴”を『最悪の大きさ①／全体の密度②／境界の精度③』の3面で評価し、信頼できる機会だけを数える。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10528"/>
            <a:ext cx="11185855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555555"/>
                </a:solidFill>
                <a:latin typeface="Meiryo UI"/>
                <a:ea typeface="Meiryo UI"/>
                <a:cs typeface="Meiryo UI"/>
              </a:rPr>
              <a:t>技術的特許性エビデンス（NOT a legal opinion）。先行技術は UNVERIFIED。特許化の粒度・範囲の最終判断は社内reviewer/弁理士。捏造（地上真実/介入/FW/因果結論）なし。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