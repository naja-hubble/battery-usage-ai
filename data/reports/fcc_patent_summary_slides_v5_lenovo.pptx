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256" r:id="rId11"/>
    <p:sldId id="257" r:id="rId12"/>
    <p:sldId id="258" r:id="rId13"/>
    <p:sldId id="259" r:id="rId14"/>
    <p:sldId id="260" r:id="rId15"/>
    <p:sldId id="261" r:id="rId10"/>
    <p:sldId id="262" r:id="rId9"/>
    <p:sldId id="263" r:id="rId8"/>
    <p:sldId id="264" r:id="rId7"/>
    <p:sldId id="265" r:id="rId6"/>
    <p:sldId id="266" r:id="rId5"/>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
          <p15:clr>
            <a:srgbClr val="A4A3A4"/>
          </p15:clr>
        </p15:guide>
        <p15:guide id="2" orient="horz" pos="4212">
          <p15:clr>
            <a:srgbClr val="A4A3A4"/>
          </p15:clr>
        </p15:guide>
        <p15:guide id="3" orient="horz" pos="3887">
          <p15:clr>
            <a:srgbClr val="A4A3A4"/>
          </p15:clr>
        </p15:guide>
        <p15:guide id="4" pos="3943">
          <p15:clr>
            <a:srgbClr val="A4A3A4"/>
          </p15:clr>
        </p15:guide>
        <p15:guide id="5" pos="2279">
          <p15:clr>
            <a:srgbClr val="A4A3A4"/>
          </p15:clr>
        </p15:guide>
        <p15:guide id="6" pos="545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E9F2"/>
    <a:srgbClr val="1E0113"/>
    <a:srgbClr val="4D144A"/>
    <a:srgbClr val="64131E"/>
    <a:srgbClr val="F5EAF3"/>
    <a:srgbClr val="EEE8F1"/>
    <a:srgbClr val="F0E5EF"/>
    <a:srgbClr val="FAF3F8"/>
    <a:srgbClr val="FBD3CC"/>
    <a:srgbClr val="E3C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89" autoAdjust="0"/>
    <p:restoredTop sz="86285" autoAdjust="0"/>
  </p:normalViewPr>
  <p:slideViewPr>
    <p:cSldViewPr snapToGrid="0">
      <p:cViewPr varScale="1">
        <p:scale>
          <a:sx n="78" d="100"/>
          <a:sy n="78" d="100"/>
        </p:scale>
        <p:origin x="48" y="504"/>
      </p:cViewPr>
      <p:guideLst>
        <p:guide orient="horz" pos="463"/>
        <p:guide orient="horz" pos="4212"/>
        <p:guide orient="horz" pos="3887"/>
        <p:guide pos="3943"/>
        <p:guide pos="2279"/>
        <p:guide pos="5452"/>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1.xml"/><Relationship Id="rId6" Type="http://schemas.openxmlformats.org/officeDocument/2006/relationships/slide" Target="slides/slide10.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7.xml"/><Relationship Id="rId10" Type="http://schemas.openxmlformats.org/officeDocument/2006/relationships/slide" Target="slides/slide6.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sz="1000">
              <a:latin typeface="Arial" pitchFamily="34" charset="0"/>
              <a:cs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1C0EDC-3B04-4D43-AC98-A606493C474D}" type="datetimeFigureOut">
              <a:rPr lang="en-US" sz="1000" smtClean="0">
                <a:latin typeface="Arial" pitchFamily="34" charset="0"/>
                <a:cs typeface="Arial" pitchFamily="34" charset="0"/>
              </a:rPr>
              <a:pPr/>
              <a:t>7/6/2026</a:t>
            </a:fld>
            <a:endParaRPr lang="en-US" sz="1000">
              <a:latin typeface="Arial" pitchFamily="34" charset="0"/>
              <a:cs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lvl="0"/>
            <a:r>
              <a:rPr lang="en-US" sz="800" cap="all">
                <a:solidFill>
                  <a:srgbClr val="939598"/>
                </a:solidFill>
                <a:latin typeface="Arial" pitchFamily="34" charset="0"/>
                <a:cs typeface="Arial" pitchFamily="34" charset="0"/>
              </a:rPr>
              <a:t>2011 LENOVO CONFIDENTIAL. All rights reserved.</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27F3538-DD9D-4F25-8311-592750C50641}" type="slidenum">
              <a:rPr lang="en-US" sz="800" smtClean="0">
                <a:latin typeface="Arial" pitchFamily="34" charset="0"/>
                <a:cs typeface="Arial" pitchFamily="34" charset="0"/>
              </a:rPr>
              <a:pPr/>
              <a:t>‹#›</a:t>
            </a:fld>
            <a:endParaRPr lang="en-US" sz="800">
              <a:latin typeface="Arial" pitchFamily="34" charset="0"/>
              <a:cs typeface="Arial" pitchFamily="34" charset="0"/>
            </a:endParaRPr>
          </a:p>
        </p:txBody>
      </p:sp>
    </p:spTree>
    <p:extLst>
      <p:ext uri="{BB962C8B-B14F-4D97-AF65-F5344CB8AC3E}">
        <p14:creationId xmlns:p14="http://schemas.microsoft.com/office/powerpoint/2010/main" val="2529155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Arial" pitchFamily="34" charset="0"/>
                <a:cs typeface="Arial" pitchFamily="34"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Arial" pitchFamily="34" charset="0"/>
                <a:cs typeface="Arial" pitchFamily="34" charset="0"/>
              </a:defRPr>
            </a:lvl1pPr>
          </a:lstStyle>
          <a:p>
            <a:fld id="{F23CF275-28B3-497F-9AED-85D5F023BA5C}" type="datetimeFigureOut">
              <a:rPr lang="en-US" smtClean="0"/>
              <a:pPr/>
              <a:t>7/6/2026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Arial" pitchFamily="34" charset="0"/>
                <a:cs typeface="Arial" pitchFamily="34" charset="0"/>
              </a:defRPr>
            </a:lvl1pPr>
          </a:lstStyle>
          <a:p>
            <a:r>
              <a:rPr lang="en-US" sz="800" cap="all">
                <a:solidFill>
                  <a:srgbClr val="939598"/>
                </a:solidFill>
              </a:rPr>
              <a:t>2011 LENOVO CONFIDENTIAL. All rights reserved.</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4AED87EB-65D7-4500-873C-410831173A82}" type="slidenum">
              <a:rPr lang="en-US" smtClean="0"/>
              <a:pPr/>
              <a:t>‹#›</a:t>
            </a:fld>
            <a:endParaRPr lang="en-US"/>
          </a:p>
        </p:txBody>
      </p:sp>
    </p:spTree>
    <p:extLst>
      <p:ext uri="{BB962C8B-B14F-4D97-AF65-F5344CB8AC3E}">
        <p14:creationId xmlns:p14="http://schemas.microsoft.com/office/powerpoint/2010/main" val="369331368"/>
      </p:ext>
    </p:extLst>
  </p:cSld>
  <p:clrMap bg1="lt1" tx1="dk1" bg2="lt2" tx2="dk2" accent1="accent1" accent2="accent2" accent3="accent3" accent4="accent4" accent5="accent5" accent6="accent6" hlink="hlink" folHlink="folHlink"/>
  <p:hf hdr="0" ftr="0" dt="0"/>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_White">
    <p:spTree>
      <p:nvGrpSpPr>
        <p:cNvPr id="1" name=""/>
        <p:cNvGrpSpPr/>
        <p:nvPr/>
      </p:nvGrpSpPr>
      <p:grpSpPr>
        <a:xfrm>
          <a:off x="0" y="0"/>
          <a:ext cx="0" cy="0"/>
          <a:chOff x="0" y="0"/>
          <a:chExt cx="0" cy="0"/>
        </a:xfrm>
      </p:grpSpPr>
      <p:sp>
        <p:nvSpPr>
          <p:cNvPr id="56" name="Title 16"/>
          <p:cNvSpPr>
            <a:spLocks noGrp="1"/>
          </p:cNvSpPr>
          <p:nvPr userDrawn="1">
            <p:ph type="title" hasCustomPrompt="1"/>
          </p:nvPr>
        </p:nvSpPr>
        <p:spPr bwMode="gray">
          <a:xfrm>
            <a:off x="750334" y="1527659"/>
            <a:ext cx="9912096" cy="3269709"/>
          </a:xfrm>
          <a:prstGeom prst="rect">
            <a:avLst/>
          </a:prstGeom>
        </p:spPr>
        <p:txBody>
          <a:bodyPr wrap="square" lIns="0" tIns="0" rIns="121899" bIns="0" anchor="b" anchorCtr="0"/>
          <a:lstStyle>
            <a:lvl1pPr marL="0" algn="l" defTabSz="1218987" rtl="0" eaLnBrk="1" latinLnBrk="0" hangingPunct="1">
              <a:lnSpc>
                <a:spcPct val="75000"/>
              </a:lnSpc>
              <a:spcBef>
                <a:spcPct val="0"/>
              </a:spcBef>
              <a:buNone/>
              <a:defRPr lang="en-US" sz="8000" b="1" kern="1200" cap="none" spc="-150" baseline="0" dirty="0">
                <a:solidFill>
                  <a:schemeClr val="tx1"/>
                </a:solidFill>
                <a:latin typeface="Arial" pitchFamily="34" charset="0"/>
                <a:ea typeface="+mn-ea"/>
                <a:cs typeface="Arial" pitchFamily="34" charset="0"/>
              </a:defRPr>
            </a:lvl1pPr>
          </a:lstStyle>
          <a:p>
            <a:r>
              <a:rPr lang="en-US" dirty="0"/>
              <a:t>Presentation</a:t>
            </a:r>
            <a:br>
              <a:rPr lang="en-US" dirty="0"/>
            </a:br>
            <a:r>
              <a:rPr lang="en-US" dirty="0"/>
              <a:t>title here</a:t>
            </a:r>
          </a:p>
        </p:txBody>
      </p:sp>
      <p:sp>
        <p:nvSpPr>
          <p:cNvPr id="55" name="Subtitle 2"/>
          <p:cNvSpPr>
            <a:spLocks noGrp="1"/>
          </p:cNvSpPr>
          <p:nvPr userDrawn="1">
            <p:ph type="subTitle" idx="1" hasCustomPrompt="1"/>
          </p:nvPr>
        </p:nvSpPr>
        <p:spPr bwMode="gray">
          <a:xfrm>
            <a:off x="760414" y="5046115"/>
            <a:ext cx="9912096" cy="356616"/>
          </a:xfrm>
          <a:prstGeom prst="rect">
            <a:avLst/>
          </a:prstGeom>
        </p:spPr>
        <p:txBody>
          <a:bodyPr lIns="0" tIns="0" rIns="0" bIns="0" anchor="t" anchorCtr="0">
            <a:noAutofit/>
          </a:bodyPr>
          <a:lstStyle>
            <a:lvl1pPr marL="0" indent="0" algn="l" defTabSz="1218987" rtl="0" eaLnBrk="1" latinLnBrk="0" hangingPunct="1">
              <a:lnSpc>
                <a:spcPct val="90000"/>
              </a:lnSpc>
              <a:spcBef>
                <a:spcPct val="0"/>
              </a:spcBef>
              <a:buNone/>
              <a:defRPr lang="en-US" sz="2600" b="0" kern="1200" cap="none" spc="0" baseline="0" dirty="0">
                <a:solidFill>
                  <a:schemeClr val="tx1"/>
                </a:solidFill>
                <a:latin typeface="Arial" pitchFamily="34" charset="0"/>
                <a:ea typeface="+mn-ea"/>
                <a:cs typeface="Arial" pitchFamily="34" charset="0"/>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Speaker Name | Date</a:t>
            </a:r>
          </a:p>
        </p:txBody>
      </p:sp>
      <p:grpSp>
        <p:nvGrpSpPr>
          <p:cNvPr id="14" name="Group 13">
            <a:extLst>
              <a:ext uri="{FF2B5EF4-FFF2-40B4-BE49-F238E27FC236}">
                <a16:creationId xmlns:a16="http://schemas.microsoft.com/office/drawing/2014/main" id="{DB6BD304-FAC7-4023-9B54-8984F7387559}"/>
              </a:ext>
            </a:extLst>
          </p:cNvPr>
          <p:cNvGrpSpPr>
            <a:grpSpLocks noChangeAspect="1"/>
          </p:cNvGrpSpPr>
          <p:nvPr userDrawn="1"/>
        </p:nvGrpSpPr>
        <p:grpSpPr>
          <a:xfrm rot="16200000">
            <a:off x="10149589" y="2542923"/>
            <a:ext cx="3058160" cy="1020314"/>
            <a:chOff x="547688" y="952500"/>
            <a:chExt cx="12190413" cy="4067175"/>
          </a:xfrm>
        </p:grpSpPr>
        <p:sp>
          <p:nvSpPr>
            <p:cNvPr id="15" name="Rectangle 14">
              <a:extLst>
                <a:ext uri="{FF2B5EF4-FFF2-40B4-BE49-F238E27FC236}">
                  <a16:creationId xmlns:a16="http://schemas.microsoft.com/office/drawing/2014/main" id="{1FBBDE3D-E4E2-42E5-9F26-00C1500EFD63}"/>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27C222CE-31C9-4AE2-A9DE-A34ECC37F011}"/>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8">
              <a:extLst>
                <a:ext uri="{FF2B5EF4-FFF2-40B4-BE49-F238E27FC236}">
                  <a16:creationId xmlns:a16="http://schemas.microsoft.com/office/drawing/2014/main" id="{710DBB3B-7FB8-4ACB-8FA4-3F2A105B9B9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9">
              <a:extLst>
                <a:ext uri="{FF2B5EF4-FFF2-40B4-BE49-F238E27FC236}">
                  <a16:creationId xmlns:a16="http://schemas.microsoft.com/office/drawing/2014/main" id="{3E443DA7-CC51-4460-98C4-193A7375074F}"/>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0">
              <a:extLst>
                <a:ext uri="{FF2B5EF4-FFF2-40B4-BE49-F238E27FC236}">
                  <a16:creationId xmlns:a16="http://schemas.microsoft.com/office/drawing/2014/main" id="{E1BCDB13-2B5A-46EC-B1D6-C526DEAA84B4}"/>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8EDDE8EA-BE8E-4066-AB4A-21CD2743549A}"/>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EF442D16-F34F-4D4E-A65A-8C3BC17F2FCE}"/>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2" name="Freeform 5">
            <a:extLst>
              <a:ext uri="{FF2B5EF4-FFF2-40B4-BE49-F238E27FC236}">
                <a16:creationId xmlns:a16="http://schemas.microsoft.com/office/drawing/2014/main" id="{B3FDD5DD-E6F7-480C-BC0C-F6AC555BF174}"/>
              </a:ext>
            </a:extLst>
          </p:cNvPr>
          <p:cNvSpPr>
            <a:spLocks noChangeAspect="1" noEditPoints="1"/>
          </p:cNvSpPr>
          <p:nvPr userDrawn="1"/>
        </p:nvSpPr>
        <p:spPr bwMode="auto">
          <a:xfrm>
            <a:off x="750334" y="762000"/>
            <a:ext cx="3941064"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rgbClr val="4D144A"/>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DA9A565C-19D2-6A1D-C633-97A18080157B}"/>
              </a:ext>
            </a:extLst>
          </p:cNvPr>
          <p:cNvSpPr txBox="1"/>
          <p:nvPr userDrawn="1"/>
        </p:nvSpPr>
        <p:spPr>
          <a:xfrm>
            <a:off x="750334" y="6401580"/>
            <a:ext cx="4114800" cy="153888"/>
          </a:xfrm>
          <a:prstGeom prst="rect">
            <a:avLst/>
          </a:prstGeom>
          <a:noFill/>
        </p:spPr>
        <p:txBody>
          <a:bodyPr wrap="square" lIns="0" tIns="0" rIns="0" bIns="0" rtlCol="0">
            <a:spAutoFit/>
          </a:bodyPr>
          <a:lstStyle/>
          <a:p>
            <a:r>
              <a:rPr lang="en-US" sz="1000" dirty="0">
                <a:latin typeface="Arial" pitchFamily="34" charset="0"/>
                <a:cs typeface="Arial" pitchFamily="34" charset="0"/>
              </a:rPr>
              <a:t>2026 Lenovo Restricted. All rights reserved.</a:t>
            </a:r>
          </a:p>
        </p:txBody>
      </p:sp>
      <p:sp>
        <p:nvSpPr>
          <p:cNvPr id="3" name="Rectangle 2">
            <a:extLst>
              <a:ext uri="{FF2B5EF4-FFF2-40B4-BE49-F238E27FC236}">
                <a16:creationId xmlns:a16="http://schemas.microsoft.com/office/drawing/2014/main" id="{9A15045D-8CC4-0933-85E3-4899DDBC59EE}"/>
              </a:ext>
            </a:extLst>
          </p:cNvPr>
          <p:cNvSpPr/>
          <p:nvPr userDrawn="1"/>
        </p:nvSpPr>
        <p:spPr>
          <a:xfrm>
            <a:off x="745571" y="6568225"/>
            <a:ext cx="8534399" cy="138499"/>
          </a:xfrm>
          <a:prstGeom prst="rect">
            <a:avLst/>
          </a:prstGeom>
        </p:spPr>
        <p:txBody>
          <a:bodyPr wrap="square" lIns="0" tIns="0" rIns="0" bIns="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itchFamily="34" charset="0"/>
              </a:rPr>
              <a:t>This document is Lenovo restricted and intended for viewing by and distribution to only designated individuals or positions. Duplication/reproduction prohibited.</a:t>
            </a:r>
          </a:p>
        </p:txBody>
      </p:sp>
    </p:spTree>
    <p:extLst>
      <p:ext uri="{BB962C8B-B14F-4D97-AF65-F5344CB8AC3E}">
        <p14:creationId xmlns:p14="http://schemas.microsoft.com/office/powerpoint/2010/main" val="2159529995"/>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Black">
    <p:bg>
      <p:bgPr>
        <a:solidFill>
          <a:srgbClr val="1E0113"/>
        </a:solidFill>
        <a:effectLst/>
      </p:bgPr>
    </p:bg>
    <p:spTree>
      <p:nvGrpSpPr>
        <p:cNvPr id="1" name=""/>
        <p:cNvGrpSpPr/>
        <p:nvPr/>
      </p:nvGrpSpPr>
      <p:grpSpPr>
        <a:xfrm>
          <a:off x="0" y="0"/>
          <a:ext cx="0" cy="0"/>
          <a:chOff x="0" y="0"/>
          <a:chExt cx="0" cy="0"/>
        </a:xfrm>
      </p:grpSpPr>
      <p:sp>
        <p:nvSpPr>
          <p:cNvPr id="56" name="Title 16"/>
          <p:cNvSpPr>
            <a:spLocks noGrp="1"/>
          </p:cNvSpPr>
          <p:nvPr userDrawn="1">
            <p:ph type="title" hasCustomPrompt="1"/>
          </p:nvPr>
        </p:nvSpPr>
        <p:spPr bwMode="gray">
          <a:xfrm>
            <a:off x="750334" y="1527659"/>
            <a:ext cx="9912096" cy="3269709"/>
          </a:xfrm>
          <a:prstGeom prst="rect">
            <a:avLst/>
          </a:prstGeom>
        </p:spPr>
        <p:txBody>
          <a:bodyPr wrap="square" lIns="0" tIns="0" rIns="121899" bIns="0" anchor="b" anchorCtr="0"/>
          <a:lstStyle>
            <a:lvl1pPr marL="0" algn="l" defTabSz="1218987" rtl="0" eaLnBrk="1" latinLnBrk="0" hangingPunct="1">
              <a:lnSpc>
                <a:spcPct val="75000"/>
              </a:lnSpc>
              <a:spcBef>
                <a:spcPct val="0"/>
              </a:spcBef>
              <a:buNone/>
              <a:defRPr lang="en-US" sz="8000" b="1" kern="1200" cap="none" spc="-150" baseline="0" dirty="0">
                <a:solidFill>
                  <a:schemeClr val="bg1"/>
                </a:solidFill>
                <a:latin typeface="Arial" pitchFamily="34" charset="0"/>
                <a:ea typeface="+mn-ea"/>
                <a:cs typeface="Arial" pitchFamily="34" charset="0"/>
              </a:defRPr>
            </a:lvl1pPr>
          </a:lstStyle>
          <a:p>
            <a:r>
              <a:rPr lang="en-US"/>
              <a:t>Presentation</a:t>
            </a:r>
            <a:br>
              <a:rPr lang="en-US"/>
            </a:br>
            <a:r>
              <a:rPr lang="en-US"/>
              <a:t>title here</a:t>
            </a:r>
          </a:p>
        </p:txBody>
      </p:sp>
      <p:sp>
        <p:nvSpPr>
          <p:cNvPr id="55" name="Subtitle 2"/>
          <p:cNvSpPr>
            <a:spLocks noGrp="1"/>
          </p:cNvSpPr>
          <p:nvPr userDrawn="1">
            <p:ph type="subTitle" idx="1" hasCustomPrompt="1"/>
          </p:nvPr>
        </p:nvSpPr>
        <p:spPr bwMode="gray">
          <a:xfrm>
            <a:off x="760414" y="5046115"/>
            <a:ext cx="9912096" cy="356616"/>
          </a:xfrm>
          <a:prstGeom prst="rect">
            <a:avLst/>
          </a:prstGeom>
        </p:spPr>
        <p:txBody>
          <a:bodyPr lIns="0" tIns="0" rIns="0" bIns="0" anchor="t" anchorCtr="0">
            <a:noAutofit/>
          </a:bodyPr>
          <a:lstStyle>
            <a:lvl1pPr marL="0" indent="0" algn="l" defTabSz="1218987" rtl="0" eaLnBrk="1" latinLnBrk="0" hangingPunct="1">
              <a:lnSpc>
                <a:spcPct val="90000"/>
              </a:lnSpc>
              <a:spcBef>
                <a:spcPct val="0"/>
              </a:spcBef>
              <a:buNone/>
              <a:defRPr lang="en-US" sz="2600" b="0" kern="1200" cap="none" spc="0" baseline="0" dirty="0">
                <a:solidFill>
                  <a:schemeClr val="bg1"/>
                </a:solidFill>
                <a:latin typeface="Arial" pitchFamily="34" charset="0"/>
                <a:ea typeface="+mn-ea"/>
                <a:cs typeface="Arial" pitchFamily="34" charset="0"/>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Speaker Name | Date</a:t>
            </a:r>
          </a:p>
        </p:txBody>
      </p:sp>
      <p:grpSp>
        <p:nvGrpSpPr>
          <p:cNvPr id="14" name="Group 13">
            <a:extLst>
              <a:ext uri="{FF2B5EF4-FFF2-40B4-BE49-F238E27FC236}">
                <a16:creationId xmlns:a16="http://schemas.microsoft.com/office/drawing/2014/main" id="{DB6BD304-FAC7-4023-9B54-8984F7387559}"/>
              </a:ext>
            </a:extLst>
          </p:cNvPr>
          <p:cNvGrpSpPr>
            <a:grpSpLocks noChangeAspect="1"/>
          </p:cNvGrpSpPr>
          <p:nvPr userDrawn="1"/>
        </p:nvGrpSpPr>
        <p:grpSpPr>
          <a:xfrm rot="16200000">
            <a:off x="10149589" y="2542923"/>
            <a:ext cx="3058160" cy="1020314"/>
            <a:chOff x="547688" y="952500"/>
            <a:chExt cx="12190413" cy="4067175"/>
          </a:xfrm>
        </p:grpSpPr>
        <p:sp>
          <p:nvSpPr>
            <p:cNvPr id="15" name="Rectangle 14">
              <a:extLst>
                <a:ext uri="{FF2B5EF4-FFF2-40B4-BE49-F238E27FC236}">
                  <a16:creationId xmlns:a16="http://schemas.microsoft.com/office/drawing/2014/main" id="{1FBBDE3D-E4E2-42E5-9F26-00C1500EFD63}"/>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27C222CE-31C9-4AE2-A9DE-A34ECC37F011}"/>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8">
              <a:extLst>
                <a:ext uri="{FF2B5EF4-FFF2-40B4-BE49-F238E27FC236}">
                  <a16:creationId xmlns:a16="http://schemas.microsoft.com/office/drawing/2014/main" id="{710DBB3B-7FB8-4ACB-8FA4-3F2A105B9B9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9">
              <a:extLst>
                <a:ext uri="{FF2B5EF4-FFF2-40B4-BE49-F238E27FC236}">
                  <a16:creationId xmlns:a16="http://schemas.microsoft.com/office/drawing/2014/main" id="{3E443DA7-CC51-4460-98C4-193A7375074F}"/>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0">
              <a:extLst>
                <a:ext uri="{FF2B5EF4-FFF2-40B4-BE49-F238E27FC236}">
                  <a16:creationId xmlns:a16="http://schemas.microsoft.com/office/drawing/2014/main" id="{E1BCDB13-2B5A-46EC-B1D6-C526DEAA84B4}"/>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8EDDE8EA-BE8E-4066-AB4A-21CD2743549A}"/>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EF442D16-F34F-4D4E-A65A-8C3BC17F2FCE}"/>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2" name="Freeform 5">
            <a:extLst>
              <a:ext uri="{FF2B5EF4-FFF2-40B4-BE49-F238E27FC236}">
                <a16:creationId xmlns:a16="http://schemas.microsoft.com/office/drawing/2014/main" id="{B3FDD5DD-E6F7-480C-BC0C-F6AC555BF174}"/>
              </a:ext>
            </a:extLst>
          </p:cNvPr>
          <p:cNvSpPr>
            <a:spLocks noChangeAspect="1" noEditPoints="1"/>
          </p:cNvSpPr>
          <p:nvPr userDrawn="1"/>
        </p:nvSpPr>
        <p:spPr bwMode="auto">
          <a:xfrm>
            <a:off x="750334" y="762000"/>
            <a:ext cx="3941064"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3BEA120E-6723-C020-D029-69C7AB8E3D17}"/>
              </a:ext>
            </a:extLst>
          </p:cNvPr>
          <p:cNvSpPr txBox="1"/>
          <p:nvPr userDrawn="1"/>
        </p:nvSpPr>
        <p:spPr>
          <a:xfrm>
            <a:off x="750334" y="6401580"/>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2026 Lenovo Restricted. All rights reserved.</a:t>
            </a:r>
          </a:p>
        </p:txBody>
      </p:sp>
      <p:sp>
        <p:nvSpPr>
          <p:cNvPr id="3" name="Rectangle 2">
            <a:extLst>
              <a:ext uri="{FF2B5EF4-FFF2-40B4-BE49-F238E27FC236}">
                <a16:creationId xmlns:a16="http://schemas.microsoft.com/office/drawing/2014/main" id="{305D0FED-63D1-F756-AA52-228FCF94EBA7}"/>
              </a:ext>
            </a:extLst>
          </p:cNvPr>
          <p:cNvSpPr/>
          <p:nvPr userDrawn="1"/>
        </p:nvSpPr>
        <p:spPr>
          <a:xfrm>
            <a:off x="745571" y="6568225"/>
            <a:ext cx="8534399" cy="138499"/>
          </a:xfrm>
          <a:prstGeom prst="rect">
            <a:avLst/>
          </a:prstGeom>
        </p:spPr>
        <p:txBody>
          <a:bodyPr wrap="square" lIns="0" tIns="0" rIns="0" bIns="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Arial" pitchFamily="34" charset="0"/>
              </a:rPr>
              <a:t>This document is Lenovo restricted and intended for viewing by and distribution to only designated individuals or positions. Duplication/reproduction prohibited.</a:t>
            </a:r>
          </a:p>
        </p:txBody>
      </p:sp>
    </p:spTree>
    <p:extLst>
      <p:ext uri="{BB962C8B-B14F-4D97-AF65-F5344CB8AC3E}">
        <p14:creationId xmlns:p14="http://schemas.microsoft.com/office/powerpoint/2010/main" val="393145767"/>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_White">
    <p:bg>
      <p:bgPr>
        <a:solidFill>
          <a:schemeClr val="bg1"/>
        </a:solidFill>
        <a:effectLst/>
      </p:bgPr>
    </p:bg>
    <p:spTree>
      <p:nvGrpSpPr>
        <p:cNvPr id="1" name=""/>
        <p:cNvGrpSpPr/>
        <p:nvPr/>
      </p:nvGrpSpPr>
      <p:grpSpPr>
        <a:xfrm>
          <a:off x="0" y="0"/>
          <a:ext cx="0" cy="0"/>
          <a:chOff x="0" y="0"/>
          <a:chExt cx="0" cy="0"/>
        </a:xfrm>
      </p:grpSpPr>
      <p:sp>
        <p:nvSpPr>
          <p:cNvPr id="46" name="Title 16"/>
          <p:cNvSpPr>
            <a:spLocks noGrp="1"/>
          </p:cNvSpPr>
          <p:nvPr>
            <p:ph type="title" hasCustomPrompt="1"/>
          </p:nvPr>
        </p:nvSpPr>
        <p:spPr bwMode="gray">
          <a:xfrm>
            <a:off x="750333" y="1549491"/>
            <a:ext cx="9912096" cy="2405203"/>
          </a:xfrm>
          <a:prstGeom prst="rect">
            <a:avLst/>
          </a:prstGeom>
        </p:spPr>
        <p:txBody>
          <a:bodyPr lIns="0" tIns="0" rIns="0" bIns="0" anchor="b" anchorCtr="0"/>
          <a:lstStyle>
            <a:lvl1pPr marL="0" algn="l" defTabSz="1218987" rtl="0" eaLnBrk="1" latinLnBrk="0" hangingPunct="1">
              <a:lnSpc>
                <a:spcPct val="75000"/>
              </a:lnSpc>
              <a:spcBef>
                <a:spcPct val="0"/>
              </a:spcBef>
              <a:buNone/>
              <a:defRPr lang="en-US" sz="6000" b="1" kern="1200" cap="none" spc="-150" baseline="0" dirty="0">
                <a:solidFill>
                  <a:schemeClr val="tx1"/>
                </a:solidFill>
                <a:latin typeface="Arial" pitchFamily="34" charset="0"/>
                <a:ea typeface="+mn-ea"/>
                <a:cs typeface="Arial" pitchFamily="34" charset="0"/>
              </a:defRPr>
            </a:lvl1pPr>
          </a:lstStyle>
          <a:p>
            <a:r>
              <a:rPr lang="en-US"/>
              <a:t>Section header</a:t>
            </a:r>
          </a:p>
        </p:txBody>
      </p:sp>
      <p:sp>
        <p:nvSpPr>
          <p:cNvPr id="11" name="Text Placeholder 2"/>
          <p:cNvSpPr>
            <a:spLocks noGrp="1"/>
          </p:cNvSpPr>
          <p:nvPr>
            <p:ph type="body" idx="1" hasCustomPrompt="1"/>
          </p:nvPr>
        </p:nvSpPr>
        <p:spPr bwMode="white">
          <a:xfrm>
            <a:off x="750333" y="4328649"/>
            <a:ext cx="9912096" cy="327013"/>
          </a:xfrm>
          <a:prstGeom prst="rect">
            <a:avLst/>
          </a:prstGeom>
        </p:spPr>
        <p:txBody>
          <a:bodyPr wrap="square" lIns="0" tIns="0" rIns="0" bIns="0" anchor="t" anchorCtr="0">
            <a:spAutoFit/>
          </a:bodyPr>
          <a:lstStyle>
            <a:lvl1pPr marL="0" indent="0">
              <a:lnSpc>
                <a:spcPct val="85000"/>
              </a:lnSpc>
              <a:spcBef>
                <a:spcPts val="0"/>
              </a:spcBef>
              <a:buNone/>
              <a:defRPr sz="2500" spc="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 here</a:t>
            </a:r>
          </a:p>
        </p:txBody>
      </p:sp>
      <p:sp>
        <p:nvSpPr>
          <p:cNvPr id="5" name="Slide Number Placeholder 4">
            <a:extLst>
              <a:ext uri="{FF2B5EF4-FFF2-40B4-BE49-F238E27FC236}">
                <a16:creationId xmlns:a16="http://schemas.microsoft.com/office/drawing/2014/main" id="{E7C22F89-ADF9-0A52-8877-914CA372E2DE}"/>
              </a:ext>
            </a:extLst>
          </p:cNvPr>
          <p:cNvSpPr>
            <a:spLocks noGrp="1"/>
          </p:cNvSpPr>
          <p:nvPr>
            <p:ph type="sldNum" sz="quarter" idx="10"/>
          </p:nvPr>
        </p:nvSpPr>
        <p:spPr/>
        <p:txBody>
          <a:bodyPr/>
          <a:lstStyle>
            <a:lvl1pPr>
              <a:defRPr>
                <a:solidFill>
                  <a:schemeClr val="tx1"/>
                </a:solidFill>
              </a:defRPr>
            </a:lvl1pPr>
          </a:lstStyle>
          <a:p>
            <a:fld id="{6D22F896-40B5-4ADD-8801-0D06FADFA095}" type="slidenum">
              <a:rPr lang="en-US" smtClean="0"/>
              <a:pPr/>
              <a:t>‹#›</a:t>
            </a:fld>
            <a:endParaRPr lang="en-US"/>
          </a:p>
        </p:txBody>
      </p:sp>
      <p:sp>
        <p:nvSpPr>
          <p:cNvPr id="2" name="TextBox 1">
            <a:extLst>
              <a:ext uri="{FF2B5EF4-FFF2-40B4-BE49-F238E27FC236}">
                <a16:creationId xmlns:a16="http://schemas.microsoft.com/office/drawing/2014/main" id="{3E1CB3FA-A40E-89BA-D9B4-612659A1D7F8}"/>
              </a:ext>
            </a:extLst>
          </p:cNvPr>
          <p:cNvSpPr txBox="1"/>
          <p:nvPr userDrawn="1"/>
        </p:nvSpPr>
        <p:spPr>
          <a:xfrm>
            <a:off x="1602289" y="6401580"/>
            <a:ext cx="4114800" cy="153888"/>
          </a:xfrm>
          <a:prstGeom prst="rect">
            <a:avLst/>
          </a:prstGeom>
          <a:noFill/>
        </p:spPr>
        <p:txBody>
          <a:bodyPr wrap="square" lIns="0" tIns="0" rIns="0" bIns="0" rtlCol="0">
            <a:spAutoFit/>
          </a:bodyPr>
          <a:lstStyle/>
          <a:p>
            <a:r>
              <a:rPr lang="en-US" sz="1000" dirty="0">
                <a:latin typeface="Arial" pitchFamily="34" charset="0"/>
                <a:cs typeface="Arial" pitchFamily="34" charset="0"/>
              </a:rPr>
              <a:t>2026 Lenovo Restricted. All rights reserved.</a:t>
            </a:r>
          </a:p>
        </p:txBody>
      </p:sp>
      <p:grpSp>
        <p:nvGrpSpPr>
          <p:cNvPr id="3" name="Group 2">
            <a:extLst>
              <a:ext uri="{FF2B5EF4-FFF2-40B4-BE49-F238E27FC236}">
                <a16:creationId xmlns:a16="http://schemas.microsoft.com/office/drawing/2014/main" id="{FB68E53D-8D38-4B99-06F1-FB4045C1E803}"/>
              </a:ext>
            </a:extLst>
          </p:cNvPr>
          <p:cNvGrpSpPr>
            <a:grpSpLocks noChangeAspect="1"/>
          </p:cNvGrpSpPr>
          <p:nvPr userDrawn="1"/>
        </p:nvGrpSpPr>
        <p:grpSpPr>
          <a:xfrm>
            <a:off x="760413" y="6348283"/>
            <a:ext cx="777240" cy="259316"/>
            <a:chOff x="547688" y="952500"/>
            <a:chExt cx="12190413" cy="4067175"/>
          </a:xfrm>
        </p:grpSpPr>
        <p:sp>
          <p:nvSpPr>
            <p:cNvPr id="4" name="Rectangle 3">
              <a:extLst>
                <a:ext uri="{FF2B5EF4-FFF2-40B4-BE49-F238E27FC236}">
                  <a16:creationId xmlns:a16="http://schemas.microsoft.com/office/drawing/2014/main" id="{7B980263-2916-F21B-C57E-4D2C5D0C6879}"/>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7">
              <a:extLst>
                <a:ext uri="{FF2B5EF4-FFF2-40B4-BE49-F238E27FC236}">
                  <a16:creationId xmlns:a16="http://schemas.microsoft.com/office/drawing/2014/main" id="{9963EF3A-E5EB-BF83-AE65-6242B1661D00}"/>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8">
              <a:extLst>
                <a:ext uri="{FF2B5EF4-FFF2-40B4-BE49-F238E27FC236}">
                  <a16:creationId xmlns:a16="http://schemas.microsoft.com/office/drawing/2014/main" id="{8E894888-D539-48CF-7E80-4B30A55764E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9">
              <a:extLst>
                <a:ext uri="{FF2B5EF4-FFF2-40B4-BE49-F238E27FC236}">
                  <a16:creationId xmlns:a16="http://schemas.microsoft.com/office/drawing/2014/main" id="{A681269A-84EF-7A74-26C2-AA9D63BF38D7}"/>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10">
              <a:extLst>
                <a:ext uri="{FF2B5EF4-FFF2-40B4-BE49-F238E27FC236}">
                  <a16:creationId xmlns:a16="http://schemas.microsoft.com/office/drawing/2014/main" id="{A46570AB-4E06-E508-810C-A8843C51D4F5}"/>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a:extLst>
                <a:ext uri="{FF2B5EF4-FFF2-40B4-BE49-F238E27FC236}">
                  <a16:creationId xmlns:a16="http://schemas.microsoft.com/office/drawing/2014/main" id="{E4BCE35C-5FE5-30D2-825F-5F6BD7E2E562}"/>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1">
              <a:extLst>
                <a:ext uri="{FF2B5EF4-FFF2-40B4-BE49-F238E27FC236}">
                  <a16:creationId xmlns:a16="http://schemas.microsoft.com/office/drawing/2014/main" id="{84957B54-C991-1A8F-6F65-A7A27118B92B}"/>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1866921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_Black">
    <p:bg>
      <p:bgPr>
        <a:solidFill>
          <a:srgbClr val="1E0113"/>
        </a:solidFill>
        <a:effectLst/>
      </p:bgPr>
    </p:bg>
    <p:spTree>
      <p:nvGrpSpPr>
        <p:cNvPr id="1" name=""/>
        <p:cNvGrpSpPr/>
        <p:nvPr/>
      </p:nvGrpSpPr>
      <p:grpSpPr>
        <a:xfrm>
          <a:off x="0" y="0"/>
          <a:ext cx="0" cy="0"/>
          <a:chOff x="0" y="0"/>
          <a:chExt cx="0" cy="0"/>
        </a:xfrm>
      </p:grpSpPr>
      <p:pic>
        <p:nvPicPr>
          <p:cNvPr id="2" name="Picture 1" descr="Circle&#10;&#10;Description automatically generated">
            <a:extLst>
              <a:ext uri="{FF2B5EF4-FFF2-40B4-BE49-F238E27FC236}">
                <a16:creationId xmlns:a16="http://schemas.microsoft.com/office/drawing/2014/main" id="{4242233C-A47C-0EEA-626B-61501CAEC395}"/>
              </a:ext>
            </a:extLst>
          </p:cNvPr>
          <p:cNvPicPr>
            <a:picLocks noChangeAspect="1"/>
          </p:cNvPicPr>
          <p:nvPr userDrawn="1"/>
        </p:nvPicPr>
        <p:blipFill>
          <a:blip r:embed="rId2"/>
          <a:stretch>
            <a:fillRect/>
          </a:stretch>
        </p:blipFill>
        <p:spPr>
          <a:xfrm>
            <a:off x="218" y="0"/>
            <a:ext cx="12188389" cy="6858000"/>
          </a:xfrm>
          <a:prstGeom prst="rect">
            <a:avLst/>
          </a:prstGeom>
        </p:spPr>
      </p:pic>
      <p:sp>
        <p:nvSpPr>
          <p:cNvPr id="16" name="TextBox 15">
            <a:extLst>
              <a:ext uri="{FF2B5EF4-FFF2-40B4-BE49-F238E27FC236}">
                <a16:creationId xmlns:a16="http://schemas.microsoft.com/office/drawing/2014/main" id="{89C3EB64-A851-71DD-8882-1FDB7C2E99CB}"/>
              </a:ext>
            </a:extLst>
          </p:cNvPr>
          <p:cNvSpPr txBox="1"/>
          <p:nvPr userDrawn="1"/>
        </p:nvSpPr>
        <p:spPr>
          <a:xfrm>
            <a:off x="1602389" y="6401580"/>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2026 Lenovo Restricted. All rights reserved.</a:t>
            </a:r>
          </a:p>
        </p:txBody>
      </p:sp>
      <p:grpSp>
        <p:nvGrpSpPr>
          <p:cNvPr id="17" name="Group 16">
            <a:extLst>
              <a:ext uri="{FF2B5EF4-FFF2-40B4-BE49-F238E27FC236}">
                <a16:creationId xmlns:a16="http://schemas.microsoft.com/office/drawing/2014/main" id="{76E4C2BE-620B-6B7D-1426-F9CB0B9DB688}"/>
              </a:ext>
            </a:extLst>
          </p:cNvPr>
          <p:cNvGrpSpPr>
            <a:grpSpLocks noChangeAspect="1"/>
          </p:cNvGrpSpPr>
          <p:nvPr userDrawn="1"/>
        </p:nvGrpSpPr>
        <p:grpSpPr>
          <a:xfrm>
            <a:off x="760413" y="6348283"/>
            <a:ext cx="777240" cy="259316"/>
            <a:chOff x="547688" y="952500"/>
            <a:chExt cx="12190413" cy="4067175"/>
          </a:xfrm>
        </p:grpSpPr>
        <p:sp>
          <p:nvSpPr>
            <p:cNvPr id="18" name="Rectangle 17">
              <a:extLst>
                <a:ext uri="{FF2B5EF4-FFF2-40B4-BE49-F238E27FC236}">
                  <a16:creationId xmlns:a16="http://schemas.microsoft.com/office/drawing/2014/main" id="{7C002FA1-87AB-10E7-DF14-BCD2904245D0}"/>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7">
              <a:extLst>
                <a:ext uri="{FF2B5EF4-FFF2-40B4-BE49-F238E27FC236}">
                  <a16:creationId xmlns:a16="http://schemas.microsoft.com/office/drawing/2014/main" id="{AFC16D85-BEED-1820-DFF9-5D8B0AACAC23}"/>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8">
              <a:extLst>
                <a:ext uri="{FF2B5EF4-FFF2-40B4-BE49-F238E27FC236}">
                  <a16:creationId xmlns:a16="http://schemas.microsoft.com/office/drawing/2014/main" id="{1F2566FE-64C0-16F6-945D-2961668799EB}"/>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9">
              <a:extLst>
                <a:ext uri="{FF2B5EF4-FFF2-40B4-BE49-F238E27FC236}">
                  <a16:creationId xmlns:a16="http://schemas.microsoft.com/office/drawing/2014/main" id="{D3B60C47-FE53-B519-B5B0-91907EAADB5E}"/>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0">
              <a:extLst>
                <a:ext uri="{FF2B5EF4-FFF2-40B4-BE49-F238E27FC236}">
                  <a16:creationId xmlns:a16="http://schemas.microsoft.com/office/drawing/2014/main" id="{51BD7309-4598-0B4D-F955-25A4778655B5}"/>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3AB317A1-606F-084E-CD32-A64A53D259C5}"/>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1">
              <a:extLst>
                <a:ext uri="{FF2B5EF4-FFF2-40B4-BE49-F238E27FC236}">
                  <a16:creationId xmlns:a16="http://schemas.microsoft.com/office/drawing/2014/main" id="{3ECEF077-D5E5-A906-C26A-748935BA5E8F}"/>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6" name="Title 16"/>
          <p:cNvSpPr>
            <a:spLocks noGrp="1"/>
          </p:cNvSpPr>
          <p:nvPr>
            <p:ph type="title" hasCustomPrompt="1"/>
          </p:nvPr>
        </p:nvSpPr>
        <p:spPr bwMode="gray">
          <a:xfrm>
            <a:off x="750333" y="1549491"/>
            <a:ext cx="9921240" cy="2405203"/>
          </a:xfrm>
          <a:prstGeom prst="rect">
            <a:avLst/>
          </a:prstGeom>
        </p:spPr>
        <p:txBody>
          <a:bodyPr lIns="0" tIns="0" rIns="0" bIns="0" anchor="b" anchorCtr="0"/>
          <a:lstStyle>
            <a:lvl1pPr marL="0" algn="l" defTabSz="1218987" rtl="0" eaLnBrk="1" latinLnBrk="0" hangingPunct="1">
              <a:lnSpc>
                <a:spcPct val="75000"/>
              </a:lnSpc>
              <a:spcBef>
                <a:spcPct val="0"/>
              </a:spcBef>
              <a:buNone/>
              <a:defRPr lang="en-US" sz="6000" b="1" kern="1200" cap="none" spc="-150" baseline="0" dirty="0">
                <a:solidFill>
                  <a:schemeClr val="bg1"/>
                </a:solidFill>
                <a:latin typeface="Arial" pitchFamily="34" charset="0"/>
                <a:ea typeface="+mn-ea"/>
                <a:cs typeface="Arial" pitchFamily="34" charset="0"/>
              </a:defRPr>
            </a:lvl1pPr>
          </a:lstStyle>
          <a:p>
            <a:r>
              <a:rPr lang="en-US"/>
              <a:t>Section header</a:t>
            </a:r>
          </a:p>
        </p:txBody>
      </p:sp>
      <p:sp>
        <p:nvSpPr>
          <p:cNvPr id="11" name="Text Placeholder 2"/>
          <p:cNvSpPr>
            <a:spLocks noGrp="1"/>
          </p:cNvSpPr>
          <p:nvPr>
            <p:ph type="body" idx="1" hasCustomPrompt="1"/>
          </p:nvPr>
        </p:nvSpPr>
        <p:spPr bwMode="white">
          <a:xfrm>
            <a:off x="750333" y="4328649"/>
            <a:ext cx="9921240" cy="327013"/>
          </a:xfrm>
          <a:prstGeom prst="rect">
            <a:avLst/>
          </a:prstGeom>
        </p:spPr>
        <p:txBody>
          <a:bodyPr wrap="square" lIns="0" tIns="0" rIns="0" bIns="0" anchor="t" anchorCtr="0">
            <a:spAutoFit/>
          </a:bodyPr>
          <a:lstStyle>
            <a:lvl1pPr marL="0" indent="0">
              <a:lnSpc>
                <a:spcPct val="85000"/>
              </a:lnSpc>
              <a:spcBef>
                <a:spcPts val="0"/>
              </a:spcBef>
              <a:buNone/>
              <a:defRPr sz="2500" spc="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 here</a:t>
            </a:r>
          </a:p>
        </p:txBody>
      </p:sp>
      <p:sp>
        <p:nvSpPr>
          <p:cNvPr id="5" name="Slide Number Placeholder 4">
            <a:extLst>
              <a:ext uri="{FF2B5EF4-FFF2-40B4-BE49-F238E27FC236}">
                <a16:creationId xmlns:a16="http://schemas.microsoft.com/office/drawing/2014/main" id="{E7C22F89-ADF9-0A52-8877-914CA372E2DE}"/>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3483278037"/>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1" name="Title 28"/>
          <p:cNvSpPr>
            <a:spLocks noGrp="1"/>
          </p:cNvSpPr>
          <p:nvPr>
            <p:ph type="title" hasCustomPrompt="1"/>
          </p:nvPr>
        </p:nvSpPr>
        <p:spPr bwMode="gray">
          <a:xfrm>
            <a:off x="760412" y="442528"/>
            <a:ext cx="10668001"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99A0C0A2-1C95-CF60-15E7-57B445A89924}"/>
              </a:ext>
            </a:extLst>
          </p:cNvPr>
          <p:cNvSpPr>
            <a:spLocks noGrp="1"/>
          </p:cNvSpPr>
          <p:nvPr>
            <p:ph type="sldNum" sz="quarter" idx="10"/>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809395853"/>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9C9F70BD-BE54-1A3C-E602-C4BED9883610}"/>
              </a:ext>
            </a:extLst>
          </p:cNvPr>
          <p:cNvPicPr>
            <a:picLocks noChangeAspect="1"/>
          </p:cNvPicPr>
          <p:nvPr userDrawn="1"/>
        </p:nvPicPr>
        <p:blipFill>
          <a:blip r:embed="rId2"/>
          <a:stretch>
            <a:fillRect/>
          </a:stretch>
        </p:blipFill>
        <p:spPr>
          <a:xfrm>
            <a:off x="218" y="0"/>
            <a:ext cx="12188389" cy="6858000"/>
          </a:xfrm>
          <a:prstGeom prst="rect">
            <a:avLst/>
          </a:prstGeom>
        </p:spPr>
      </p:pic>
      <p:sp>
        <p:nvSpPr>
          <p:cNvPr id="21" name="Title 28"/>
          <p:cNvSpPr>
            <a:spLocks noGrp="1"/>
          </p:cNvSpPr>
          <p:nvPr>
            <p:ph type="title" hasCustomPrompt="1"/>
          </p:nvPr>
        </p:nvSpPr>
        <p:spPr bwMode="gray">
          <a:xfrm>
            <a:off x="760412" y="442528"/>
            <a:ext cx="10668001"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A245D89D-54AB-A7D6-4141-95E6B3C3695D}"/>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2290322121"/>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Subtitle Only">
    <p:bg>
      <p:bgPr>
        <a:solidFill>
          <a:schemeClr val="bg1"/>
        </a:solidFill>
        <a:effectLst/>
      </p:bgPr>
    </p:bg>
    <p:spTree>
      <p:nvGrpSpPr>
        <p:cNvPr id="1" name=""/>
        <p:cNvGrpSpPr/>
        <p:nvPr/>
      </p:nvGrpSpPr>
      <p:grpSpPr>
        <a:xfrm>
          <a:off x="0" y="0"/>
          <a:ext cx="0" cy="0"/>
          <a:chOff x="0" y="0"/>
          <a:chExt cx="0" cy="0"/>
        </a:xfrm>
      </p:grpSpPr>
      <p:sp>
        <p:nvSpPr>
          <p:cNvPr id="23" name="Text Placeholder 2"/>
          <p:cNvSpPr>
            <a:spLocks noGrp="1"/>
          </p:cNvSpPr>
          <p:nvPr>
            <p:ph type="body" idx="10" hasCustomPrompt="1"/>
          </p:nvPr>
        </p:nvSpPr>
        <p:spPr bwMode="gray">
          <a:xfrm>
            <a:off x="760412" y="931563"/>
            <a:ext cx="10671048" cy="261610"/>
          </a:xfrm>
          <a:prstGeom prst="rect">
            <a:avLst/>
          </a:prstGeom>
        </p:spPr>
        <p:txBody>
          <a:bodyPr lIns="0" tIns="0" rIns="0" bIns="0" anchor="t" anchorCtr="0">
            <a:noAutofit/>
          </a:bodyPr>
          <a:lstStyle>
            <a:lvl1pPr marL="0" indent="0">
              <a:lnSpc>
                <a:spcPct val="85000"/>
              </a:lnSpc>
              <a:spcBef>
                <a:spcPts val="0"/>
              </a:spcBef>
              <a:buNone/>
              <a:defRPr sz="2000" b="0">
                <a:solidFill>
                  <a:schemeClr val="tx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11" name="Title 28"/>
          <p:cNvSpPr>
            <a:spLocks noGrp="1"/>
          </p:cNvSpPr>
          <p:nvPr>
            <p:ph type="title" hasCustomPrompt="1"/>
          </p:nvPr>
        </p:nvSpPr>
        <p:spPr bwMode="gray">
          <a:xfrm>
            <a:off x="760412" y="442528"/>
            <a:ext cx="10668001"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C55B6443-4299-282C-565B-68E5F9702780}"/>
              </a:ext>
            </a:extLst>
          </p:cNvPr>
          <p:cNvSpPr>
            <a:spLocks noGrp="1"/>
          </p:cNvSpPr>
          <p:nvPr>
            <p:ph type="sldNum" sz="quarter" idx="11"/>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2957633483"/>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Only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F4287927-EBF6-8C61-F8E2-301FE7F3F210}"/>
              </a:ext>
            </a:extLst>
          </p:cNvPr>
          <p:cNvPicPr>
            <a:picLocks noChangeAspect="1"/>
          </p:cNvPicPr>
          <p:nvPr userDrawn="1"/>
        </p:nvPicPr>
        <p:blipFill>
          <a:blip r:embed="rId2"/>
          <a:stretch>
            <a:fillRect/>
          </a:stretch>
        </p:blipFill>
        <p:spPr>
          <a:xfrm>
            <a:off x="218" y="0"/>
            <a:ext cx="12188389" cy="6858000"/>
          </a:xfrm>
          <a:prstGeom prst="rect">
            <a:avLst/>
          </a:prstGeom>
        </p:spPr>
      </p:pic>
      <p:sp>
        <p:nvSpPr>
          <p:cNvPr id="23" name="Text Placeholder 2"/>
          <p:cNvSpPr>
            <a:spLocks noGrp="1"/>
          </p:cNvSpPr>
          <p:nvPr>
            <p:ph type="body" idx="10" hasCustomPrompt="1"/>
          </p:nvPr>
        </p:nvSpPr>
        <p:spPr bwMode="gray">
          <a:xfrm>
            <a:off x="760412" y="931563"/>
            <a:ext cx="10671048" cy="261610"/>
          </a:xfrm>
          <a:prstGeom prst="rect">
            <a:avLst/>
          </a:prstGeom>
        </p:spPr>
        <p:txBody>
          <a:bodyPr lIns="0" tIns="0" rIns="0" bIns="0" anchor="t" anchorCtr="0">
            <a:noAutofit/>
          </a:bodyPr>
          <a:lstStyle>
            <a:lvl1pPr marL="0" indent="0">
              <a:lnSpc>
                <a:spcPct val="85000"/>
              </a:lnSpc>
              <a:spcBef>
                <a:spcPts val="0"/>
              </a:spcBef>
              <a:buNone/>
              <a:defRPr sz="2000" b="0">
                <a:solidFill>
                  <a:schemeClr val="bg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11" name="Title 28"/>
          <p:cNvSpPr>
            <a:spLocks noGrp="1"/>
          </p:cNvSpPr>
          <p:nvPr>
            <p:ph type="title" hasCustomPrompt="1"/>
          </p:nvPr>
        </p:nvSpPr>
        <p:spPr bwMode="gray">
          <a:xfrm>
            <a:off x="760412" y="442528"/>
            <a:ext cx="10671048"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BC296FD5-38BC-1E97-5513-17F333DF59B9}"/>
              </a:ext>
            </a:extLst>
          </p:cNvPr>
          <p:cNvSpPr>
            <a:spLocks noGrp="1"/>
          </p:cNvSpPr>
          <p:nvPr>
            <p:ph type="sldNum" sz="quarter" idx="11"/>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24226057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412" y="442528"/>
            <a:ext cx="10671048"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2" name="Content Placeholder 2"/>
          <p:cNvSpPr>
            <a:spLocks noGrp="1"/>
          </p:cNvSpPr>
          <p:nvPr>
            <p:ph sz="half" idx="1"/>
          </p:nvPr>
        </p:nvSpPr>
        <p:spPr bwMode="gray">
          <a:xfrm>
            <a:off x="760413" y="1308880"/>
            <a:ext cx="10671048" cy="4787120"/>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0BC5559F-D4D6-DA53-A720-07C2A2D68FA6}"/>
              </a:ext>
            </a:extLst>
          </p:cNvPr>
          <p:cNvSpPr>
            <a:spLocks noGrp="1"/>
          </p:cNvSpPr>
          <p:nvPr>
            <p:ph type="sldNum" sz="quarter" idx="10"/>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401141638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Content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278AB7D6-2473-9A43-205B-FDE24D24106E}"/>
              </a:ext>
            </a:extLst>
          </p:cNvPr>
          <p:cNvPicPr>
            <a:picLocks noChangeAspect="1"/>
          </p:cNvPicPr>
          <p:nvPr userDrawn="1"/>
        </p:nvPicPr>
        <p:blipFill>
          <a:blip r:embed="rId2"/>
          <a:stretch>
            <a:fillRect/>
          </a:stretch>
        </p:blipFill>
        <p:spPr>
          <a:xfrm>
            <a:off x="218" y="0"/>
            <a:ext cx="12188389" cy="6858000"/>
          </a:xfrm>
          <a:prstGeom prst="rect">
            <a:avLst/>
          </a:prstGeom>
        </p:spPr>
      </p:pic>
      <p:sp>
        <p:nvSpPr>
          <p:cNvPr id="10" name="Title 28"/>
          <p:cNvSpPr>
            <a:spLocks noGrp="1"/>
          </p:cNvSpPr>
          <p:nvPr>
            <p:ph type="title" hasCustomPrompt="1"/>
          </p:nvPr>
        </p:nvSpPr>
        <p:spPr bwMode="gray">
          <a:xfrm>
            <a:off x="760412" y="442528"/>
            <a:ext cx="1067104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2" name="Content Placeholder 2"/>
          <p:cNvSpPr>
            <a:spLocks noGrp="1"/>
          </p:cNvSpPr>
          <p:nvPr>
            <p:ph sz="half" idx="1"/>
          </p:nvPr>
        </p:nvSpPr>
        <p:spPr bwMode="gray">
          <a:xfrm>
            <a:off x="760413" y="1308880"/>
            <a:ext cx="10667999" cy="4787120"/>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2B190EFC-69A6-D92C-008E-75B891AE7709}"/>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370975778"/>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Subtitle Content">
    <p:bg>
      <p:bgPr>
        <a:solidFill>
          <a:schemeClr val="bg1"/>
        </a:solidFill>
        <a:effectLst/>
      </p:bgPr>
    </p:bg>
    <p:spTree>
      <p:nvGrpSpPr>
        <p:cNvPr id="1" name=""/>
        <p:cNvGrpSpPr/>
        <p:nvPr/>
      </p:nvGrpSpPr>
      <p:grpSpPr>
        <a:xfrm>
          <a:off x="0" y="0"/>
          <a:ext cx="0" cy="0"/>
          <a:chOff x="0" y="0"/>
          <a:chExt cx="0" cy="0"/>
        </a:xfrm>
      </p:grpSpPr>
      <p:sp>
        <p:nvSpPr>
          <p:cNvPr id="22" name="Content Placeholder 2"/>
          <p:cNvSpPr>
            <a:spLocks noGrp="1"/>
          </p:cNvSpPr>
          <p:nvPr>
            <p:ph sz="half" idx="1"/>
          </p:nvPr>
        </p:nvSpPr>
        <p:spPr bwMode="gray">
          <a:xfrm>
            <a:off x="760412" y="1749388"/>
            <a:ext cx="10671049" cy="4346612"/>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2"/>
          <p:cNvSpPr>
            <a:spLocks noGrp="1"/>
          </p:cNvSpPr>
          <p:nvPr>
            <p:ph type="body" idx="10"/>
          </p:nvPr>
        </p:nvSpPr>
        <p:spPr bwMode="gray">
          <a:xfrm>
            <a:off x="760412" y="931563"/>
            <a:ext cx="10671048" cy="261610"/>
          </a:xfrm>
          <a:prstGeom prst="rect">
            <a:avLst/>
          </a:prstGeom>
        </p:spPr>
        <p:txBody>
          <a:bodyPr lIns="0" tIns="0" rIns="0" bIns="0" anchor="t" anchorCtr="0">
            <a:noAutofit/>
          </a:bodyPr>
          <a:lstStyle>
            <a:lvl1pPr marL="0" indent="0">
              <a:lnSpc>
                <a:spcPct val="85000"/>
              </a:lnSpc>
              <a:spcBef>
                <a:spcPts val="0"/>
              </a:spcBef>
              <a:buNone/>
              <a:defRPr sz="2000" b="0">
                <a:solidFill>
                  <a:schemeClr val="tx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11" name="Title 28"/>
          <p:cNvSpPr>
            <a:spLocks noGrp="1"/>
          </p:cNvSpPr>
          <p:nvPr>
            <p:ph type="title" hasCustomPrompt="1"/>
          </p:nvPr>
        </p:nvSpPr>
        <p:spPr bwMode="gray">
          <a:xfrm>
            <a:off x="760412" y="442528"/>
            <a:ext cx="1067104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827BD319-CE6A-C56C-FAF4-F7D3C4B20C07}"/>
              </a:ext>
            </a:extLst>
          </p:cNvPr>
          <p:cNvSpPr>
            <a:spLocks noGrp="1"/>
          </p:cNvSpPr>
          <p:nvPr>
            <p:ph type="sldNum" sz="quarter" idx="11"/>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581479330"/>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Content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A502EC9A-329F-1AF5-8F7D-EBFC4D1A0AB5}"/>
              </a:ext>
            </a:extLst>
          </p:cNvPr>
          <p:cNvPicPr>
            <a:picLocks noChangeAspect="1"/>
          </p:cNvPicPr>
          <p:nvPr userDrawn="1"/>
        </p:nvPicPr>
        <p:blipFill>
          <a:blip r:embed="rId2"/>
          <a:stretch>
            <a:fillRect/>
          </a:stretch>
        </p:blipFill>
        <p:spPr>
          <a:xfrm>
            <a:off x="218" y="0"/>
            <a:ext cx="12188389" cy="6858000"/>
          </a:xfrm>
          <a:prstGeom prst="rect">
            <a:avLst/>
          </a:prstGeom>
        </p:spPr>
      </p:pic>
      <p:sp>
        <p:nvSpPr>
          <p:cNvPr id="22" name="Content Placeholder 2"/>
          <p:cNvSpPr>
            <a:spLocks noGrp="1"/>
          </p:cNvSpPr>
          <p:nvPr>
            <p:ph sz="half" idx="1"/>
          </p:nvPr>
        </p:nvSpPr>
        <p:spPr bwMode="gray">
          <a:xfrm>
            <a:off x="760412" y="1749389"/>
            <a:ext cx="10671049" cy="4346612"/>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2"/>
          <p:cNvSpPr>
            <a:spLocks noGrp="1"/>
          </p:cNvSpPr>
          <p:nvPr>
            <p:ph type="body" idx="10" hasCustomPrompt="1"/>
          </p:nvPr>
        </p:nvSpPr>
        <p:spPr bwMode="gray">
          <a:xfrm>
            <a:off x="760412" y="931563"/>
            <a:ext cx="10671048" cy="261610"/>
          </a:xfrm>
          <a:prstGeom prst="rect">
            <a:avLst/>
          </a:prstGeom>
        </p:spPr>
        <p:txBody>
          <a:bodyPr lIns="0" tIns="0" rIns="0" bIns="0" anchor="t" anchorCtr="0">
            <a:noAutofit/>
          </a:bodyPr>
          <a:lstStyle>
            <a:lvl1pPr marL="0" indent="0">
              <a:lnSpc>
                <a:spcPct val="85000"/>
              </a:lnSpc>
              <a:spcBef>
                <a:spcPts val="0"/>
              </a:spcBef>
              <a:buNone/>
              <a:defRPr sz="2000" b="0">
                <a:solidFill>
                  <a:schemeClr val="bg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11" name="Title 28"/>
          <p:cNvSpPr>
            <a:spLocks noGrp="1"/>
          </p:cNvSpPr>
          <p:nvPr>
            <p:ph type="title" hasCustomPrompt="1"/>
          </p:nvPr>
        </p:nvSpPr>
        <p:spPr bwMode="gray">
          <a:xfrm>
            <a:off x="760412" y="442528"/>
            <a:ext cx="1067104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C2F390D5-FAC3-3E07-D977-2FACDFA7E866}"/>
              </a:ext>
            </a:extLst>
          </p:cNvPr>
          <p:cNvSpPr>
            <a:spLocks noGrp="1"/>
          </p:cNvSpPr>
          <p:nvPr>
            <p:ph type="sldNum" sz="quarter" idx="11"/>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416594537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Slide">
    <p:bg>
      <p:bgPr>
        <a:solidFill>
          <a:schemeClr val="bg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760412" y="442528"/>
            <a:ext cx="1067104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412" y="1307593"/>
            <a:ext cx="5069004"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2"/>
          <p:cNvSpPr>
            <a:spLocks noGrp="1"/>
          </p:cNvSpPr>
          <p:nvPr>
            <p:ph sz="half" idx="14"/>
          </p:nvPr>
        </p:nvSpPr>
        <p:spPr bwMode="gray">
          <a:xfrm>
            <a:off x="6339311" y="1307593"/>
            <a:ext cx="5065776"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02FE5186-E704-46DB-A234-0339427F829C}"/>
              </a:ext>
            </a:extLst>
          </p:cNvPr>
          <p:cNvSpPr>
            <a:spLocks noGrp="1"/>
          </p:cNvSpPr>
          <p:nvPr>
            <p:ph type="sldNum" sz="quarter" idx="15"/>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64735132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wo Column Slide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D2AFEEE1-B3CF-9D21-EAE9-9414E4DBE83E}"/>
              </a:ext>
            </a:extLst>
          </p:cNvPr>
          <p:cNvPicPr>
            <a:picLocks noChangeAspect="1"/>
          </p:cNvPicPr>
          <p:nvPr userDrawn="1"/>
        </p:nvPicPr>
        <p:blipFill>
          <a:blip r:embed="rId2"/>
          <a:stretch>
            <a:fillRect/>
          </a:stretch>
        </p:blipFill>
        <p:spPr>
          <a:xfrm>
            <a:off x="218" y="0"/>
            <a:ext cx="12188389" cy="6858000"/>
          </a:xfrm>
          <a:prstGeom prst="rect">
            <a:avLst/>
          </a:prstGeom>
        </p:spPr>
      </p:pic>
      <p:sp>
        <p:nvSpPr>
          <p:cNvPr id="11" name="Title 28"/>
          <p:cNvSpPr>
            <a:spLocks noGrp="1"/>
          </p:cNvSpPr>
          <p:nvPr>
            <p:ph type="title" hasCustomPrompt="1"/>
          </p:nvPr>
        </p:nvSpPr>
        <p:spPr bwMode="gray">
          <a:xfrm>
            <a:off x="760412" y="442528"/>
            <a:ext cx="10668001"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412" y="1307593"/>
            <a:ext cx="5069004"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2"/>
          <p:cNvSpPr>
            <a:spLocks noGrp="1"/>
          </p:cNvSpPr>
          <p:nvPr>
            <p:ph sz="half" idx="14"/>
          </p:nvPr>
        </p:nvSpPr>
        <p:spPr bwMode="gray">
          <a:xfrm>
            <a:off x="6339311" y="1307593"/>
            <a:ext cx="5065776"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A1D52F52-4191-E70A-A15D-3F4D0CF0AA2B}"/>
              </a:ext>
            </a:extLst>
          </p:cNvPr>
          <p:cNvSpPr>
            <a:spLocks noGrp="1"/>
          </p:cNvSpPr>
          <p:nvPr>
            <p:ph type="sldNum" sz="quarter" idx="15"/>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57779992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lumn Slide">
    <p:bg>
      <p:bgPr>
        <a:solidFill>
          <a:schemeClr val="bg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760412" y="442528"/>
            <a:ext cx="1067104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413" y="1307593"/>
            <a:ext cx="3342271"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p:cNvSpPr>
            <a:spLocks noGrp="1"/>
          </p:cNvSpPr>
          <p:nvPr>
            <p:ph sz="half" idx="10"/>
          </p:nvPr>
        </p:nvSpPr>
        <p:spPr bwMode="gray">
          <a:xfrm>
            <a:off x="4377258" y="1307593"/>
            <a:ext cx="3343188"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p:cNvSpPr>
            <a:spLocks noGrp="1"/>
          </p:cNvSpPr>
          <p:nvPr>
            <p:ph sz="half" idx="11"/>
          </p:nvPr>
        </p:nvSpPr>
        <p:spPr bwMode="gray">
          <a:xfrm>
            <a:off x="8015815" y="1307593"/>
            <a:ext cx="3415646"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0C61C74C-45BE-3DE8-0DFD-4B97D814FB04}"/>
              </a:ext>
            </a:extLst>
          </p:cNvPr>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094563597"/>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hree Column Slide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20E594BD-1F6B-6058-9B92-DF72595D61F5}"/>
              </a:ext>
            </a:extLst>
          </p:cNvPr>
          <p:cNvPicPr>
            <a:picLocks noChangeAspect="1"/>
          </p:cNvPicPr>
          <p:nvPr userDrawn="1"/>
        </p:nvPicPr>
        <p:blipFill>
          <a:blip r:embed="rId2"/>
          <a:stretch>
            <a:fillRect/>
          </a:stretch>
        </p:blipFill>
        <p:spPr>
          <a:xfrm>
            <a:off x="218" y="0"/>
            <a:ext cx="12188389" cy="6858000"/>
          </a:xfrm>
          <a:prstGeom prst="rect">
            <a:avLst/>
          </a:prstGeom>
        </p:spPr>
      </p:pic>
      <p:sp>
        <p:nvSpPr>
          <p:cNvPr id="11" name="Title 28"/>
          <p:cNvSpPr>
            <a:spLocks noGrp="1"/>
          </p:cNvSpPr>
          <p:nvPr>
            <p:ph type="title" hasCustomPrompt="1"/>
          </p:nvPr>
        </p:nvSpPr>
        <p:spPr bwMode="gray">
          <a:xfrm>
            <a:off x="760412" y="442528"/>
            <a:ext cx="1067104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413" y="1307593"/>
            <a:ext cx="3342271"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p:cNvSpPr>
            <a:spLocks noGrp="1"/>
          </p:cNvSpPr>
          <p:nvPr>
            <p:ph sz="half" idx="10"/>
          </p:nvPr>
        </p:nvSpPr>
        <p:spPr bwMode="gray">
          <a:xfrm>
            <a:off x="4377258" y="1307593"/>
            <a:ext cx="3342271"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p:cNvSpPr>
            <a:spLocks noGrp="1"/>
          </p:cNvSpPr>
          <p:nvPr>
            <p:ph sz="half" idx="11"/>
          </p:nvPr>
        </p:nvSpPr>
        <p:spPr bwMode="gray">
          <a:xfrm>
            <a:off x="8015815" y="1307593"/>
            <a:ext cx="3415646"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3A92B045-EC23-B30D-E716-8FEBB279E86E}"/>
              </a:ext>
            </a:extLst>
          </p:cNvPr>
          <p:cNvSpPr>
            <a:spLocks noGrp="1"/>
          </p:cNvSpPr>
          <p:nvPr>
            <p:ph type="sldNum" sz="quarter" idx="12"/>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348959108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w/Image">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412" y="442528"/>
            <a:ext cx="5723515"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412" y="1307593"/>
            <a:ext cx="5723515"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8"/>
          <p:cNvSpPr>
            <a:spLocks noGrp="1"/>
          </p:cNvSpPr>
          <p:nvPr>
            <p:ph type="pic" sz="quarter" idx="16"/>
          </p:nvPr>
        </p:nvSpPr>
        <p:spPr>
          <a:xfrm>
            <a:off x="6856413" y="0"/>
            <a:ext cx="5332411"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2" name="Slide Number Placeholder 1">
            <a:extLst>
              <a:ext uri="{FF2B5EF4-FFF2-40B4-BE49-F238E27FC236}">
                <a16:creationId xmlns:a16="http://schemas.microsoft.com/office/drawing/2014/main" id="{C8F3C117-A202-AC1A-30DA-A95049B2670E}"/>
              </a:ext>
            </a:extLst>
          </p:cNvPr>
          <p:cNvSpPr>
            <a:spLocks noGrp="1"/>
          </p:cNvSpPr>
          <p:nvPr>
            <p:ph type="sldNum" sz="quarter" idx="17"/>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87745591"/>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w/Image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7BFC1471-1C6B-8D36-C09C-33191A1EA401}"/>
              </a:ext>
            </a:extLst>
          </p:cNvPr>
          <p:cNvPicPr>
            <a:picLocks noChangeAspect="1"/>
          </p:cNvPicPr>
          <p:nvPr userDrawn="1"/>
        </p:nvPicPr>
        <p:blipFill>
          <a:blip r:embed="rId2"/>
          <a:stretch>
            <a:fillRect/>
          </a:stretch>
        </p:blipFill>
        <p:spPr>
          <a:xfrm>
            <a:off x="218" y="0"/>
            <a:ext cx="12188389" cy="6858000"/>
          </a:xfrm>
          <a:prstGeom prst="rect">
            <a:avLst/>
          </a:prstGeom>
        </p:spPr>
      </p:pic>
      <p:sp>
        <p:nvSpPr>
          <p:cNvPr id="10" name="Title 28"/>
          <p:cNvSpPr>
            <a:spLocks noGrp="1"/>
          </p:cNvSpPr>
          <p:nvPr>
            <p:ph type="title" hasCustomPrompt="1"/>
          </p:nvPr>
        </p:nvSpPr>
        <p:spPr bwMode="gray">
          <a:xfrm>
            <a:off x="760412" y="442528"/>
            <a:ext cx="5723515"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412" y="1307592"/>
            <a:ext cx="5723515" cy="4919589"/>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8"/>
          <p:cNvSpPr>
            <a:spLocks noGrp="1"/>
          </p:cNvSpPr>
          <p:nvPr>
            <p:ph type="pic" sz="quarter" idx="16"/>
          </p:nvPr>
        </p:nvSpPr>
        <p:spPr>
          <a:xfrm>
            <a:off x="6856413" y="0"/>
            <a:ext cx="5332411"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2" name="Slide Number Placeholder 1">
            <a:extLst>
              <a:ext uri="{FF2B5EF4-FFF2-40B4-BE49-F238E27FC236}">
                <a16:creationId xmlns:a16="http://schemas.microsoft.com/office/drawing/2014/main" id="{EF7E7426-E0FB-DA60-E1E0-A41FD9009F5D}"/>
              </a:ext>
            </a:extLst>
          </p:cNvPr>
          <p:cNvSpPr>
            <a:spLocks noGrp="1"/>
          </p:cNvSpPr>
          <p:nvPr>
            <p:ph type="sldNum" sz="quarter" idx="17"/>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992496215"/>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hoto + Statement">
    <p:spTree>
      <p:nvGrpSpPr>
        <p:cNvPr id="1" name=""/>
        <p:cNvGrpSpPr/>
        <p:nvPr/>
      </p:nvGrpSpPr>
      <p:grpSpPr>
        <a:xfrm>
          <a:off x="0" y="0"/>
          <a:ext cx="0" cy="0"/>
          <a:chOff x="0" y="0"/>
          <a:chExt cx="0" cy="0"/>
        </a:xfrm>
      </p:grpSpPr>
      <p:sp>
        <p:nvSpPr>
          <p:cNvPr id="3" name="Rectangle 2"/>
          <p:cNvSpPr/>
          <p:nvPr userDrawn="1"/>
        </p:nvSpPr>
        <p:spPr>
          <a:xfrm>
            <a:off x="0" y="0"/>
            <a:ext cx="4061791"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8"/>
          <p:cNvSpPr>
            <a:spLocks noGrp="1"/>
          </p:cNvSpPr>
          <p:nvPr>
            <p:ph type="pic" sz="quarter" idx="16"/>
          </p:nvPr>
        </p:nvSpPr>
        <p:spPr>
          <a:xfrm>
            <a:off x="4570413" y="0"/>
            <a:ext cx="7618412"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14" name="Text Placeholder 3"/>
          <p:cNvSpPr>
            <a:spLocks noGrp="1"/>
          </p:cNvSpPr>
          <p:nvPr>
            <p:ph type="body" sz="quarter" idx="18" hasCustomPrompt="1"/>
          </p:nvPr>
        </p:nvSpPr>
        <p:spPr>
          <a:xfrm>
            <a:off x="760412" y="995009"/>
            <a:ext cx="3427123" cy="1436465"/>
          </a:xfrm>
          <a:prstGeom prst="rect">
            <a:avLst/>
          </a:prstGeom>
          <a:noFill/>
        </p:spPr>
        <p:txBody>
          <a:bodyPr lIns="0" tIns="0" rIns="0" bIns="0" anchor="b" anchorCtr="0">
            <a:noAutofit/>
          </a:bodyPr>
          <a:lstStyle>
            <a:lvl1pPr marL="0" indent="0">
              <a:lnSpc>
                <a:spcPct val="85000"/>
              </a:lnSpc>
              <a:spcBef>
                <a:spcPts val="0"/>
              </a:spcBef>
              <a:buFont typeface="Arial" panose="020B0604020202020204" pitchFamily="34" charset="0"/>
              <a:buNone/>
              <a:defRPr sz="4400" b="1" strike="noStrike" spc="-150" baseline="0">
                <a:solidFill>
                  <a:schemeClr val="tx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a:t>Click to edit slide title</a:t>
            </a:r>
          </a:p>
        </p:txBody>
      </p:sp>
      <p:sp>
        <p:nvSpPr>
          <p:cNvPr id="2" name="Slide Number Placeholder 1">
            <a:extLst>
              <a:ext uri="{FF2B5EF4-FFF2-40B4-BE49-F238E27FC236}">
                <a16:creationId xmlns:a16="http://schemas.microsoft.com/office/drawing/2014/main" id="{DA2637C5-16EA-761D-E2F8-7F6B3E3B6F6C}"/>
              </a:ext>
            </a:extLst>
          </p:cNvPr>
          <p:cNvSpPr>
            <a:spLocks noGrp="1"/>
          </p:cNvSpPr>
          <p:nvPr>
            <p:ph type="sldNum" sz="quarter" idx="20"/>
          </p:nvPr>
        </p:nvSpPr>
        <p:spPr/>
        <p:txBody>
          <a:bodyPr/>
          <a:lstStyle/>
          <a:p>
            <a:fld id="{6D22F896-40B5-4ADD-8801-0D06FADFA095}" type="slidenum">
              <a:rPr lang="en-US" smtClean="0"/>
              <a:pPr/>
              <a:t>‹#›</a:t>
            </a:fld>
            <a:endParaRPr lang="en-US"/>
          </a:p>
        </p:txBody>
      </p:sp>
      <p:sp>
        <p:nvSpPr>
          <p:cNvPr id="12" name="Content Placeholder 2">
            <a:extLst>
              <a:ext uri="{FF2B5EF4-FFF2-40B4-BE49-F238E27FC236}">
                <a16:creationId xmlns:a16="http://schemas.microsoft.com/office/drawing/2014/main" id="{3939283D-21AA-FD28-A517-FFF4AF9FDA82}"/>
              </a:ext>
            </a:extLst>
          </p:cNvPr>
          <p:cNvSpPr>
            <a:spLocks noGrp="1"/>
          </p:cNvSpPr>
          <p:nvPr>
            <p:ph sz="half" idx="1"/>
          </p:nvPr>
        </p:nvSpPr>
        <p:spPr bwMode="gray">
          <a:xfrm>
            <a:off x="760412" y="2815936"/>
            <a:ext cx="3427123" cy="3280064"/>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34084262"/>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Photo + Statement_Black">
    <p:bg>
      <p:bgPr>
        <a:solidFill>
          <a:srgbClr val="1E0113"/>
        </a:solidFill>
        <a:effectLst/>
      </p:bgPr>
    </p:bg>
    <p:spTree>
      <p:nvGrpSpPr>
        <p:cNvPr id="1" name=""/>
        <p:cNvGrpSpPr/>
        <p:nvPr/>
      </p:nvGrpSpPr>
      <p:grpSpPr>
        <a:xfrm>
          <a:off x="0" y="0"/>
          <a:ext cx="0" cy="0"/>
          <a:chOff x="0" y="0"/>
          <a:chExt cx="0" cy="0"/>
        </a:xfrm>
      </p:grpSpPr>
      <p:pic>
        <p:nvPicPr>
          <p:cNvPr id="4" name="Picture 3" descr="Circle&#10;&#10;Description automatically generated">
            <a:extLst>
              <a:ext uri="{FF2B5EF4-FFF2-40B4-BE49-F238E27FC236}">
                <a16:creationId xmlns:a16="http://schemas.microsoft.com/office/drawing/2014/main" id="{78F881BE-F0B7-38E3-9663-E8E52C9CA026}"/>
              </a:ext>
            </a:extLst>
          </p:cNvPr>
          <p:cNvPicPr>
            <a:picLocks noChangeAspect="1"/>
          </p:cNvPicPr>
          <p:nvPr userDrawn="1"/>
        </p:nvPicPr>
        <p:blipFill>
          <a:blip r:embed="rId2"/>
          <a:stretch>
            <a:fillRect/>
          </a:stretch>
        </p:blipFill>
        <p:spPr>
          <a:xfrm>
            <a:off x="218" y="0"/>
            <a:ext cx="12188389" cy="6858000"/>
          </a:xfrm>
          <a:prstGeom prst="rect">
            <a:avLst/>
          </a:prstGeom>
        </p:spPr>
      </p:pic>
      <p:sp>
        <p:nvSpPr>
          <p:cNvPr id="3" name="Rectangle 2"/>
          <p:cNvSpPr/>
          <p:nvPr userDrawn="1"/>
        </p:nvSpPr>
        <p:spPr>
          <a:xfrm>
            <a:off x="0" y="0"/>
            <a:ext cx="4061791"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8"/>
          <p:cNvSpPr>
            <a:spLocks noGrp="1"/>
          </p:cNvSpPr>
          <p:nvPr>
            <p:ph type="pic" sz="quarter" idx="16"/>
          </p:nvPr>
        </p:nvSpPr>
        <p:spPr>
          <a:xfrm>
            <a:off x="4570413" y="0"/>
            <a:ext cx="7618412"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2" name="Slide Number Placeholder 1">
            <a:extLst>
              <a:ext uri="{FF2B5EF4-FFF2-40B4-BE49-F238E27FC236}">
                <a16:creationId xmlns:a16="http://schemas.microsoft.com/office/drawing/2014/main" id="{EC182470-3621-1323-235D-7DBA176E68EC}"/>
              </a:ext>
            </a:extLst>
          </p:cNvPr>
          <p:cNvSpPr>
            <a:spLocks noGrp="1"/>
          </p:cNvSpPr>
          <p:nvPr>
            <p:ph type="sldNum" sz="quarter" idx="20"/>
          </p:nvPr>
        </p:nvSpPr>
        <p:spPr/>
        <p:txBody>
          <a:bodyPr/>
          <a:lstStyle>
            <a:lvl1pPr>
              <a:defRPr>
                <a:solidFill>
                  <a:schemeClr val="bg1"/>
                </a:solidFill>
              </a:defRPr>
            </a:lvl1pPr>
          </a:lstStyle>
          <a:p>
            <a:fld id="{6D22F896-40B5-4ADD-8801-0D06FADFA095}" type="slidenum">
              <a:rPr lang="en-US" smtClean="0"/>
              <a:pPr/>
              <a:t>‹#›</a:t>
            </a:fld>
            <a:endParaRPr lang="en-US"/>
          </a:p>
        </p:txBody>
      </p:sp>
      <p:sp>
        <p:nvSpPr>
          <p:cNvPr id="29" name="Text Placeholder 3">
            <a:extLst>
              <a:ext uri="{FF2B5EF4-FFF2-40B4-BE49-F238E27FC236}">
                <a16:creationId xmlns:a16="http://schemas.microsoft.com/office/drawing/2014/main" id="{C11FB6FD-7B80-D920-2B92-D358B184462D}"/>
              </a:ext>
            </a:extLst>
          </p:cNvPr>
          <p:cNvSpPr>
            <a:spLocks noGrp="1"/>
          </p:cNvSpPr>
          <p:nvPr>
            <p:ph type="body" sz="quarter" idx="18" hasCustomPrompt="1"/>
          </p:nvPr>
        </p:nvSpPr>
        <p:spPr>
          <a:xfrm>
            <a:off x="760412" y="995009"/>
            <a:ext cx="3427123" cy="1436465"/>
          </a:xfrm>
          <a:prstGeom prst="rect">
            <a:avLst/>
          </a:prstGeom>
          <a:noFill/>
        </p:spPr>
        <p:txBody>
          <a:bodyPr lIns="0" tIns="0" rIns="0" bIns="0" anchor="b" anchorCtr="0">
            <a:noAutofit/>
          </a:bodyPr>
          <a:lstStyle>
            <a:lvl1pPr marL="0" indent="0">
              <a:lnSpc>
                <a:spcPct val="85000"/>
              </a:lnSpc>
              <a:spcBef>
                <a:spcPts val="0"/>
              </a:spcBef>
              <a:buFont typeface="Arial" panose="020B0604020202020204" pitchFamily="34" charset="0"/>
              <a:buNone/>
              <a:defRPr sz="4400" b="1" strike="noStrike" spc="-150" baseline="0">
                <a:solidFill>
                  <a:schemeClr val="bg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a:t>Click to edit slide title</a:t>
            </a:r>
          </a:p>
        </p:txBody>
      </p:sp>
      <p:sp>
        <p:nvSpPr>
          <p:cNvPr id="30" name="Content Placeholder 2">
            <a:extLst>
              <a:ext uri="{FF2B5EF4-FFF2-40B4-BE49-F238E27FC236}">
                <a16:creationId xmlns:a16="http://schemas.microsoft.com/office/drawing/2014/main" id="{5F150789-C64C-B456-4B9A-24AED7315FBB}"/>
              </a:ext>
            </a:extLst>
          </p:cNvPr>
          <p:cNvSpPr>
            <a:spLocks noGrp="1"/>
          </p:cNvSpPr>
          <p:nvPr>
            <p:ph sz="half" idx="1"/>
          </p:nvPr>
        </p:nvSpPr>
        <p:spPr bwMode="gray">
          <a:xfrm>
            <a:off x="760412" y="2815936"/>
            <a:ext cx="3427123" cy="3280064"/>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77636023"/>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ig Idea">
    <p:bg>
      <p:bgPr>
        <a:solidFill>
          <a:schemeClr val="accent3">
            <a:lumMod val="25000"/>
          </a:schemeClr>
        </a:solidFill>
        <a:effectLst/>
      </p:bgPr>
    </p:bg>
    <p:spTree>
      <p:nvGrpSpPr>
        <p:cNvPr id="1" name=""/>
        <p:cNvGrpSpPr/>
        <p:nvPr/>
      </p:nvGrpSpPr>
      <p:grpSpPr>
        <a:xfrm>
          <a:off x="0" y="0"/>
          <a:ext cx="0" cy="0"/>
          <a:chOff x="0" y="0"/>
          <a:chExt cx="0" cy="0"/>
        </a:xfrm>
      </p:grpSpPr>
      <p:pic>
        <p:nvPicPr>
          <p:cNvPr id="2" name="Picture 1" descr="Circle&#10;&#10;Description automatically generated">
            <a:extLst>
              <a:ext uri="{FF2B5EF4-FFF2-40B4-BE49-F238E27FC236}">
                <a16:creationId xmlns:a16="http://schemas.microsoft.com/office/drawing/2014/main" id="{EBA903AA-DEDD-3BB1-5C3F-4A781FB38F03}"/>
              </a:ext>
            </a:extLst>
          </p:cNvPr>
          <p:cNvPicPr>
            <a:picLocks noChangeAspect="1"/>
          </p:cNvPicPr>
          <p:nvPr userDrawn="1"/>
        </p:nvPicPr>
        <p:blipFill>
          <a:blip r:embed="rId2"/>
          <a:stretch>
            <a:fillRect/>
          </a:stretch>
        </p:blipFill>
        <p:spPr>
          <a:xfrm>
            <a:off x="218" y="0"/>
            <a:ext cx="12188389" cy="6858000"/>
          </a:xfrm>
          <a:prstGeom prst="rect">
            <a:avLst/>
          </a:prstGeom>
        </p:spPr>
      </p:pic>
      <p:sp>
        <p:nvSpPr>
          <p:cNvPr id="3" name="Slide Number Placeholder 2">
            <a:extLst>
              <a:ext uri="{FF2B5EF4-FFF2-40B4-BE49-F238E27FC236}">
                <a16:creationId xmlns:a16="http://schemas.microsoft.com/office/drawing/2014/main" id="{B8CB8992-3FC1-1D5A-F5A3-5A7867B1CF80}"/>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
        <p:nvSpPr>
          <p:cNvPr id="7" name="Text Placeholder 6">
            <a:extLst>
              <a:ext uri="{FF2B5EF4-FFF2-40B4-BE49-F238E27FC236}">
                <a16:creationId xmlns:a16="http://schemas.microsoft.com/office/drawing/2014/main" id="{EFEF7F64-EAB6-F941-857A-EB6862B07383}"/>
              </a:ext>
            </a:extLst>
          </p:cNvPr>
          <p:cNvSpPr>
            <a:spLocks noGrp="1"/>
          </p:cNvSpPr>
          <p:nvPr>
            <p:ph type="body" sz="quarter" idx="11" hasCustomPrompt="1"/>
          </p:nvPr>
        </p:nvSpPr>
        <p:spPr>
          <a:xfrm>
            <a:off x="760413" y="1757774"/>
            <a:ext cx="10668000" cy="3342453"/>
          </a:xfrm>
          <a:prstGeom prst="rect">
            <a:avLst/>
          </a:prstGeom>
        </p:spPr>
        <p:txBody>
          <a:bodyPr wrap="square" lIns="0" rIns="0" anchor="ctr" anchorCtr="0">
            <a:spAutoFit/>
          </a:bodyPr>
          <a:lstStyle>
            <a:lvl1pPr marL="0" indent="0">
              <a:lnSpc>
                <a:spcPct val="80000"/>
              </a:lnSpc>
              <a:spcBef>
                <a:spcPts val="0"/>
              </a:spcBef>
              <a:buNone/>
              <a:defRPr sz="8800" b="1">
                <a:solidFill>
                  <a:schemeClr val="bg1"/>
                </a:solidFill>
              </a:defRPr>
            </a:lvl1pPr>
            <a:lvl2pPr marL="609494" indent="0">
              <a:buNone/>
              <a:defRPr/>
            </a:lvl2pPr>
          </a:lstStyle>
          <a:p>
            <a:pPr lvl="0"/>
            <a:r>
              <a:rPr lang="en-US"/>
              <a:t>Click to edit big idea, statement or subject</a:t>
            </a:r>
          </a:p>
        </p:txBody>
      </p:sp>
    </p:spTree>
    <p:extLst>
      <p:ext uri="{BB962C8B-B14F-4D97-AF65-F5344CB8AC3E}">
        <p14:creationId xmlns:p14="http://schemas.microsoft.com/office/powerpoint/2010/main" val="282779452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 Product">
    <p:spTree>
      <p:nvGrpSpPr>
        <p:cNvPr id="1" name=""/>
        <p:cNvGrpSpPr/>
        <p:nvPr/>
      </p:nvGrpSpPr>
      <p:grpSpPr>
        <a:xfrm>
          <a:off x="0" y="0"/>
          <a:ext cx="0" cy="0"/>
          <a:chOff x="0" y="0"/>
          <a:chExt cx="0" cy="0"/>
        </a:xfrm>
      </p:grpSpPr>
      <p:sp>
        <p:nvSpPr>
          <p:cNvPr id="7" name="Picture Placeholder 8"/>
          <p:cNvSpPr>
            <a:spLocks noGrp="1"/>
          </p:cNvSpPr>
          <p:nvPr>
            <p:ph type="pic" sz="quarter" idx="17"/>
          </p:nvPr>
        </p:nvSpPr>
        <p:spPr>
          <a:xfrm>
            <a:off x="0" y="0"/>
            <a:ext cx="6094412"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9" name="Content Placeholder 2"/>
          <p:cNvSpPr>
            <a:spLocks noGrp="1"/>
          </p:cNvSpPr>
          <p:nvPr>
            <p:ph sz="half" idx="18"/>
          </p:nvPr>
        </p:nvSpPr>
        <p:spPr bwMode="gray">
          <a:xfrm>
            <a:off x="6856412" y="1307593"/>
            <a:ext cx="4572001"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28"/>
          <p:cNvSpPr>
            <a:spLocks noGrp="1"/>
          </p:cNvSpPr>
          <p:nvPr>
            <p:ph type="title" hasCustomPrompt="1"/>
          </p:nvPr>
        </p:nvSpPr>
        <p:spPr bwMode="gray">
          <a:xfrm>
            <a:off x="6856412" y="442528"/>
            <a:ext cx="4572001"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title</a:t>
            </a:r>
          </a:p>
        </p:txBody>
      </p:sp>
      <p:sp>
        <p:nvSpPr>
          <p:cNvPr id="2" name="Slide Number Placeholder 1">
            <a:extLst>
              <a:ext uri="{FF2B5EF4-FFF2-40B4-BE49-F238E27FC236}">
                <a16:creationId xmlns:a16="http://schemas.microsoft.com/office/drawing/2014/main" id="{0AFBC96C-E04F-90E6-1BBE-C65ECD6E5C14}"/>
              </a:ext>
            </a:extLst>
          </p:cNvPr>
          <p:cNvSpPr>
            <a:spLocks noGrp="1"/>
          </p:cNvSpPr>
          <p:nvPr>
            <p:ph type="sldNum" sz="quarter" idx="19"/>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2242055685"/>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w/ Product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306ABFC9-D1B7-02E7-4D4D-1D51324380BC}"/>
              </a:ext>
            </a:extLst>
          </p:cNvPr>
          <p:cNvPicPr>
            <a:picLocks noChangeAspect="1"/>
          </p:cNvPicPr>
          <p:nvPr userDrawn="1"/>
        </p:nvPicPr>
        <p:blipFill>
          <a:blip r:embed="rId2"/>
          <a:stretch>
            <a:fillRect/>
          </a:stretch>
        </p:blipFill>
        <p:spPr>
          <a:xfrm>
            <a:off x="218" y="0"/>
            <a:ext cx="12188389" cy="6858000"/>
          </a:xfrm>
          <a:prstGeom prst="rect">
            <a:avLst/>
          </a:prstGeom>
        </p:spPr>
      </p:pic>
      <p:sp>
        <p:nvSpPr>
          <p:cNvPr id="7" name="Picture Placeholder 8"/>
          <p:cNvSpPr>
            <a:spLocks noGrp="1"/>
          </p:cNvSpPr>
          <p:nvPr>
            <p:ph type="pic" sz="quarter" idx="17"/>
          </p:nvPr>
        </p:nvSpPr>
        <p:spPr>
          <a:xfrm>
            <a:off x="0" y="0"/>
            <a:ext cx="6094412" cy="6858000"/>
          </a:xfrm>
          <a:prstGeom prst="rect">
            <a:avLst/>
          </a:prstGeom>
        </p:spPr>
        <p:txBody>
          <a:bodyPr anchor="ctr"/>
          <a:lstStyle>
            <a:lvl1pPr marL="0" indent="0" algn="ctr">
              <a:buNone/>
              <a:defRPr sz="2400">
                <a:solidFill>
                  <a:schemeClr val="accent1"/>
                </a:solidFill>
              </a:defRPr>
            </a:lvl1pPr>
          </a:lstStyle>
          <a:p>
            <a:r>
              <a:rPr lang="en-US"/>
              <a:t>Click icon to add picture</a:t>
            </a:r>
          </a:p>
        </p:txBody>
      </p:sp>
      <p:sp>
        <p:nvSpPr>
          <p:cNvPr id="9" name="Content Placeholder 2"/>
          <p:cNvSpPr>
            <a:spLocks noGrp="1"/>
          </p:cNvSpPr>
          <p:nvPr>
            <p:ph sz="half" idx="18"/>
          </p:nvPr>
        </p:nvSpPr>
        <p:spPr bwMode="gray">
          <a:xfrm>
            <a:off x="6856414" y="1307592"/>
            <a:ext cx="4572000" cy="4788408"/>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28"/>
          <p:cNvSpPr>
            <a:spLocks noGrp="1"/>
          </p:cNvSpPr>
          <p:nvPr>
            <p:ph type="title" hasCustomPrompt="1"/>
          </p:nvPr>
        </p:nvSpPr>
        <p:spPr bwMode="gray">
          <a:xfrm>
            <a:off x="6856413" y="442528"/>
            <a:ext cx="4572001" cy="418576"/>
          </a:xfrm>
          <a:prstGeom prst="rect">
            <a:avLst/>
          </a:prstGeom>
        </p:spPr>
        <p:txBody>
          <a:bodyPr wrap="square" lIns="0" tIns="0" rIns="0" bIns="0" anchor="t" anchorCtr="0">
            <a:sp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title</a:t>
            </a:r>
          </a:p>
        </p:txBody>
      </p:sp>
      <p:sp>
        <p:nvSpPr>
          <p:cNvPr id="2" name="Slide Number Placeholder 1">
            <a:extLst>
              <a:ext uri="{FF2B5EF4-FFF2-40B4-BE49-F238E27FC236}">
                <a16:creationId xmlns:a16="http://schemas.microsoft.com/office/drawing/2014/main" id="{E5A84DA8-2577-7EF4-6122-06E4DEEB80AF}"/>
              </a:ext>
            </a:extLst>
          </p:cNvPr>
          <p:cNvSpPr>
            <a:spLocks noGrp="1"/>
          </p:cNvSpPr>
          <p:nvPr>
            <p:ph type="sldNum" sz="quarter" idx="19"/>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676297037"/>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412" y="442528"/>
            <a:ext cx="10671049" cy="418576"/>
          </a:xfrm>
          <a:prstGeom prst="rect">
            <a:avLst/>
          </a:prstGeom>
        </p:spPr>
        <p:txBody>
          <a:bodyPr wrap="square" lIns="0" tIns="0" rIns="0" bIns="0" anchor="t" anchorCtr="0">
            <a:sp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9" name="Chart Placeholder 2"/>
          <p:cNvSpPr>
            <a:spLocks noGrp="1"/>
          </p:cNvSpPr>
          <p:nvPr>
            <p:ph type="chart" sz="quarter" idx="10" hasCustomPrompt="1"/>
          </p:nvPr>
        </p:nvSpPr>
        <p:spPr bwMode="gray">
          <a:xfrm>
            <a:off x="760414" y="1524000"/>
            <a:ext cx="10668000" cy="4572000"/>
          </a:xfrm>
          <a:prstGeom prst="rect">
            <a:avLst/>
          </a:prstGeom>
        </p:spPr>
        <p:txBody>
          <a:bodyPr lIns="121899" tIns="853291" rIns="121899" bIns="60949" anchor="ctr" anchorCtr="0"/>
          <a:lstStyle>
            <a:lvl1pPr marL="0" indent="0" algn="ctr">
              <a:buFontTx/>
              <a:buNone/>
              <a:defRPr sz="2400" baseline="0">
                <a:solidFill>
                  <a:schemeClr val="bg2"/>
                </a:solidFill>
              </a:defRPr>
            </a:lvl1pPr>
          </a:lstStyle>
          <a:p>
            <a:r>
              <a:rPr lang="en-US"/>
              <a:t>Click icon to create chart</a:t>
            </a:r>
          </a:p>
        </p:txBody>
      </p:sp>
      <p:sp>
        <p:nvSpPr>
          <p:cNvPr id="2" name="Slide Number Placeholder 1">
            <a:extLst>
              <a:ext uri="{FF2B5EF4-FFF2-40B4-BE49-F238E27FC236}">
                <a16:creationId xmlns:a16="http://schemas.microsoft.com/office/drawing/2014/main" id="{BBE9C038-E754-006F-B382-D714EB949571}"/>
              </a:ext>
            </a:extLst>
          </p:cNvPr>
          <p:cNvSpPr>
            <a:spLocks noGrp="1"/>
          </p:cNvSpPr>
          <p:nvPr>
            <p:ph type="sldNum" sz="quarter" idx="11"/>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13576614"/>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hart Slide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ACB66A80-279C-4965-0F32-1FF71BA7672D}"/>
              </a:ext>
            </a:extLst>
          </p:cNvPr>
          <p:cNvPicPr>
            <a:picLocks noChangeAspect="1"/>
          </p:cNvPicPr>
          <p:nvPr userDrawn="1"/>
        </p:nvPicPr>
        <p:blipFill>
          <a:blip r:embed="rId2"/>
          <a:stretch>
            <a:fillRect/>
          </a:stretch>
        </p:blipFill>
        <p:spPr>
          <a:xfrm>
            <a:off x="218" y="0"/>
            <a:ext cx="12188389" cy="6858000"/>
          </a:xfrm>
          <a:prstGeom prst="rect">
            <a:avLst/>
          </a:prstGeom>
        </p:spPr>
      </p:pic>
      <p:sp>
        <p:nvSpPr>
          <p:cNvPr id="10" name="Title 28"/>
          <p:cNvSpPr>
            <a:spLocks noGrp="1"/>
          </p:cNvSpPr>
          <p:nvPr>
            <p:ph type="title" hasCustomPrompt="1"/>
          </p:nvPr>
        </p:nvSpPr>
        <p:spPr bwMode="gray">
          <a:xfrm>
            <a:off x="760412" y="442528"/>
            <a:ext cx="10668001"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9" name="Chart Placeholder 2"/>
          <p:cNvSpPr>
            <a:spLocks noGrp="1"/>
          </p:cNvSpPr>
          <p:nvPr>
            <p:ph type="chart" sz="quarter" idx="10" hasCustomPrompt="1"/>
          </p:nvPr>
        </p:nvSpPr>
        <p:spPr bwMode="gray">
          <a:xfrm>
            <a:off x="760414" y="1523999"/>
            <a:ext cx="10668000" cy="4572001"/>
          </a:xfrm>
          <a:prstGeom prst="rect">
            <a:avLst/>
          </a:prstGeom>
        </p:spPr>
        <p:txBody>
          <a:bodyPr lIns="121899" tIns="853291" rIns="121899" bIns="60949" anchor="ctr" anchorCtr="0"/>
          <a:lstStyle>
            <a:lvl1pPr marL="0" indent="0" algn="ctr">
              <a:buFontTx/>
              <a:buNone/>
              <a:defRPr sz="2400" baseline="0">
                <a:solidFill>
                  <a:schemeClr val="bg1"/>
                </a:solidFill>
              </a:defRPr>
            </a:lvl1pPr>
          </a:lstStyle>
          <a:p>
            <a:r>
              <a:rPr lang="en-US"/>
              <a:t>Click icon to create chart</a:t>
            </a:r>
          </a:p>
        </p:txBody>
      </p:sp>
      <p:sp>
        <p:nvSpPr>
          <p:cNvPr id="2" name="Slide Number Placeholder 1">
            <a:extLst>
              <a:ext uri="{FF2B5EF4-FFF2-40B4-BE49-F238E27FC236}">
                <a16:creationId xmlns:a16="http://schemas.microsoft.com/office/drawing/2014/main" id="{A1222CEF-FCD3-E840-7AE1-E900A5D59CF2}"/>
              </a:ext>
            </a:extLst>
          </p:cNvPr>
          <p:cNvSpPr>
            <a:spLocks noGrp="1"/>
          </p:cNvSpPr>
          <p:nvPr>
            <p:ph type="sldNum" sz="quarter" idx="11"/>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4230333210"/>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2E9409-35B8-57EB-2941-154C5CA02C34}"/>
              </a:ext>
            </a:extLst>
          </p:cNvPr>
          <p:cNvSpPr>
            <a:spLocks noGrp="1"/>
          </p:cNvSpPr>
          <p:nvPr>
            <p:ph type="sldNum" sz="quarter" idx="10"/>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3463835932"/>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Blank Slide_Black">
    <p:bg>
      <p:bgPr>
        <a:solidFill>
          <a:srgbClr val="1E0113"/>
        </a:solidFill>
        <a:effectLst/>
      </p:bgPr>
    </p:bg>
    <p:spTree>
      <p:nvGrpSpPr>
        <p:cNvPr id="1" name=""/>
        <p:cNvGrpSpPr/>
        <p:nvPr/>
      </p:nvGrpSpPr>
      <p:grpSpPr>
        <a:xfrm>
          <a:off x="0" y="0"/>
          <a:ext cx="0" cy="0"/>
          <a:chOff x="0" y="0"/>
          <a:chExt cx="0" cy="0"/>
        </a:xfrm>
      </p:grpSpPr>
      <p:pic>
        <p:nvPicPr>
          <p:cNvPr id="3" name="Picture 2" descr="Circle&#10;&#10;Description automatically generated">
            <a:extLst>
              <a:ext uri="{FF2B5EF4-FFF2-40B4-BE49-F238E27FC236}">
                <a16:creationId xmlns:a16="http://schemas.microsoft.com/office/drawing/2014/main" id="{C8FEE81D-5761-2CFD-4F01-712F5A2FDD08}"/>
              </a:ext>
            </a:extLst>
          </p:cNvPr>
          <p:cNvPicPr>
            <a:picLocks noChangeAspect="1"/>
          </p:cNvPicPr>
          <p:nvPr userDrawn="1"/>
        </p:nvPicPr>
        <p:blipFill>
          <a:blip r:embed="rId2"/>
          <a:stretch>
            <a:fillRect/>
          </a:stretch>
        </p:blipFill>
        <p:spPr>
          <a:xfrm>
            <a:off x="218" y="0"/>
            <a:ext cx="12188389" cy="6858000"/>
          </a:xfrm>
          <a:prstGeom prst="rect">
            <a:avLst/>
          </a:prstGeom>
        </p:spPr>
      </p:pic>
      <p:sp>
        <p:nvSpPr>
          <p:cNvPr id="2" name="Slide Number Placeholder 1">
            <a:extLst>
              <a:ext uri="{FF2B5EF4-FFF2-40B4-BE49-F238E27FC236}">
                <a16:creationId xmlns:a16="http://schemas.microsoft.com/office/drawing/2014/main" id="{0094B782-D6B1-E164-080E-40821B7DAFAF}"/>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737376891"/>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bg1"/>
        </a:solidFill>
        <a:effectLst/>
      </p:bgPr>
    </p:bg>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04DB0252-2F51-9D54-5F87-47E8112037C5}"/>
              </a:ext>
            </a:extLst>
          </p:cNvPr>
          <p:cNvGrpSpPr/>
          <p:nvPr userDrawn="1"/>
        </p:nvGrpSpPr>
        <p:grpSpPr>
          <a:xfrm>
            <a:off x="9390324" y="936748"/>
            <a:ext cx="1965963" cy="1042086"/>
            <a:chOff x="4988072" y="501936"/>
            <a:chExt cx="1978802" cy="1051017"/>
          </a:xfrm>
          <a:solidFill>
            <a:srgbClr val="4D144A"/>
          </a:solidFill>
        </p:grpSpPr>
        <p:sp>
          <p:nvSpPr>
            <p:cNvPr id="85" name="Freeform 5">
              <a:extLst>
                <a:ext uri="{FF2B5EF4-FFF2-40B4-BE49-F238E27FC236}">
                  <a16:creationId xmlns:a16="http://schemas.microsoft.com/office/drawing/2014/main" id="{433FD598-576F-FFF0-672B-6A9B1AF51242}"/>
                </a:ext>
              </a:extLst>
            </p:cNvPr>
            <p:cNvSpPr>
              <a:spLocks/>
            </p:cNvSpPr>
            <p:nvPr userDrawn="1"/>
          </p:nvSpPr>
          <p:spPr bwMode="auto">
            <a:xfrm>
              <a:off x="5559016" y="501936"/>
              <a:ext cx="218094" cy="282813"/>
            </a:xfrm>
            <a:custGeom>
              <a:avLst/>
              <a:gdLst>
                <a:gd name="T0" fmla="*/ 0 w 502"/>
                <a:gd name="T1" fmla="*/ 550 h 651"/>
                <a:gd name="T2" fmla="*/ 83 w 502"/>
                <a:gd name="T3" fmla="*/ 451 h 651"/>
                <a:gd name="T4" fmla="*/ 272 w 502"/>
                <a:gd name="T5" fmla="*/ 528 h 651"/>
                <a:gd name="T6" fmla="*/ 363 w 502"/>
                <a:gd name="T7" fmla="*/ 469 h 651"/>
                <a:gd name="T8" fmla="*/ 363 w 502"/>
                <a:gd name="T9" fmla="*/ 467 h 651"/>
                <a:gd name="T10" fmla="*/ 236 w 502"/>
                <a:gd name="T11" fmla="*/ 386 h 651"/>
                <a:gd name="T12" fmla="*/ 26 w 502"/>
                <a:gd name="T13" fmla="*/ 192 h 651"/>
                <a:gd name="T14" fmla="*/ 26 w 502"/>
                <a:gd name="T15" fmla="*/ 191 h 651"/>
                <a:gd name="T16" fmla="*/ 247 w 502"/>
                <a:gd name="T17" fmla="*/ 0 h 651"/>
                <a:gd name="T18" fmla="*/ 483 w 502"/>
                <a:gd name="T19" fmla="*/ 80 h 651"/>
                <a:gd name="T20" fmla="*/ 410 w 502"/>
                <a:gd name="T21" fmla="*/ 185 h 651"/>
                <a:gd name="T22" fmla="*/ 246 w 502"/>
                <a:gd name="T23" fmla="*/ 123 h 651"/>
                <a:gd name="T24" fmla="*/ 164 w 502"/>
                <a:gd name="T25" fmla="*/ 178 h 651"/>
                <a:gd name="T26" fmla="*/ 164 w 502"/>
                <a:gd name="T27" fmla="*/ 180 h 651"/>
                <a:gd name="T28" fmla="*/ 301 w 502"/>
                <a:gd name="T29" fmla="*/ 263 h 651"/>
                <a:gd name="T30" fmla="*/ 502 w 502"/>
                <a:gd name="T31" fmla="*/ 453 h 651"/>
                <a:gd name="T32" fmla="*/ 502 w 502"/>
                <a:gd name="T33" fmla="*/ 455 h 651"/>
                <a:gd name="T34" fmla="*/ 269 w 502"/>
                <a:gd name="T35" fmla="*/ 651 h 651"/>
                <a:gd name="T36" fmla="*/ 0 w 502"/>
                <a:gd name="T37" fmla="*/ 550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651">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6">
              <a:extLst>
                <a:ext uri="{FF2B5EF4-FFF2-40B4-BE49-F238E27FC236}">
                  <a16:creationId xmlns:a16="http://schemas.microsoft.com/office/drawing/2014/main" id="{824AAD10-C96C-2D4A-15C2-1D354C7C691E}"/>
                </a:ext>
              </a:extLst>
            </p:cNvPr>
            <p:cNvSpPr>
              <a:spLocks/>
            </p:cNvSpPr>
            <p:nvPr userDrawn="1"/>
          </p:nvSpPr>
          <p:spPr bwMode="auto">
            <a:xfrm>
              <a:off x="5791295" y="566212"/>
              <a:ext cx="322264" cy="214547"/>
            </a:xfrm>
            <a:custGeom>
              <a:avLst/>
              <a:gdLst>
                <a:gd name="T0" fmla="*/ 0 w 741"/>
                <a:gd name="T1" fmla="*/ 9 h 494"/>
                <a:gd name="T2" fmla="*/ 138 w 741"/>
                <a:gd name="T3" fmla="*/ 9 h 494"/>
                <a:gd name="T4" fmla="*/ 138 w 741"/>
                <a:gd name="T5" fmla="*/ 78 h 494"/>
                <a:gd name="T6" fmla="*/ 281 w 741"/>
                <a:gd name="T7" fmla="*/ 0 h 494"/>
                <a:gd name="T8" fmla="*/ 418 w 741"/>
                <a:gd name="T9" fmla="*/ 77 h 494"/>
                <a:gd name="T10" fmla="*/ 577 w 741"/>
                <a:gd name="T11" fmla="*/ 0 h 494"/>
                <a:gd name="T12" fmla="*/ 741 w 741"/>
                <a:gd name="T13" fmla="*/ 178 h 494"/>
                <a:gd name="T14" fmla="*/ 741 w 741"/>
                <a:gd name="T15" fmla="*/ 494 h 494"/>
                <a:gd name="T16" fmla="*/ 603 w 741"/>
                <a:gd name="T17" fmla="*/ 494 h 494"/>
                <a:gd name="T18" fmla="*/ 603 w 741"/>
                <a:gd name="T19" fmla="*/ 224 h 494"/>
                <a:gd name="T20" fmla="*/ 523 w 741"/>
                <a:gd name="T21" fmla="*/ 125 h 494"/>
                <a:gd name="T22" fmla="*/ 439 w 741"/>
                <a:gd name="T23" fmla="*/ 224 h 494"/>
                <a:gd name="T24" fmla="*/ 439 w 741"/>
                <a:gd name="T25" fmla="*/ 494 h 494"/>
                <a:gd name="T26" fmla="*/ 302 w 741"/>
                <a:gd name="T27" fmla="*/ 494 h 494"/>
                <a:gd name="T28" fmla="*/ 302 w 741"/>
                <a:gd name="T29" fmla="*/ 224 h 494"/>
                <a:gd name="T30" fmla="*/ 221 w 741"/>
                <a:gd name="T31" fmla="*/ 125 h 494"/>
                <a:gd name="T32" fmla="*/ 138 w 741"/>
                <a:gd name="T33" fmla="*/ 224 h 494"/>
                <a:gd name="T34" fmla="*/ 138 w 741"/>
                <a:gd name="T35" fmla="*/ 494 h 494"/>
                <a:gd name="T36" fmla="*/ 0 w 741"/>
                <a:gd name="T37" fmla="*/ 494 h 494"/>
                <a:gd name="T38" fmla="*/ 0 w 741"/>
                <a:gd name="T39"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1" h="494">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7">
              <a:extLst>
                <a:ext uri="{FF2B5EF4-FFF2-40B4-BE49-F238E27FC236}">
                  <a16:creationId xmlns:a16="http://schemas.microsoft.com/office/drawing/2014/main" id="{8776387C-7DBE-0FBD-3AED-689433E76864}"/>
                </a:ext>
              </a:extLst>
            </p:cNvPr>
            <p:cNvSpPr>
              <a:spLocks noEditPoints="1"/>
            </p:cNvSpPr>
            <p:nvPr userDrawn="1"/>
          </p:nvSpPr>
          <p:spPr bwMode="auto">
            <a:xfrm>
              <a:off x="6125971" y="567985"/>
              <a:ext cx="193713" cy="216764"/>
            </a:xfrm>
            <a:custGeom>
              <a:avLst/>
              <a:gdLst>
                <a:gd name="T0" fmla="*/ 0 w 446"/>
                <a:gd name="T1" fmla="*/ 351 h 499"/>
                <a:gd name="T2" fmla="*/ 0 w 446"/>
                <a:gd name="T3" fmla="*/ 349 h 499"/>
                <a:gd name="T4" fmla="*/ 195 w 446"/>
                <a:gd name="T5" fmla="*/ 194 h 499"/>
                <a:gd name="T6" fmla="*/ 314 w 446"/>
                <a:gd name="T7" fmla="*/ 214 h 499"/>
                <a:gd name="T8" fmla="*/ 314 w 446"/>
                <a:gd name="T9" fmla="*/ 206 h 499"/>
                <a:gd name="T10" fmla="*/ 210 w 446"/>
                <a:gd name="T11" fmla="*/ 117 h 499"/>
                <a:gd name="T12" fmla="*/ 76 w 446"/>
                <a:gd name="T13" fmla="*/ 144 h 499"/>
                <a:gd name="T14" fmla="*/ 42 w 446"/>
                <a:gd name="T15" fmla="*/ 39 h 499"/>
                <a:gd name="T16" fmla="*/ 230 w 446"/>
                <a:gd name="T17" fmla="*/ 0 h 499"/>
                <a:gd name="T18" fmla="*/ 394 w 446"/>
                <a:gd name="T19" fmla="*/ 54 h 499"/>
                <a:gd name="T20" fmla="*/ 446 w 446"/>
                <a:gd name="T21" fmla="*/ 209 h 499"/>
                <a:gd name="T22" fmla="*/ 446 w 446"/>
                <a:gd name="T23" fmla="*/ 490 h 499"/>
                <a:gd name="T24" fmla="*/ 313 w 446"/>
                <a:gd name="T25" fmla="*/ 490 h 499"/>
                <a:gd name="T26" fmla="*/ 313 w 446"/>
                <a:gd name="T27" fmla="*/ 438 h 499"/>
                <a:gd name="T28" fmla="*/ 166 w 446"/>
                <a:gd name="T29" fmla="*/ 499 h 499"/>
                <a:gd name="T30" fmla="*/ 0 w 446"/>
                <a:gd name="T31" fmla="*/ 351 h 499"/>
                <a:gd name="T32" fmla="*/ 316 w 446"/>
                <a:gd name="T33" fmla="*/ 319 h 499"/>
                <a:gd name="T34" fmla="*/ 316 w 446"/>
                <a:gd name="T35" fmla="*/ 295 h 499"/>
                <a:gd name="T36" fmla="*/ 228 w 446"/>
                <a:gd name="T37" fmla="*/ 277 h 499"/>
                <a:gd name="T38" fmla="*/ 133 w 446"/>
                <a:gd name="T39" fmla="*/ 344 h 499"/>
                <a:gd name="T40" fmla="*/ 133 w 446"/>
                <a:gd name="T41" fmla="*/ 346 h 499"/>
                <a:gd name="T42" fmla="*/ 208 w 446"/>
                <a:gd name="T43" fmla="*/ 404 h 499"/>
                <a:gd name="T44" fmla="*/ 316 w 446"/>
                <a:gd name="T45" fmla="*/ 31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499">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8">
              <a:extLst>
                <a:ext uri="{FF2B5EF4-FFF2-40B4-BE49-F238E27FC236}">
                  <a16:creationId xmlns:a16="http://schemas.microsoft.com/office/drawing/2014/main" id="{262E0FEC-2981-11B0-3D88-8A94D08178CF}"/>
                </a:ext>
              </a:extLst>
            </p:cNvPr>
            <p:cNvSpPr>
              <a:spLocks/>
            </p:cNvSpPr>
            <p:nvPr userDrawn="1"/>
          </p:nvSpPr>
          <p:spPr bwMode="auto">
            <a:xfrm>
              <a:off x="6336529" y="564438"/>
              <a:ext cx="127665"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9">
              <a:extLst>
                <a:ext uri="{FF2B5EF4-FFF2-40B4-BE49-F238E27FC236}">
                  <a16:creationId xmlns:a16="http://schemas.microsoft.com/office/drawing/2014/main" id="{FECC1288-545E-BDB4-6462-3EE5544D7025}"/>
                </a:ext>
              </a:extLst>
            </p:cNvPr>
            <p:cNvSpPr>
              <a:spLocks/>
            </p:cNvSpPr>
            <p:nvPr userDrawn="1"/>
          </p:nvSpPr>
          <p:spPr bwMode="auto">
            <a:xfrm>
              <a:off x="6475719" y="516121"/>
              <a:ext cx="134757" cy="268184"/>
            </a:xfrm>
            <a:custGeom>
              <a:avLst/>
              <a:gdLst>
                <a:gd name="T0" fmla="*/ 58 w 310"/>
                <a:gd name="T1" fmla="*/ 472 h 617"/>
                <a:gd name="T2" fmla="*/ 58 w 310"/>
                <a:gd name="T3" fmla="*/ 242 h 617"/>
                <a:gd name="T4" fmla="*/ 0 w 310"/>
                <a:gd name="T5" fmla="*/ 242 h 617"/>
                <a:gd name="T6" fmla="*/ 0 w 310"/>
                <a:gd name="T7" fmla="*/ 124 h 617"/>
                <a:gd name="T8" fmla="*/ 58 w 310"/>
                <a:gd name="T9" fmla="*/ 124 h 617"/>
                <a:gd name="T10" fmla="*/ 58 w 310"/>
                <a:gd name="T11" fmla="*/ 0 h 617"/>
                <a:gd name="T12" fmla="*/ 196 w 310"/>
                <a:gd name="T13" fmla="*/ 0 h 617"/>
                <a:gd name="T14" fmla="*/ 196 w 310"/>
                <a:gd name="T15" fmla="*/ 124 h 617"/>
                <a:gd name="T16" fmla="*/ 310 w 310"/>
                <a:gd name="T17" fmla="*/ 124 h 617"/>
                <a:gd name="T18" fmla="*/ 310 w 310"/>
                <a:gd name="T19" fmla="*/ 242 h 617"/>
                <a:gd name="T20" fmla="*/ 196 w 310"/>
                <a:gd name="T21" fmla="*/ 242 h 617"/>
                <a:gd name="T22" fmla="*/ 196 w 310"/>
                <a:gd name="T23" fmla="*/ 449 h 617"/>
                <a:gd name="T24" fmla="*/ 240 w 310"/>
                <a:gd name="T25" fmla="*/ 496 h 617"/>
                <a:gd name="T26" fmla="*/ 308 w 310"/>
                <a:gd name="T27" fmla="*/ 479 h 617"/>
                <a:gd name="T28" fmla="*/ 308 w 310"/>
                <a:gd name="T29" fmla="*/ 589 h 617"/>
                <a:gd name="T30" fmla="*/ 199 w 310"/>
                <a:gd name="T31" fmla="*/ 617 h 617"/>
                <a:gd name="T32" fmla="*/ 58 w 310"/>
                <a:gd name="T33" fmla="*/ 472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7">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10">
              <a:extLst>
                <a:ext uri="{FF2B5EF4-FFF2-40B4-BE49-F238E27FC236}">
                  <a16:creationId xmlns:a16="http://schemas.microsoft.com/office/drawing/2014/main" id="{9DB49BE1-F1C8-5A4F-1BE7-B9C5B671A4B9}"/>
                </a:ext>
              </a:extLst>
            </p:cNvPr>
            <p:cNvSpPr>
              <a:spLocks noEditPoints="1"/>
            </p:cNvSpPr>
            <p:nvPr userDrawn="1"/>
          </p:nvSpPr>
          <p:spPr bwMode="auto">
            <a:xfrm>
              <a:off x="6618455" y="566212"/>
              <a:ext cx="207012" cy="219424"/>
            </a:xfrm>
            <a:custGeom>
              <a:avLst/>
              <a:gdLst>
                <a:gd name="T0" fmla="*/ 0 w 476"/>
                <a:gd name="T1" fmla="*/ 254 h 505"/>
                <a:gd name="T2" fmla="*/ 0 w 476"/>
                <a:gd name="T3" fmla="*/ 253 h 505"/>
                <a:gd name="T4" fmla="*/ 240 w 476"/>
                <a:gd name="T5" fmla="*/ 0 h 505"/>
                <a:gd name="T6" fmla="*/ 476 w 476"/>
                <a:gd name="T7" fmla="*/ 263 h 505"/>
                <a:gd name="T8" fmla="*/ 475 w 476"/>
                <a:gd name="T9" fmla="*/ 300 h 505"/>
                <a:gd name="T10" fmla="*/ 137 w 476"/>
                <a:gd name="T11" fmla="*/ 300 h 505"/>
                <a:gd name="T12" fmla="*/ 256 w 476"/>
                <a:gd name="T13" fmla="*/ 395 h 505"/>
                <a:gd name="T14" fmla="*/ 373 w 476"/>
                <a:gd name="T15" fmla="*/ 345 h 505"/>
                <a:gd name="T16" fmla="*/ 452 w 476"/>
                <a:gd name="T17" fmla="*/ 415 h 505"/>
                <a:gd name="T18" fmla="*/ 254 w 476"/>
                <a:gd name="T19" fmla="*/ 505 h 505"/>
                <a:gd name="T20" fmla="*/ 0 w 476"/>
                <a:gd name="T21" fmla="*/ 254 h 505"/>
                <a:gd name="T22" fmla="*/ 342 w 476"/>
                <a:gd name="T23" fmla="*/ 214 h 505"/>
                <a:gd name="T24" fmla="*/ 240 w 476"/>
                <a:gd name="T25" fmla="*/ 111 h 505"/>
                <a:gd name="T26" fmla="*/ 135 w 476"/>
                <a:gd name="T27" fmla="*/ 214 h 505"/>
                <a:gd name="T28" fmla="*/ 342 w 476"/>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05">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11">
              <a:extLst>
                <a:ext uri="{FF2B5EF4-FFF2-40B4-BE49-F238E27FC236}">
                  <a16:creationId xmlns:a16="http://schemas.microsoft.com/office/drawing/2014/main" id="{5700CEE7-82FA-F314-D150-00348A9C1993}"/>
                </a:ext>
              </a:extLst>
            </p:cNvPr>
            <p:cNvSpPr>
              <a:spLocks/>
            </p:cNvSpPr>
            <p:nvPr userDrawn="1"/>
          </p:nvSpPr>
          <p:spPr bwMode="auto">
            <a:xfrm>
              <a:off x="6837879" y="564438"/>
              <a:ext cx="127221"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12">
              <a:extLst>
                <a:ext uri="{FF2B5EF4-FFF2-40B4-BE49-F238E27FC236}">
                  <a16:creationId xmlns:a16="http://schemas.microsoft.com/office/drawing/2014/main" id="{FC0AB9F7-3D02-4537-31F6-D98B2250C9F3}"/>
                </a:ext>
              </a:extLst>
            </p:cNvPr>
            <p:cNvSpPr>
              <a:spLocks/>
            </p:cNvSpPr>
            <p:nvPr userDrawn="1"/>
          </p:nvSpPr>
          <p:spPr bwMode="auto">
            <a:xfrm>
              <a:off x="4988072" y="888476"/>
              <a:ext cx="134757" cy="268628"/>
            </a:xfrm>
            <a:custGeom>
              <a:avLst/>
              <a:gdLst>
                <a:gd name="T0" fmla="*/ 58 w 310"/>
                <a:gd name="T1" fmla="*/ 472 h 618"/>
                <a:gd name="T2" fmla="*/ 58 w 310"/>
                <a:gd name="T3" fmla="*/ 242 h 618"/>
                <a:gd name="T4" fmla="*/ 0 w 310"/>
                <a:gd name="T5" fmla="*/ 242 h 618"/>
                <a:gd name="T6" fmla="*/ 0 w 310"/>
                <a:gd name="T7" fmla="*/ 124 h 618"/>
                <a:gd name="T8" fmla="*/ 58 w 310"/>
                <a:gd name="T9" fmla="*/ 124 h 618"/>
                <a:gd name="T10" fmla="*/ 58 w 310"/>
                <a:gd name="T11" fmla="*/ 0 h 618"/>
                <a:gd name="T12" fmla="*/ 195 w 310"/>
                <a:gd name="T13" fmla="*/ 0 h 618"/>
                <a:gd name="T14" fmla="*/ 195 w 310"/>
                <a:gd name="T15" fmla="*/ 124 h 618"/>
                <a:gd name="T16" fmla="*/ 310 w 310"/>
                <a:gd name="T17" fmla="*/ 124 h 618"/>
                <a:gd name="T18" fmla="*/ 310 w 310"/>
                <a:gd name="T19" fmla="*/ 242 h 618"/>
                <a:gd name="T20" fmla="*/ 195 w 310"/>
                <a:gd name="T21" fmla="*/ 242 h 618"/>
                <a:gd name="T22" fmla="*/ 195 w 310"/>
                <a:gd name="T23" fmla="*/ 449 h 618"/>
                <a:gd name="T24" fmla="*/ 240 w 310"/>
                <a:gd name="T25" fmla="*/ 496 h 618"/>
                <a:gd name="T26" fmla="*/ 308 w 310"/>
                <a:gd name="T27" fmla="*/ 479 h 618"/>
                <a:gd name="T28" fmla="*/ 308 w 310"/>
                <a:gd name="T29" fmla="*/ 590 h 618"/>
                <a:gd name="T30" fmla="*/ 199 w 310"/>
                <a:gd name="T31" fmla="*/ 618 h 618"/>
                <a:gd name="T32" fmla="*/ 58 w 310"/>
                <a:gd name="T33" fmla="*/ 472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8">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13">
              <a:extLst>
                <a:ext uri="{FF2B5EF4-FFF2-40B4-BE49-F238E27FC236}">
                  <a16:creationId xmlns:a16="http://schemas.microsoft.com/office/drawing/2014/main" id="{12D11DBC-90A7-4337-F6CB-C20DBD872CBD}"/>
                </a:ext>
              </a:extLst>
            </p:cNvPr>
            <p:cNvSpPr>
              <a:spLocks noEditPoints="1"/>
            </p:cNvSpPr>
            <p:nvPr userDrawn="1"/>
          </p:nvSpPr>
          <p:spPr bwMode="auto">
            <a:xfrm>
              <a:off x="5131251" y="938123"/>
              <a:ext cx="207455" cy="219867"/>
            </a:xfrm>
            <a:custGeom>
              <a:avLst/>
              <a:gdLst>
                <a:gd name="T0" fmla="*/ 0 w 477"/>
                <a:gd name="T1" fmla="*/ 254 h 505"/>
                <a:gd name="T2" fmla="*/ 0 w 477"/>
                <a:gd name="T3" fmla="*/ 253 h 505"/>
                <a:gd name="T4" fmla="*/ 240 w 477"/>
                <a:gd name="T5" fmla="*/ 0 h 505"/>
                <a:gd name="T6" fmla="*/ 477 w 477"/>
                <a:gd name="T7" fmla="*/ 263 h 505"/>
                <a:gd name="T8" fmla="*/ 475 w 477"/>
                <a:gd name="T9" fmla="*/ 300 h 505"/>
                <a:gd name="T10" fmla="*/ 137 w 477"/>
                <a:gd name="T11" fmla="*/ 300 h 505"/>
                <a:gd name="T12" fmla="*/ 256 w 477"/>
                <a:gd name="T13" fmla="*/ 395 h 505"/>
                <a:gd name="T14" fmla="*/ 373 w 477"/>
                <a:gd name="T15" fmla="*/ 345 h 505"/>
                <a:gd name="T16" fmla="*/ 452 w 477"/>
                <a:gd name="T17" fmla="*/ 415 h 505"/>
                <a:gd name="T18" fmla="*/ 254 w 477"/>
                <a:gd name="T19" fmla="*/ 505 h 505"/>
                <a:gd name="T20" fmla="*/ 0 w 477"/>
                <a:gd name="T21" fmla="*/ 254 h 505"/>
                <a:gd name="T22" fmla="*/ 343 w 477"/>
                <a:gd name="T23" fmla="*/ 214 h 505"/>
                <a:gd name="T24" fmla="*/ 240 w 477"/>
                <a:gd name="T25" fmla="*/ 111 h 505"/>
                <a:gd name="T26" fmla="*/ 135 w 477"/>
                <a:gd name="T27" fmla="*/ 214 h 505"/>
                <a:gd name="T28" fmla="*/ 343 w 477"/>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7" h="505">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14">
              <a:extLst>
                <a:ext uri="{FF2B5EF4-FFF2-40B4-BE49-F238E27FC236}">
                  <a16:creationId xmlns:a16="http://schemas.microsoft.com/office/drawing/2014/main" id="{F524D8E9-37C3-A27E-30E8-DF8ACF25D41F}"/>
                </a:ext>
              </a:extLst>
            </p:cNvPr>
            <p:cNvSpPr>
              <a:spLocks/>
            </p:cNvSpPr>
            <p:nvPr userDrawn="1"/>
          </p:nvSpPr>
          <p:spPr bwMode="auto">
            <a:xfrm>
              <a:off x="5348015" y="938123"/>
              <a:ext cx="195486" cy="219867"/>
            </a:xfrm>
            <a:custGeom>
              <a:avLst/>
              <a:gdLst>
                <a:gd name="T0" fmla="*/ 0 w 450"/>
                <a:gd name="T1" fmla="*/ 254 h 505"/>
                <a:gd name="T2" fmla="*/ 0 w 450"/>
                <a:gd name="T3" fmla="*/ 253 h 505"/>
                <a:gd name="T4" fmla="*/ 254 w 450"/>
                <a:gd name="T5" fmla="*/ 0 h 505"/>
                <a:gd name="T6" fmla="*/ 448 w 450"/>
                <a:gd name="T7" fmla="*/ 82 h 505"/>
                <a:gd name="T8" fmla="*/ 363 w 450"/>
                <a:gd name="T9" fmla="*/ 172 h 505"/>
                <a:gd name="T10" fmla="*/ 253 w 450"/>
                <a:gd name="T11" fmla="*/ 119 h 505"/>
                <a:gd name="T12" fmla="*/ 135 w 450"/>
                <a:gd name="T13" fmla="*/ 251 h 505"/>
                <a:gd name="T14" fmla="*/ 135 w 450"/>
                <a:gd name="T15" fmla="*/ 253 h 505"/>
                <a:gd name="T16" fmla="*/ 258 w 450"/>
                <a:gd name="T17" fmla="*/ 387 h 505"/>
                <a:gd name="T18" fmla="*/ 370 w 450"/>
                <a:gd name="T19" fmla="*/ 335 h 505"/>
                <a:gd name="T20" fmla="*/ 450 w 450"/>
                <a:gd name="T21" fmla="*/ 416 h 505"/>
                <a:gd name="T22" fmla="*/ 252 w 450"/>
                <a:gd name="T23" fmla="*/ 505 h 505"/>
                <a:gd name="T24" fmla="*/ 0 w 450"/>
                <a:gd name="T25"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0" h="505">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15">
              <a:extLst>
                <a:ext uri="{FF2B5EF4-FFF2-40B4-BE49-F238E27FC236}">
                  <a16:creationId xmlns:a16="http://schemas.microsoft.com/office/drawing/2014/main" id="{083673F6-E265-4005-D62C-293234A8CE09}"/>
                </a:ext>
              </a:extLst>
            </p:cNvPr>
            <p:cNvSpPr>
              <a:spLocks/>
            </p:cNvSpPr>
            <p:nvPr userDrawn="1"/>
          </p:nvSpPr>
          <p:spPr bwMode="auto">
            <a:xfrm>
              <a:off x="5553254" y="866312"/>
              <a:ext cx="193270" cy="286802"/>
            </a:xfrm>
            <a:custGeom>
              <a:avLst/>
              <a:gdLst>
                <a:gd name="T0" fmla="*/ 0 w 445"/>
                <a:gd name="T1" fmla="*/ 0 h 660"/>
                <a:gd name="T2" fmla="*/ 138 w 445"/>
                <a:gd name="T3" fmla="*/ 0 h 660"/>
                <a:gd name="T4" fmla="*/ 138 w 445"/>
                <a:gd name="T5" fmla="*/ 244 h 660"/>
                <a:gd name="T6" fmla="*/ 280 w 445"/>
                <a:gd name="T7" fmla="*/ 166 h 660"/>
                <a:gd name="T8" fmla="*/ 445 w 445"/>
                <a:gd name="T9" fmla="*/ 346 h 660"/>
                <a:gd name="T10" fmla="*/ 445 w 445"/>
                <a:gd name="T11" fmla="*/ 660 h 660"/>
                <a:gd name="T12" fmla="*/ 307 w 445"/>
                <a:gd name="T13" fmla="*/ 660 h 660"/>
                <a:gd name="T14" fmla="*/ 307 w 445"/>
                <a:gd name="T15" fmla="*/ 390 h 660"/>
                <a:gd name="T16" fmla="*/ 224 w 445"/>
                <a:gd name="T17" fmla="*/ 291 h 660"/>
                <a:gd name="T18" fmla="*/ 138 w 445"/>
                <a:gd name="T19" fmla="*/ 390 h 660"/>
                <a:gd name="T20" fmla="*/ 138 w 445"/>
                <a:gd name="T21" fmla="*/ 660 h 660"/>
                <a:gd name="T22" fmla="*/ 0 w 445"/>
                <a:gd name="T23" fmla="*/ 660 h 660"/>
                <a:gd name="T24" fmla="*/ 0 w 445"/>
                <a:gd name="T25"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5" h="660">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16">
              <a:extLst>
                <a:ext uri="{FF2B5EF4-FFF2-40B4-BE49-F238E27FC236}">
                  <a16:creationId xmlns:a16="http://schemas.microsoft.com/office/drawing/2014/main" id="{4F04928C-BA06-2085-F636-A4F44FC6E987}"/>
                </a:ext>
              </a:extLst>
            </p:cNvPr>
            <p:cNvSpPr>
              <a:spLocks/>
            </p:cNvSpPr>
            <p:nvPr userDrawn="1"/>
          </p:nvSpPr>
          <p:spPr bwMode="auto">
            <a:xfrm>
              <a:off x="5762039" y="938123"/>
              <a:ext cx="192827" cy="214991"/>
            </a:xfrm>
            <a:custGeom>
              <a:avLst/>
              <a:gdLst>
                <a:gd name="T0" fmla="*/ 0 w 444"/>
                <a:gd name="T1" fmla="*/ 9 h 494"/>
                <a:gd name="T2" fmla="*/ 137 w 444"/>
                <a:gd name="T3" fmla="*/ 9 h 494"/>
                <a:gd name="T4" fmla="*/ 137 w 444"/>
                <a:gd name="T5" fmla="*/ 78 h 494"/>
                <a:gd name="T6" fmla="*/ 279 w 444"/>
                <a:gd name="T7" fmla="*/ 0 h 494"/>
                <a:gd name="T8" fmla="*/ 444 w 444"/>
                <a:gd name="T9" fmla="*/ 180 h 494"/>
                <a:gd name="T10" fmla="*/ 444 w 444"/>
                <a:gd name="T11" fmla="*/ 494 h 494"/>
                <a:gd name="T12" fmla="*/ 306 w 444"/>
                <a:gd name="T13" fmla="*/ 494 h 494"/>
                <a:gd name="T14" fmla="*/ 306 w 444"/>
                <a:gd name="T15" fmla="*/ 224 h 494"/>
                <a:gd name="T16" fmla="*/ 223 w 444"/>
                <a:gd name="T17" fmla="*/ 125 h 494"/>
                <a:gd name="T18" fmla="*/ 137 w 444"/>
                <a:gd name="T19" fmla="*/ 224 h 494"/>
                <a:gd name="T20" fmla="*/ 137 w 444"/>
                <a:gd name="T21" fmla="*/ 494 h 494"/>
                <a:gd name="T22" fmla="*/ 0 w 444"/>
                <a:gd name="T23" fmla="*/ 494 h 494"/>
                <a:gd name="T24" fmla="*/ 0 w 444"/>
                <a:gd name="T25"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4" h="49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17">
              <a:extLst>
                <a:ext uri="{FF2B5EF4-FFF2-40B4-BE49-F238E27FC236}">
                  <a16:creationId xmlns:a16="http://schemas.microsoft.com/office/drawing/2014/main" id="{0B7609F1-6889-0F3F-1078-1078D3AEDAE7}"/>
                </a:ext>
              </a:extLst>
            </p:cNvPr>
            <p:cNvSpPr>
              <a:spLocks noEditPoints="1"/>
            </p:cNvSpPr>
            <p:nvPr userDrawn="1"/>
          </p:nvSpPr>
          <p:spPr bwMode="auto">
            <a:xfrm>
              <a:off x="5967277" y="938123"/>
              <a:ext cx="228289" cy="219867"/>
            </a:xfrm>
            <a:custGeom>
              <a:avLst/>
              <a:gdLst>
                <a:gd name="T0" fmla="*/ 0 w 525"/>
                <a:gd name="T1" fmla="*/ 254 h 505"/>
                <a:gd name="T2" fmla="*/ 0 w 525"/>
                <a:gd name="T3" fmla="*/ 253 h 505"/>
                <a:gd name="T4" fmla="*/ 263 w 525"/>
                <a:gd name="T5" fmla="*/ 0 h 505"/>
                <a:gd name="T6" fmla="*/ 525 w 525"/>
                <a:gd name="T7" fmla="*/ 251 h 505"/>
                <a:gd name="T8" fmla="*/ 525 w 525"/>
                <a:gd name="T9" fmla="*/ 253 h 505"/>
                <a:gd name="T10" fmla="*/ 262 w 525"/>
                <a:gd name="T11" fmla="*/ 505 h 505"/>
                <a:gd name="T12" fmla="*/ 0 w 525"/>
                <a:gd name="T13" fmla="*/ 254 h 505"/>
                <a:gd name="T14" fmla="*/ 389 w 525"/>
                <a:gd name="T15" fmla="*/ 254 h 505"/>
                <a:gd name="T16" fmla="*/ 389 w 525"/>
                <a:gd name="T17" fmla="*/ 253 h 505"/>
                <a:gd name="T18" fmla="*/ 262 w 525"/>
                <a:gd name="T19" fmla="*/ 119 h 505"/>
                <a:gd name="T20" fmla="*/ 136 w 525"/>
                <a:gd name="T21" fmla="*/ 251 h 505"/>
                <a:gd name="T22" fmla="*/ 136 w 525"/>
                <a:gd name="T23" fmla="*/ 253 h 505"/>
                <a:gd name="T24" fmla="*/ 263 w 525"/>
                <a:gd name="T25" fmla="*/ 387 h 505"/>
                <a:gd name="T26" fmla="*/ 389 w 525"/>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Rectangle 18">
              <a:extLst>
                <a:ext uri="{FF2B5EF4-FFF2-40B4-BE49-F238E27FC236}">
                  <a16:creationId xmlns:a16="http://schemas.microsoft.com/office/drawing/2014/main" id="{14DEDB85-DF79-F93C-595F-4B0E6B36F339}"/>
                </a:ext>
              </a:extLst>
            </p:cNvPr>
            <p:cNvSpPr>
              <a:spLocks noChangeArrowheads="1"/>
            </p:cNvSpPr>
            <p:nvPr userDrawn="1"/>
          </p:nvSpPr>
          <p:spPr bwMode="auto">
            <a:xfrm>
              <a:off x="6207091" y="866312"/>
              <a:ext cx="59843" cy="28680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19">
              <a:extLst>
                <a:ext uri="{FF2B5EF4-FFF2-40B4-BE49-F238E27FC236}">
                  <a16:creationId xmlns:a16="http://schemas.microsoft.com/office/drawing/2014/main" id="{481DD98C-1DDB-14FF-BA62-46FAD00BAA89}"/>
                </a:ext>
              </a:extLst>
            </p:cNvPr>
            <p:cNvSpPr>
              <a:spLocks noEditPoints="1"/>
            </p:cNvSpPr>
            <p:nvPr userDrawn="1"/>
          </p:nvSpPr>
          <p:spPr bwMode="auto">
            <a:xfrm>
              <a:off x="6278460" y="938123"/>
              <a:ext cx="228732" cy="219867"/>
            </a:xfrm>
            <a:custGeom>
              <a:avLst/>
              <a:gdLst>
                <a:gd name="T0" fmla="*/ 0 w 526"/>
                <a:gd name="T1" fmla="*/ 254 h 505"/>
                <a:gd name="T2" fmla="*/ 0 w 526"/>
                <a:gd name="T3" fmla="*/ 253 h 505"/>
                <a:gd name="T4" fmla="*/ 264 w 526"/>
                <a:gd name="T5" fmla="*/ 0 h 505"/>
                <a:gd name="T6" fmla="*/ 526 w 526"/>
                <a:gd name="T7" fmla="*/ 251 h 505"/>
                <a:gd name="T8" fmla="*/ 526 w 526"/>
                <a:gd name="T9" fmla="*/ 253 h 505"/>
                <a:gd name="T10" fmla="*/ 262 w 526"/>
                <a:gd name="T11" fmla="*/ 505 h 505"/>
                <a:gd name="T12" fmla="*/ 0 w 526"/>
                <a:gd name="T13" fmla="*/ 254 h 505"/>
                <a:gd name="T14" fmla="*/ 390 w 526"/>
                <a:gd name="T15" fmla="*/ 254 h 505"/>
                <a:gd name="T16" fmla="*/ 390 w 526"/>
                <a:gd name="T17" fmla="*/ 253 h 505"/>
                <a:gd name="T18" fmla="*/ 262 w 526"/>
                <a:gd name="T19" fmla="*/ 119 h 505"/>
                <a:gd name="T20" fmla="*/ 136 w 526"/>
                <a:gd name="T21" fmla="*/ 251 h 505"/>
                <a:gd name="T22" fmla="*/ 136 w 526"/>
                <a:gd name="T23" fmla="*/ 253 h 505"/>
                <a:gd name="T24" fmla="*/ 264 w 526"/>
                <a:gd name="T25" fmla="*/ 387 h 505"/>
                <a:gd name="T26" fmla="*/ 390 w 526"/>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6" h="505">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0">
              <a:extLst>
                <a:ext uri="{FF2B5EF4-FFF2-40B4-BE49-F238E27FC236}">
                  <a16:creationId xmlns:a16="http://schemas.microsoft.com/office/drawing/2014/main" id="{BDC10D2B-8240-1306-CC54-B3F0CF2378C2}"/>
                </a:ext>
              </a:extLst>
            </p:cNvPr>
            <p:cNvSpPr>
              <a:spLocks noEditPoints="1"/>
            </p:cNvSpPr>
            <p:nvPr userDrawn="1"/>
          </p:nvSpPr>
          <p:spPr bwMode="auto">
            <a:xfrm>
              <a:off x="6516057" y="938123"/>
              <a:ext cx="221197" cy="278823"/>
            </a:xfrm>
            <a:custGeom>
              <a:avLst/>
              <a:gdLst>
                <a:gd name="T0" fmla="*/ 24 w 509"/>
                <a:gd name="T1" fmla="*/ 590 h 641"/>
                <a:gd name="T2" fmla="*/ 71 w 509"/>
                <a:gd name="T3" fmla="*/ 487 h 641"/>
                <a:gd name="T4" fmla="*/ 235 w 509"/>
                <a:gd name="T5" fmla="*/ 531 h 641"/>
                <a:gd name="T6" fmla="*/ 373 w 509"/>
                <a:gd name="T7" fmla="*/ 399 h 641"/>
                <a:gd name="T8" fmla="*/ 373 w 509"/>
                <a:gd name="T9" fmla="*/ 376 h 641"/>
                <a:gd name="T10" fmla="*/ 215 w 509"/>
                <a:gd name="T11" fmla="*/ 454 h 641"/>
                <a:gd name="T12" fmla="*/ 0 w 509"/>
                <a:gd name="T13" fmla="*/ 228 h 641"/>
                <a:gd name="T14" fmla="*/ 0 w 509"/>
                <a:gd name="T15" fmla="*/ 226 h 641"/>
                <a:gd name="T16" fmla="*/ 215 w 509"/>
                <a:gd name="T17" fmla="*/ 0 h 641"/>
                <a:gd name="T18" fmla="*/ 372 w 509"/>
                <a:gd name="T19" fmla="*/ 72 h 641"/>
                <a:gd name="T20" fmla="*/ 372 w 509"/>
                <a:gd name="T21" fmla="*/ 9 h 641"/>
                <a:gd name="T22" fmla="*/ 509 w 509"/>
                <a:gd name="T23" fmla="*/ 9 h 641"/>
                <a:gd name="T24" fmla="*/ 509 w 509"/>
                <a:gd name="T25" fmla="*/ 385 h 641"/>
                <a:gd name="T26" fmla="*/ 448 w 509"/>
                <a:gd name="T27" fmla="*/ 576 h 641"/>
                <a:gd name="T28" fmla="*/ 239 w 509"/>
                <a:gd name="T29" fmla="*/ 641 h 641"/>
                <a:gd name="T30" fmla="*/ 24 w 509"/>
                <a:gd name="T31" fmla="*/ 590 h 641"/>
                <a:gd name="T32" fmla="*/ 373 w 509"/>
                <a:gd name="T33" fmla="*/ 228 h 641"/>
                <a:gd name="T34" fmla="*/ 373 w 509"/>
                <a:gd name="T35" fmla="*/ 226 h 641"/>
                <a:gd name="T36" fmla="*/ 255 w 509"/>
                <a:gd name="T37" fmla="*/ 114 h 641"/>
                <a:gd name="T38" fmla="*/ 137 w 509"/>
                <a:gd name="T39" fmla="*/ 226 h 641"/>
                <a:gd name="T40" fmla="*/ 137 w 509"/>
                <a:gd name="T41" fmla="*/ 228 h 641"/>
                <a:gd name="T42" fmla="*/ 255 w 509"/>
                <a:gd name="T43" fmla="*/ 340 h 641"/>
                <a:gd name="T44" fmla="*/ 373 w 509"/>
                <a:gd name="T45" fmla="*/ 228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9" h="641">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1">
              <a:extLst>
                <a:ext uri="{FF2B5EF4-FFF2-40B4-BE49-F238E27FC236}">
                  <a16:creationId xmlns:a16="http://schemas.microsoft.com/office/drawing/2014/main" id="{A2A74FC7-B210-AC23-8BAD-A8CEF20144F7}"/>
                </a:ext>
              </a:extLst>
            </p:cNvPr>
            <p:cNvSpPr>
              <a:spLocks/>
            </p:cNvSpPr>
            <p:nvPr userDrawn="1"/>
          </p:nvSpPr>
          <p:spPr bwMode="auto">
            <a:xfrm>
              <a:off x="6747450" y="942113"/>
              <a:ext cx="219424" cy="275277"/>
            </a:xfrm>
            <a:custGeom>
              <a:avLst/>
              <a:gdLst>
                <a:gd name="T0" fmla="*/ 362 w 505"/>
                <a:gd name="T1" fmla="*/ 0 h 633"/>
                <a:gd name="T2" fmla="*/ 505 w 505"/>
                <a:gd name="T3" fmla="*/ 0 h 633"/>
                <a:gd name="T4" fmla="*/ 319 w 505"/>
                <a:gd name="T5" fmla="*/ 497 h 633"/>
                <a:gd name="T6" fmla="*/ 159 w 505"/>
                <a:gd name="T7" fmla="*/ 633 h 633"/>
                <a:gd name="T8" fmla="*/ 37 w 505"/>
                <a:gd name="T9" fmla="*/ 599 h 633"/>
                <a:gd name="T10" fmla="*/ 83 w 505"/>
                <a:gd name="T11" fmla="*/ 500 h 633"/>
                <a:gd name="T12" fmla="*/ 142 w 505"/>
                <a:gd name="T13" fmla="*/ 519 h 633"/>
                <a:gd name="T14" fmla="*/ 190 w 505"/>
                <a:gd name="T15" fmla="*/ 487 h 633"/>
                <a:gd name="T16" fmla="*/ 0 w 505"/>
                <a:gd name="T17" fmla="*/ 0 h 633"/>
                <a:gd name="T18" fmla="*/ 146 w 505"/>
                <a:gd name="T19" fmla="*/ 0 h 633"/>
                <a:gd name="T20" fmla="*/ 256 w 505"/>
                <a:gd name="T21" fmla="*/ 331 h 633"/>
                <a:gd name="T22" fmla="*/ 362 w 505"/>
                <a:gd name="T23" fmla="*/ 0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5" h="633">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22">
              <a:extLst>
                <a:ext uri="{FF2B5EF4-FFF2-40B4-BE49-F238E27FC236}">
                  <a16:creationId xmlns:a16="http://schemas.microsoft.com/office/drawing/2014/main" id="{ACC82ECF-72D6-6ED9-EF73-7495DE192F95}"/>
                </a:ext>
              </a:extLst>
            </p:cNvPr>
            <p:cNvSpPr>
              <a:spLocks/>
            </p:cNvSpPr>
            <p:nvPr userDrawn="1"/>
          </p:nvSpPr>
          <p:spPr bwMode="auto">
            <a:xfrm>
              <a:off x="6005842" y="1258171"/>
              <a:ext cx="132541" cy="290348"/>
            </a:xfrm>
            <a:custGeom>
              <a:avLst/>
              <a:gdLst>
                <a:gd name="T0" fmla="*/ 57 w 305"/>
                <a:gd name="T1" fmla="*/ 299 h 667"/>
                <a:gd name="T2" fmla="*/ 0 w 305"/>
                <a:gd name="T3" fmla="*/ 299 h 667"/>
                <a:gd name="T4" fmla="*/ 0 w 305"/>
                <a:gd name="T5" fmla="*/ 186 h 667"/>
                <a:gd name="T6" fmla="*/ 57 w 305"/>
                <a:gd name="T7" fmla="*/ 186 h 667"/>
                <a:gd name="T8" fmla="*/ 57 w 305"/>
                <a:gd name="T9" fmla="*/ 155 h 667"/>
                <a:gd name="T10" fmla="*/ 96 w 305"/>
                <a:gd name="T11" fmla="*/ 38 h 667"/>
                <a:gd name="T12" fmla="*/ 208 w 305"/>
                <a:gd name="T13" fmla="*/ 0 h 667"/>
                <a:gd name="T14" fmla="*/ 305 w 305"/>
                <a:gd name="T15" fmla="*/ 13 h 667"/>
                <a:gd name="T16" fmla="*/ 305 w 305"/>
                <a:gd name="T17" fmla="*/ 127 h 667"/>
                <a:gd name="T18" fmla="*/ 243 w 305"/>
                <a:gd name="T19" fmla="*/ 115 h 667"/>
                <a:gd name="T20" fmla="*/ 193 w 305"/>
                <a:gd name="T21" fmla="*/ 168 h 667"/>
                <a:gd name="T22" fmla="*/ 193 w 305"/>
                <a:gd name="T23" fmla="*/ 187 h 667"/>
                <a:gd name="T24" fmla="*/ 305 w 305"/>
                <a:gd name="T25" fmla="*/ 187 h 667"/>
                <a:gd name="T26" fmla="*/ 305 w 305"/>
                <a:gd name="T27" fmla="*/ 299 h 667"/>
                <a:gd name="T28" fmla="*/ 195 w 305"/>
                <a:gd name="T29" fmla="*/ 299 h 667"/>
                <a:gd name="T30" fmla="*/ 195 w 305"/>
                <a:gd name="T31" fmla="*/ 667 h 667"/>
                <a:gd name="T32" fmla="*/ 57 w 305"/>
                <a:gd name="T33" fmla="*/ 667 h 667"/>
                <a:gd name="T34" fmla="*/ 57 w 305"/>
                <a:gd name="T35" fmla="*/ 299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5" h="667">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23">
              <a:extLst>
                <a:ext uri="{FF2B5EF4-FFF2-40B4-BE49-F238E27FC236}">
                  <a16:creationId xmlns:a16="http://schemas.microsoft.com/office/drawing/2014/main" id="{22DAB937-2E79-C195-4D0E-AD10E570DD17}"/>
                </a:ext>
              </a:extLst>
            </p:cNvPr>
            <p:cNvSpPr>
              <a:spLocks noEditPoints="1"/>
            </p:cNvSpPr>
            <p:nvPr userDrawn="1"/>
          </p:nvSpPr>
          <p:spPr bwMode="auto">
            <a:xfrm>
              <a:off x="6137497" y="1333086"/>
              <a:ext cx="228289" cy="219867"/>
            </a:xfrm>
            <a:custGeom>
              <a:avLst/>
              <a:gdLst>
                <a:gd name="T0" fmla="*/ 0 w 525"/>
                <a:gd name="T1" fmla="*/ 255 h 506"/>
                <a:gd name="T2" fmla="*/ 0 w 525"/>
                <a:gd name="T3" fmla="*/ 253 h 506"/>
                <a:gd name="T4" fmla="*/ 263 w 525"/>
                <a:gd name="T5" fmla="*/ 0 h 506"/>
                <a:gd name="T6" fmla="*/ 525 w 525"/>
                <a:gd name="T7" fmla="*/ 251 h 506"/>
                <a:gd name="T8" fmla="*/ 525 w 525"/>
                <a:gd name="T9" fmla="*/ 253 h 506"/>
                <a:gd name="T10" fmla="*/ 261 w 525"/>
                <a:gd name="T11" fmla="*/ 506 h 506"/>
                <a:gd name="T12" fmla="*/ 0 w 525"/>
                <a:gd name="T13" fmla="*/ 255 h 506"/>
                <a:gd name="T14" fmla="*/ 389 w 525"/>
                <a:gd name="T15" fmla="*/ 255 h 506"/>
                <a:gd name="T16" fmla="*/ 389 w 525"/>
                <a:gd name="T17" fmla="*/ 253 h 506"/>
                <a:gd name="T18" fmla="*/ 261 w 525"/>
                <a:gd name="T19" fmla="*/ 119 h 506"/>
                <a:gd name="T20" fmla="*/ 135 w 525"/>
                <a:gd name="T21" fmla="*/ 251 h 506"/>
                <a:gd name="T22" fmla="*/ 135 w 525"/>
                <a:gd name="T23" fmla="*/ 253 h 506"/>
                <a:gd name="T24" fmla="*/ 263 w 525"/>
                <a:gd name="T25" fmla="*/ 387 h 506"/>
                <a:gd name="T26" fmla="*/ 389 w 525"/>
                <a:gd name="T27" fmla="*/ 25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6">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24">
              <a:extLst>
                <a:ext uri="{FF2B5EF4-FFF2-40B4-BE49-F238E27FC236}">
                  <a16:creationId xmlns:a16="http://schemas.microsoft.com/office/drawing/2014/main" id="{10B466F6-F9DE-C9E9-D98F-5CB17B8BE4DB}"/>
                </a:ext>
              </a:extLst>
            </p:cNvPr>
            <p:cNvSpPr>
              <a:spLocks/>
            </p:cNvSpPr>
            <p:nvPr userDrawn="1"/>
          </p:nvSpPr>
          <p:spPr bwMode="auto">
            <a:xfrm>
              <a:off x="6379084" y="1331756"/>
              <a:ext cx="127665" cy="216764"/>
            </a:xfrm>
            <a:custGeom>
              <a:avLst/>
              <a:gdLst>
                <a:gd name="T0" fmla="*/ 0 w 293"/>
                <a:gd name="T1" fmla="*/ 13 h 498"/>
                <a:gd name="T2" fmla="*/ 138 w 293"/>
                <a:gd name="T3" fmla="*/ 13 h 498"/>
                <a:gd name="T4" fmla="*/ 138 w 293"/>
                <a:gd name="T5" fmla="*/ 110 h 498"/>
                <a:gd name="T6" fmla="*/ 293 w 293"/>
                <a:gd name="T7" fmla="*/ 3 h 498"/>
                <a:gd name="T8" fmla="*/ 293 w 293"/>
                <a:gd name="T9" fmla="*/ 147 h 498"/>
                <a:gd name="T10" fmla="*/ 286 w 293"/>
                <a:gd name="T11" fmla="*/ 147 h 498"/>
                <a:gd name="T12" fmla="*/ 138 w 293"/>
                <a:gd name="T13" fmla="*/ 318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5">
              <a:extLst>
                <a:ext uri="{FF2B5EF4-FFF2-40B4-BE49-F238E27FC236}">
                  <a16:creationId xmlns:a16="http://schemas.microsoft.com/office/drawing/2014/main" id="{AD3E18E3-90EA-4D54-E039-6221DAC55953}"/>
                </a:ext>
              </a:extLst>
            </p:cNvPr>
            <p:cNvSpPr>
              <a:spLocks noEditPoints="1"/>
            </p:cNvSpPr>
            <p:nvPr userDrawn="1"/>
          </p:nvSpPr>
          <p:spPr bwMode="auto">
            <a:xfrm>
              <a:off x="6582993" y="1334859"/>
              <a:ext cx="194157" cy="217207"/>
            </a:xfrm>
            <a:custGeom>
              <a:avLst/>
              <a:gdLst>
                <a:gd name="T0" fmla="*/ 0 w 446"/>
                <a:gd name="T1" fmla="*/ 351 h 500"/>
                <a:gd name="T2" fmla="*/ 0 w 446"/>
                <a:gd name="T3" fmla="*/ 349 h 500"/>
                <a:gd name="T4" fmla="*/ 195 w 446"/>
                <a:gd name="T5" fmla="*/ 195 h 500"/>
                <a:gd name="T6" fmla="*/ 314 w 446"/>
                <a:gd name="T7" fmla="*/ 215 h 500"/>
                <a:gd name="T8" fmla="*/ 314 w 446"/>
                <a:gd name="T9" fmla="*/ 206 h 500"/>
                <a:gd name="T10" fmla="*/ 210 w 446"/>
                <a:gd name="T11" fmla="*/ 118 h 500"/>
                <a:gd name="T12" fmla="*/ 76 w 446"/>
                <a:gd name="T13" fmla="*/ 144 h 500"/>
                <a:gd name="T14" fmla="*/ 42 w 446"/>
                <a:gd name="T15" fmla="*/ 39 h 500"/>
                <a:gd name="T16" fmla="*/ 230 w 446"/>
                <a:gd name="T17" fmla="*/ 0 h 500"/>
                <a:gd name="T18" fmla="*/ 394 w 446"/>
                <a:gd name="T19" fmla="*/ 54 h 500"/>
                <a:gd name="T20" fmla="*/ 446 w 446"/>
                <a:gd name="T21" fmla="*/ 209 h 500"/>
                <a:gd name="T22" fmla="*/ 446 w 446"/>
                <a:gd name="T23" fmla="*/ 491 h 500"/>
                <a:gd name="T24" fmla="*/ 313 w 446"/>
                <a:gd name="T25" fmla="*/ 491 h 500"/>
                <a:gd name="T26" fmla="*/ 313 w 446"/>
                <a:gd name="T27" fmla="*/ 438 h 500"/>
                <a:gd name="T28" fmla="*/ 167 w 446"/>
                <a:gd name="T29" fmla="*/ 500 h 500"/>
                <a:gd name="T30" fmla="*/ 0 w 446"/>
                <a:gd name="T31" fmla="*/ 351 h 500"/>
                <a:gd name="T32" fmla="*/ 316 w 446"/>
                <a:gd name="T33" fmla="*/ 320 h 500"/>
                <a:gd name="T34" fmla="*/ 316 w 446"/>
                <a:gd name="T35" fmla="*/ 295 h 500"/>
                <a:gd name="T36" fmla="*/ 228 w 446"/>
                <a:gd name="T37" fmla="*/ 277 h 500"/>
                <a:gd name="T38" fmla="*/ 133 w 446"/>
                <a:gd name="T39" fmla="*/ 344 h 500"/>
                <a:gd name="T40" fmla="*/ 133 w 446"/>
                <a:gd name="T41" fmla="*/ 346 h 500"/>
                <a:gd name="T42" fmla="*/ 208 w 446"/>
                <a:gd name="T43" fmla="*/ 405 h 500"/>
                <a:gd name="T44" fmla="*/ 316 w 446"/>
                <a:gd name="T45" fmla="*/ 32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500">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Rectangle 26">
              <a:extLst>
                <a:ext uri="{FF2B5EF4-FFF2-40B4-BE49-F238E27FC236}">
                  <a16:creationId xmlns:a16="http://schemas.microsoft.com/office/drawing/2014/main" id="{144E16EA-4F3F-420C-5D8D-753A1E9F0B11}"/>
                </a:ext>
              </a:extLst>
            </p:cNvPr>
            <p:cNvSpPr>
              <a:spLocks noChangeArrowheads="1"/>
            </p:cNvSpPr>
            <p:nvPr userDrawn="1"/>
          </p:nvSpPr>
          <p:spPr bwMode="auto">
            <a:xfrm>
              <a:off x="6801973" y="1260831"/>
              <a:ext cx="59843"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Rectangle 27">
              <a:extLst>
                <a:ext uri="{FF2B5EF4-FFF2-40B4-BE49-F238E27FC236}">
                  <a16:creationId xmlns:a16="http://schemas.microsoft.com/office/drawing/2014/main" id="{E009FD22-AB72-D26D-205F-29DF66B5BFFA}"/>
                </a:ext>
              </a:extLst>
            </p:cNvPr>
            <p:cNvSpPr>
              <a:spLocks noChangeArrowheads="1"/>
            </p:cNvSpPr>
            <p:nvPr userDrawn="1"/>
          </p:nvSpPr>
          <p:spPr bwMode="auto">
            <a:xfrm>
              <a:off x="6886639" y="1260831"/>
              <a:ext cx="59399"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 name="Group 2">
            <a:extLst>
              <a:ext uri="{FF2B5EF4-FFF2-40B4-BE49-F238E27FC236}">
                <a16:creationId xmlns:a16="http://schemas.microsoft.com/office/drawing/2014/main" id="{1C38DDA1-EC9C-CA43-6B38-399660A513F2}"/>
              </a:ext>
            </a:extLst>
          </p:cNvPr>
          <p:cNvGrpSpPr/>
          <p:nvPr userDrawn="1"/>
        </p:nvGrpSpPr>
        <p:grpSpPr>
          <a:xfrm>
            <a:off x="11556230" y="767096"/>
            <a:ext cx="634181" cy="1898696"/>
            <a:chOff x="11556230" y="767096"/>
            <a:chExt cx="634181" cy="1898696"/>
          </a:xfrm>
        </p:grpSpPr>
        <p:sp>
          <p:nvSpPr>
            <p:cNvPr id="77" name="Rectangle 28">
              <a:extLst>
                <a:ext uri="{FF2B5EF4-FFF2-40B4-BE49-F238E27FC236}">
                  <a16:creationId xmlns:a16="http://schemas.microsoft.com/office/drawing/2014/main" id="{FB305569-AB33-7799-ED76-68F103CE5B8C}"/>
                </a:ext>
              </a:extLst>
            </p:cNvPr>
            <p:cNvSpPr>
              <a:spLocks noChangeArrowheads="1"/>
            </p:cNvSpPr>
            <p:nvPr userDrawn="1"/>
          </p:nvSpPr>
          <p:spPr bwMode="auto">
            <a:xfrm>
              <a:off x="11556230" y="767096"/>
              <a:ext cx="634181" cy="189869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78" name="Group 77">
              <a:extLst>
                <a:ext uri="{FF2B5EF4-FFF2-40B4-BE49-F238E27FC236}">
                  <a16:creationId xmlns:a16="http://schemas.microsoft.com/office/drawing/2014/main" id="{DC4D5431-76CB-4561-B2E0-664C3E75E88C}"/>
                </a:ext>
              </a:extLst>
            </p:cNvPr>
            <p:cNvGrpSpPr/>
            <p:nvPr userDrawn="1"/>
          </p:nvGrpSpPr>
          <p:grpSpPr>
            <a:xfrm>
              <a:off x="11701122" y="936748"/>
              <a:ext cx="321494" cy="1552800"/>
              <a:chOff x="7313961" y="501936"/>
              <a:chExt cx="323594" cy="1566108"/>
            </a:xfrm>
          </p:grpSpPr>
          <p:sp>
            <p:nvSpPr>
              <p:cNvPr id="79" name="Freeform 29">
                <a:extLst>
                  <a:ext uri="{FF2B5EF4-FFF2-40B4-BE49-F238E27FC236}">
                    <a16:creationId xmlns:a16="http://schemas.microsoft.com/office/drawing/2014/main" id="{9EB7EA56-59D4-7E58-E9A3-5C4585DF00FE}"/>
                  </a:ext>
                </a:extLst>
              </p:cNvPr>
              <p:cNvSpPr>
                <a:spLocks/>
              </p:cNvSpPr>
              <p:nvPr userDrawn="1"/>
            </p:nvSpPr>
            <p:spPr bwMode="auto">
              <a:xfrm>
                <a:off x="7383556" y="1311808"/>
                <a:ext cx="249567" cy="247350"/>
              </a:xfrm>
              <a:custGeom>
                <a:avLst/>
                <a:gdLst>
                  <a:gd name="T0" fmla="*/ 0 w 574"/>
                  <a:gd name="T1" fmla="*/ 229 h 569"/>
                  <a:gd name="T2" fmla="*/ 90 w 574"/>
                  <a:gd name="T3" fmla="*/ 413 h 569"/>
                  <a:gd name="T4" fmla="*/ 90 w 574"/>
                  <a:gd name="T5" fmla="*/ 413 h 569"/>
                  <a:gd name="T6" fmla="*/ 90 w 574"/>
                  <a:gd name="T7" fmla="*/ 413 h 569"/>
                  <a:gd name="T8" fmla="*/ 9 w 574"/>
                  <a:gd name="T9" fmla="*/ 413 h 569"/>
                  <a:gd name="T10" fmla="*/ 9 w 574"/>
                  <a:gd name="T11" fmla="*/ 569 h 569"/>
                  <a:gd name="T12" fmla="*/ 574 w 574"/>
                  <a:gd name="T13" fmla="*/ 569 h 569"/>
                  <a:gd name="T14" fmla="*/ 574 w 574"/>
                  <a:gd name="T15" fmla="*/ 413 h 569"/>
                  <a:gd name="T16" fmla="*/ 253 w 574"/>
                  <a:gd name="T17" fmla="*/ 413 h 569"/>
                  <a:gd name="T18" fmla="*/ 133 w 574"/>
                  <a:gd name="T19" fmla="*/ 286 h 569"/>
                  <a:gd name="T20" fmla="*/ 253 w 574"/>
                  <a:gd name="T21" fmla="*/ 155 h 569"/>
                  <a:gd name="T22" fmla="*/ 574 w 574"/>
                  <a:gd name="T23" fmla="*/ 155 h 569"/>
                  <a:gd name="T24" fmla="*/ 574 w 574"/>
                  <a:gd name="T25" fmla="*/ 0 h 569"/>
                  <a:gd name="T26" fmla="*/ 224 w 574"/>
                  <a:gd name="T27" fmla="*/ 0 h 569"/>
                  <a:gd name="T28" fmla="*/ 0 w 574"/>
                  <a:gd name="T29" fmla="*/ 22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4" h="569">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30">
                <a:extLst>
                  <a:ext uri="{FF2B5EF4-FFF2-40B4-BE49-F238E27FC236}">
                    <a16:creationId xmlns:a16="http://schemas.microsoft.com/office/drawing/2014/main" id="{93B05BBE-DBEC-684B-B012-F63384131C10}"/>
                  </a:ext>
                </a:extLst>
              </p:cNvPr>
              <p:cNvSpPr>
                <a:spLocks/>
              </p:cNvSpPr>
              <p:nvPr userDrawn="1"/>
            </p:nvSpPr>
            <p:spPr bwMode="auto">
              <a:xfrm>
                <a:off x="7387546" y="755049"/>
                <a:ext cx="245577" cy="276163"/>
              </a:xfrm>
              <a:custGeom>
                <a:avLst/>
                <a:gdLst>
                  <a:gd name="T0" fmla="*/ 0 w 554"/>
                  <a:gd name="T1" fmla="*/ 174 h 623"/>
                  <a:gd name="T2" fmla="*/ 377 w 554"/>
                  <a:gd name="T3" fmla="*/ 311 h 623"/>
                  <a:gd name="T4" fmla="*/ 0 w 554"/>
                  <a:gd name="T5" fmla="*/ 450 h 623"/>
                  <a:gd name="T6" fmla="*/ 0 w 554"/>
                  <a:gd name="T7" fmla="*/ 623 h 623"/>
                  <a:gd name="T8" fmla="*/ 554 w 554"/>
                  <a:gd name="T9" fmla="*/ 395 h 623"/>
                  <a:gd name="T10" fmla="*/ 554 w 554"/>
                  <a:gd name="T11" fmla="*/ 228 h 623"/>
                  <a:gd name="T12" fmla="*/ 0 w 554"/>
                  <a:gd name="T13" fmla="*/ 0 h 623"/>
                  <a:gd name="T14" fmla="*/ 0 w 554"/>
                  <a:gd name="T15" fmla="*/ 174 h 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4" h="623">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31">
                <a:extLst>
                  <a:ext uri="{FF2B5EF4-FFF2-40B4-BE49-F238E27FC236}">
                    <a16:creationId xmlns:a16="http://schemas.microsoft.com/office/drawing/2014/main" id="{972F0292-22E7-DDB2-79F6-6703AF74768F}"/>
                  </a:ext>
                </a:extLst>
              </p:cNvPr>
              <p:cNvSpPr>
                <a:spLocks noEditPoints="1"/>
              </p:cNvSpPr>
              <p:nvPr userDrawn="1"/>
            </p:nvSpPr>
            <p:spPr bwMode="auto">
              <a:xfrm>
                <a:off x="7383556" y="1583096"/>
                <a:ext cx="253999" cy="256659"/>
              </a:xfrm>
              <a:custGeom>
                <a:avLst/>
                <a:gdLst>
                  <a:gd name="T0" fmla="*/ 401 w 584"/>
                  <a:gd name="T1" fmla="*/ 110 h 590"/>
                  <a:gd name="T2" fmla="*/ 460 w 584"/>
                  <a:gd name="T3" fmla="*/ 272 h 590"/>
                  <a:gd name="T4" fmla="*/ 415 w 584"/>
                  <a:gd name="T5" fmla="*/ 397 h 590"/>
                  <a:gd name="T6" fmla="*/ 250 w 584"/>
                  <a:gd name="T7" fmla="*/ 0 h 590"/>
                  <a:gd name="T8" fmla="*/ 92 w 584"/>
                  <a:gd name="T9" fmla="*/ 68 h 590"/>
                  <a:gd name="T10" fmla="*/ 0 w 584"/>
                  <a:gd name="T11" fmla="*/ 291 h 590"/>
                  <a:gd name="T12" fmla="*/ 292 w 584"/>
                  <a:gd name="T13" fmla="*/ 590 h 590"/>
                  <a:gd name="T14" fmla="*/ 584 w 584"/>
                  <a:gd name="T15" fmla="*/ 274 h 590"/>
                  <a:gd name="T16" fmla="*/ 476 w 584"/>
                  <a:gd name="T17" fmla="*/ 12 h 590"/>
                  <a:gd name="T18" fmla="*/ 401 w 584"/>
                  <a:gd name="T19" fmla="*/ 110 h 590"/>
                  <a:gd name="T20" fmla="*/ 179 w 584"/>
                  <a:gd name="T21" fmla="*/ 408 h 590"/>
                  <a:gd name="T22" fmla="*/ 123 w 584"/>
                  <a:gd name="T23" fmla="*/ 288 h 590"/>
                  <a:gd name="T24" fmla="*/ 202 w 584"/>
                  <a:gd name="T25" fmla="*/ 168 h 590"/>
                  <a:gd name="T26" fmla="*/ 315 w 584"/>
                  <a:gd name="T27" fmla="*/ 439 h 590"/>
                  <a:gd name="T28" fmla="*/ 179 w 584"/>
                  <a:gd name="T29" fmla="*/ 408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4" h="590">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32">
                <a:extLst>
                  <a:ext uri="{FF2B5EF4-FFF2-40B4-BE49-F238E27FC236}">
                    <a16:creationId xmlns:a16="http://schemas.microsoft.com/office/drawing/2014/main" id="{8FB3E4DF-D685-E83E-C831-3D30D6486411}"/>
                  </a:ext>
                </a:extLst>
              </p:cNvPr>
              <p:cNvSpPr>
                <a:spLocks/>
              </p:cNvSpPr>
              <p:nvPr userDrawn="1"/>
            </p:nvSpPr>
            <p:spPr bwMode="auto">
              <a:xfrm>
                <a:off x="7313961" y="1846404"/>
                <a:ext cx="319161" cy="221640"/>
              </a:xfrm>
              <a:custGeom>
                <a:avLst/>
                <a:gdLst>
                  <a:gd name="T0" fmla="*/ 580 w 720"/>
                  <a:gd name="T1" fmla="*/ 0 h 500"/>
                  <a:gd name="T2" fmla="*/ 580 w 720"/>
                  <a:gd name="T3" fmla="*/ 346 h 500"/>
                  <a:gd name="T4" fmla="*/ 0 w 720"/>
                  <a:gd name="T5" fmla="*/ 346 h 500"/>
                  <a:gd name="T6" fmla="*/ 0 w 720"/>
                  <a:gd name="T7" fmla="*/ 500 h 500"/>
                  <a:gd name="T8" fmla="*/ 720 w 720"/>
                  <a:gd name="T9" fmla="*/ 500 h 500"/>
                  <a:gd name="T10" fmla="*/ 720 w 720"/>
                  <a:gd name="T11" fmla="*/ 0 h 500"/>
                  <a:gd name="T12" fmla="*/ 580 w 720"/>
                  <a:gd name="T13" fmla="*/ 0 h 500"/>
                </a:gdLst>
                <a:ahLst/>
                <a:cxnLst>
                  <a:cxn ang="0">
                    <a:pos x="T0" y="T1"/>
                  </a:cxn>
                  <a:cxn ang="0">
                    <a:pos x="T2" y="T3"/>
                  </a:cxn>
                  <a:cxn ang="0">
                    <a:pos x="T4" y="T5"/>
                  </a:cxn>
                  <a:cxn ang="0">
                    <a:pos x="T6" y="T7"/>
                  </a:cxn>
                  <a:cxn ang="0">
                    <a:pos x="T8" y="T9"/>
                  </a:cxn>
                  <a:cxn ang="0">
                    <a:pos x="T10" y="T11"/>
                  </a:cxn>
                  <a:cxn ang="0">
                    <a:pos x="T12" y="T13"/>
                  </a:cxn>
                </a:cxnLst>
                <a:rect l="0" t="0" r="r" b="b"/>
                <a:pathLst>
                  <a:path w="720" h="500">
                    <a:moveTo>
                      <a:pt x="580" y="0"/>
                    </a:moveTo>
                    <a:lnTo>
                      <a:pt x="580" y="346"/>
                    </a:lnTo>
                    <a:lnTo>
                      <a:pt x="0" y="346"/>
                    </a:lnTo>
                    <a:lnTo>
                      <a:pt x="0" y="500"/>
                    </a:lnTo>
                    <a:lnTo>
                      <a:pt x="720" y="500"/>
                    </a:lnTo>
                    <a:lnTo>
                      <a:pt x="720" y="0"/>
                    </a:lnTo>
                    <a:lnTo>
                      <a:pt x="58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33">
                <a:extLst>
                  <a:ext uri="{FF2B5EF4-FFF2-40B4-BE49-F238E27FC236}">
                    <a16:creationId xmlns:a16="http://schemas.microsoft.com/office/drawing/2014/main" id="{7E51460F-8A6D-E455-ADF5-BF3600A7DAC9}"/>
                  </a:ext>
                </a:extLst>
              </p:cNvPr>
              <p:cNvSpPr>
                <a:spLocks noEditPoints="1"/>
              </p:cNvSpPr>
              <p:nvPr userDrawn="1"/>
            </p:nvSpPr>
            <p:spPr bwMode="auto">
              <a:xfrm>
                <a:off x="7383556" y="501936"/>
                <a:ext cx="253999" cy="263752"/>
              </a:xfrm>
              <a:custGeom>
                <a:avLst/>
                <a:gdLst>
                  <a:gd name="T0" fmla="*/ 584 w 584"/>
                  <a:gd name="T1" fmla="*/ 304 h 607"/>
                  <a:gd name="T2" fmla="*/ 292 w 584"/>
                  <a:gd name="T3" fmla="*/ 607 h 607"/>
                  <a:gd name="T4" fmla="*/ 0 w 584"/>
                  <a:gd name="T5" fmla="*/ 302 h 607"/>
                  <a:gd name="T6" fmla="*/ 292 w 584"/>
                  <a:gd name="T7" fmla="*/ 0 h 607"/>
                  <a:gd name="T8" fmla="*/ 584 w 584"/>
                  <a:gd name="T9" fmla="*/ 304 h 607"/>
                  <a:gd name="T10" fmla="*/ 133 w 584"/>
                  <a:gd name="T11" fmla="*/ 304 h 607"/>
                  <a:gd name="T12" fmla="*/ 292 w 584"/>
                  <a:gd name="T13" fmla="*/ 454 h 607"/>
                  <a:gd name="T14" fmla="*/ 451 w 584"/>
                  <a:gd name="T15" fmla="*/ 302 h 607"/>
                  <a:gd name="T16" fmla="*/ 292 w 584"/>
                  <a:gd name="T17" fmla="*/ 153 h 607"/>
                  <a:gd name="T18" fmla="*/ 133 w 584"/>
                  <a:gd name="T19" fmla="*/ 304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34">
                <a:extLst>
                  <a:ext uri="{FF2B5EF4-FFF2-40B4-BE49-F238E27FC236}">
                    <a16:creationId xmlns:a16="http://schemas.microsoft.com/office/drawing/2014/main" id="{9296505E-2DA9-07F7-31C5-6D802244B0F4}"/>
                  </a:ext>
                </a:extLst>
              </p:cNvPr>
              <p:cNvSpPr>
                <a:spLocks noEditPoints="1"/>
              </p:cNvSpPr>
              <p:nvPr userDrawn="1"/>
            </p:nvSpPr>
            <p:spPr bwMode="auto">
              <a:xfrm>
                <a:off x="7383556" y="1021017"/>
                <a:ext cx="253999" cy="263752"/>
              </a:xfrm>
              <a:custGeom>
                <a:avLst/>
                <a:gdLst>
                  <a:gd name="T0" fmla="*/ 584 w 584"/>
                  <a:gd name="T1" fmla="*/ 305 h 607"/>
                  <a:gd name="T2" fmla="*/ 292 w 584"/>
                  <a:gd name="T3" fmla="*/ 607 h 607"/>
                  <a:gd name="T4" fmla="*/ 0 w 584"/>
                  <a:gd name="T5" fmla="*/ 303 h 607"/>
                  <a:gd name="T6" fmla="*/ 292 w 584"/>
                  <a:gd name="T7" fmla="*/ 0 h 607"/>
                  <a:gd name="T8" fmla="*/ 584 w 584"/>
                  <a:gd name="T9" fmla="*/ 305 h 607"/>
                  <a:gd name="T10" fmla="*/ 133 w 584"/>
                  <a:gd name="T11" fmla="*/ 305 h 607"/>
                  <a:gd name="T12" fmla="*/ 292 w 584"/>
                  <a:gd name="T13" fmla="*/ 454 h 607"/>
                  <a:gd name="T14" fmla="*/ 451 w 584"/>
                  <a:gd name="T15" fmla="*/ 303 h 607"/>
                  <a:gd name="T16" fmla="*/ 292 w 584"/>
                  <a:gd name="T17" fmla="*/ 153 h 607"/>
                  <a:gd name="T18" fmla="*/ 133 w 584"/>
                  <a:gd name="T19" fmla="*/ 305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pic>
        <p:nvPicPr>
          <p:cNvPr id="12" name="Picture 11">
            <a:extLst>
              <a:ext uri="{FF2B5EF4-FFF2-40B4-BE49-F238E27FC236}">
                <a16:creationId xmlns:a16="http://schemas.microsoft.com/office/drawing/2014/main" id="{65866607-25A7-FC68-0DCF-36B98EC529BE}"/>
              </a:ext>
            </a:extLst>
          </p:cNvPr>
          <p:cNvPicPr>
            <a:picLocks noChangeAspect="1"/>
          </p:cNvPicPr>
          <p:nvPr userDrawn="1"/>
        </p:nvPicPr>
        <p:blipFill>
          <a:blip r:embed="rId2"/>
          <a:stretch>
            <a:fillRect/>
          </a:stretch>
        </p:blipFill>
        <p:spPr>
          <a:xfrm>
            <a:off x="1538947" y="3561907"/>
            <a:ext cx="7852329" cy="1774090"/>
          </a:xfrm>
          <a:prstGeom prst="rect">
            <a:avLst/>
          </a:prstGeom>
        </p:spPr>
      </p:pic>
    </p:spTree>
    <p:extLst>
      <p:ext uri="{BB962C8B-B14F-4D97-AF65-F5344CB8AC3E}">
        <p14:creationId xmlns:p14="http://schemas.microsoft.com/office/powerpoint/2010/main" val="1803841584"/>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losing Slide_Black">
    <p:bg>
      <p:bgPr>
        <a:solidFill>
          <a:srgbClr val="1E011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7F7FEAA-CD25-31FD-0E8A-E47145F5F9EB}"/>
              </a:ext>
            </a:extLst>
          </p:cNvPr>
          <p:cNvGrpSpPr/>
          <p:nvPr userDrawn="1"/>
        </p:nvGrpSpPr>
        <p:grpSpPr>
          <a:xfrm>
            <a:off x="9390324" y="767096"/>
            <a:ext cx="2800087" cy="1898696"/>
            <a:chOff x="9390324" y="767096"/>
            <a:chExt cx="2800087" cy="1898696"/>
          </a:xfrm>
        </p:grpSpPr>
        <p:grpSp>
          <p:nvGrpSpPr>
            <p:cNvPr id="63" name="Group 62">
              <a:extLst>
                <a:ext uri="{FF2B5EF4-FFF2-40B4-BE49-F238E27FC236}">
                  <a16:creationId xmlns:a16="http://schemas.microsoft.com/office/drawing/2014/main" id="{DBC4C027-8FC0-71EF-963F-3B8A0447C1E8}"/>
                </a:ext>
              </a:extLst>
            </p:cNvPr>
            <p:cNvGrpSpPr/>
            <p:nvPr userDrawn="1"/>
          </p:nvGrpSpPr>
          <p:grpSpPr>
            <a:xfrm>
              <a:off x="9390324" y="936748"/>
              <a:ext cx="1965963" cy="1042086"/>
              <a:chOff x="4988072" y="501936"/>
              <a:chExt cx="1978802" cy="1051017"/>
            </a:xfrm>
            <a:solidFill>
              <a:schemeClr val="bg1"/>
            </a:solidFill>
          </p:grpSpPr>
          <p:sp>
            <p:nvSpPr>
              <p:cNvPr id="72" name="Freeform 5">
                <a:extLst>
                  <a:ext uri="{FF2B5EF4-FFF2-40B4-BE49-F238E27FC236}">
                    <a16:creationId xmlns:a16="http://schemas.microsoft.com/office/drawing/2014/main" id="{AC114BA7-B808-0C61-F4C4-498846EB2C1F}"/>
                  </a:ext>
                </a:extLst>
              </p:cNvPr>
              <p:cNvSpPr>
                <a:spLocks/>
              </p:cNvSpPr>
              <p:nvPr userDrawn="1"/>
            </p:nvSpPr>
            <p:spPr bwMode="auto">
              <a:xfrm>
                <a:off x="5559016" y="501936"/>
                <a:ext cx="218094" cy="282813"/>
              </a:xfrm>
              <a:custGeom>
                <a:avLst/>
                <a:gdLst>
                  <a:gd name="T0" fmla="*/ 0 w 502"/>
                  <a:gd name="T1" fmla="*/ 550 h 651"/>
                  <a:gd name="T2" fmla="*/ 83 w 502"/>
                  <a:gd name="T3" fmla="*/ 451 h 651"/>
                  <a:gd name="T4" fmla="*/ 272 w 502"/>
                  <a:gd name="T5" fmla="*/ 528 h 651"/>
                  <a:gd name="T6" fmla="*/ 363 w 502"/>
                  <a:gd name="T7" fmla="*/ 469 h 651"/>
                  <a:gd name="T8" fmla="*/ 363 w 502"/>
                  <a:gd name="T9" fmla="*/ 467 h 651"/>
                  <a:gd name="T10" fmla="*/ 236 w 502"/>
                  <a:gd name="T11" fmla="*/ 386 h 651"/>
                  <a:gd name="T12" fmla="*/ 26 w 502"/>
                  <a:gd name="T13" fmla="*/ 192 h 651"/>
                  <a:gd name="T14" fmla="*/ 26 w 502"/>
                  <a:gd name="T15" fmla="*/ 191 h 651"/>
                  <a:gd name="T16" fmla="*/ 247 w 502"/>
                  <a:gd name="T17" fmla="*/ 0 h 651"/>
                  <a:gd name="T18" fmla="*/ 483 w 502"/>
                  <a:gd name="T19" fmla="*/ 80 h 651"/>
                  <a:gd name="T20" fmla="*/ 410 w 502"/>
                  <a:gd name="T21" fmla="*/ 185 h 651"/>
                  <a:gd name="T22" fmla="*/ 246 w 502"/>
                  <a:gd name="T23" fmla="*/ 123 h 651"/>
                  <a:gd name="T24" fmla="*/ 164 w 502"/>
                  <a:gd name="T25" fmla="*/ 178 h 651"/>
                  <a:gd name="T26" fmla="*/ 164 w 502"/>
                  <a:gd name="T27" fmla="*/ 180 h 651"/>
                  <a:gd name="T28" fmla="*/ 301 w 502"/>
                  <a:gd name="T29" fmla="*/ 263 h 651"/>
                  <a:gd name="T30" fmla="*/ 502 w 502"/>
                  <a:gd name="T31" fmla="*/ 453 h 651"/>
                  <a:gd name="T32" fmla="*/ 502 w 502"/>
                  <a:gd name="T33" fmla="*/ 455 h 651"/>
                  <a:gd name="T34" fmla="*/ 269 w 502"/>
                  <a:gd name="T35" fmla="*/ 651 h 651"/>
                  <a:gd name="T36" fmla="*/ 0 w 502"/>
                  <a:gd name="T37" fmla="*/ 550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651">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6">
                <a:extLst>
                  <a:ext uri="{FF2B5EF4-FFF2-40B4-BE49-F238E27FC236}">
                    <a16:creationId xmlns:a16="http://schemas.microsoft.com/office/drawing/2014/main" id="{03055FF5-EB33-F09D-784D-C7AD01880326}"/>
                  </a:ext>
                </a:extLst>
              </p:cNvPr>
              <p:cNvSpPr>
                <a:spLocks/>
              </p:cNvSpPr>
              <p:nvPr userDrawn="1"/>
            </p:nvSpPr>
            <p:spPr bwMode="auto">
              <a:xfrm>
                <a:off x="5791295" y="566212"/>
                <a:ext cx="322264" cy="214547"/>
              </a:xfrm>
              <a:custGeom>
                <a:avLst/>
                <a:gdLst>
                  <a:gd name="T0" fmla="*/ 0 w 741"/>
                  <a:gd name="T1" fmla="*/ 9 h 494"/>
                  <a:gd name="T2" fmla="*/ 138 w 741"/>
                  <a:gd name="T3" fmla="*/ 9 h 494"/>
                  <a:gd name="T4" fmla="*/ 138 w 741"/>
                  <a:gd name="T5" fmla="*/ 78 h 494"/>
                  <a:gd name="T6" fmla="*/ 281 w 741"/>
                  <a:gd name="T7" fmla="*/ 0 h 494"/>
                  <a:gd name="T8" fmla="*/ 418 w 741"/>
                  <a:gd name="T9" fmla="*/ 77 h 494"/>
                  <a:gd name="T10" fmla="*/ 577 w 741"/>
                  <a:gd name="T11" fmla="*/ 0 h 494"/>
                  <a:gd name="T12" fmla="*/ 741 w 741"/>
                  <a:gd name="T13" fmla="*/ 178 h 494"/>
                  <a:gd name="T14" fmla="*/ 741 w 741"/>
                  <a:gd name="T15" fmla="*/ 494 h 494"/>
                  <a:gd name="T16" fmla="*/ 603 w 741"/>
                  <a:gd name="T17" fmla="*/ 494 h 494"/>
                  <a:gd name="T18" fmla="*/ 603 w 741"/>
                  <a:gd name="T19" fmla="*/ 224 h 494"/>
                  <a:gd name="T20" fmla="*/ 523 w 741"/>
                  <a:gd name="T21" fmla="*/ 125 h 494"/>
                  <a:gd name="T22" fmla="*/ 439 w 741"/>
                  <a:gd name="T23" fmla="*/ 224 h 494"/>
                  <a:gd name="T24" fmla="*/ 439 w 741"/>
                  <a:gd name="T25" fmla="*/ 494 h 494"/>
                  <a:gd name="T26" fmla="*/ 302 w 741"/>
                  <a:gd name="T27" fmla="*/ 494 h 494"/>
                  <a:gd name="T28" fmla="*/ 302 w 741"/>
                  <a:gd name="T29" fmla="*/ 224 h 494"/>
                  <a:gd name="T30" fmla="*/ 221 w 741"/>
                  <a:gd name="T31" fmla="*/ 125 h 494"/>
                  <a:gd name="T32" fmla="*/ 138 w 741"/>
                  <a:gd name="T33" fmla="*/ 224 h 494"/>
                  <a:gd name="T34" fmla="*/ 138 w 741"/>
                  <a:gd name="T35" fmla="*/ 494 h 494"/>
                  <a:gd name="T36" fmla="*/ 0 w 741"/>
                  <a:gd name="T37" fmla="*/ 494 h 494"/>
                  <a:gd name="T38" fmla="*/ 0 w 741"/>
                  <a:gd name="T39"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1" h="494">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7">
                <a:extLst>
                  <a:ext uri="{FF2B5EF4-FFF2-40B4-BE49-F238E27FC236}">
                    <a16:creationId xmlns:a16="http://schemas.microsoft.com/office/drawing/2014/main" id="{EF0C28DE-3EA0-613C-F6F5-A668E5A933D2}"/>
                  </a:ext>
                </a:extLst>
              </p:cNvPr>
              <p:cNvSpPr>
                <a:spLocks noEditPoints="1"/>
              </p:cNvSpPr>
              <p:nvPr userDrawn="1"/>
            </p:nvSpPr>
            <p:spPr bwMode="auto">
              <a:xfrm>
                <a:off x="6125971" y="567985"/>
                <a:ext cx="193713" cy="216764"/>
              </a:xfrm>
              <a:custGeom>
                <a:avLst/>
                <a:gdLst>
                  <a:gd name="T0" fmla="*/ 0 w 446"/>
                  <a:gd name="T1" fmla="*/ 351 h 499"/>
                  <a:gd name="T2" fmla="*/ 0 w 446"/>
                  <a:gd name="T3" fmla="*/ 349 h 499"/>
                  <a:gd name="T4" fmla="*/ 195 w 446"/>
                  <a:gd name="T5" fmla="*/ 194 h 499"/>
                  <a:gd name="T6" fmla="*/ 314 w 446"/>
                  <a:gd name="T7" fmla="*/ 214 h 499"/>
                  <a:gd name="T8" fmla="*/ 314 w 446"/>
                  <a:gd name="T9" fmla="*/ 206 h 499"/>
                  <a:gd name="T10" fmla="*/ 210 w 446"/>
                  <a:gd name="T11" fmla="*/ 117 h 499"/>
                  <a:gd name="T12" fmla="*/ 76 w 446"/>
                  <a:gd name="T13" fmla="*/ 144 h 499"/>
                  <a:gd name="T14" fmla="*/ 42 w 446"/>
                  <a:gd name="T15" fmla="*/ 39 h 499"/>
                  <a:gd name="T16" fmla="*/ 230 w 446"/>
                  <a:gd name="T17" fmla="*/ 0 h 499"/>
                  <a:gd name="T18" fmla="*/ 394 w 446"/>
                  <a:gd name="T19" fmla="*/ 54 h 499"/>
                  <a:gd name="T20" fmla="*/ 446 w 446"/>
                  <a:gd name="T21" fmla="*/ 209 h 499"/>
                  <a:gd name="T22" fmla="*/ 446 w 446"/>
                  <a:gd name="T23" fmla="*/ 490 h 499"/>
                  <a:gd name="T24" fmla="*/ 313 w 446"/>
                  <a:gd name="T25" fmla="*/ 490 h 499"/>
                  <a:gd name="T26" fmla="*/ 313 w 446"/>
                  <a:gd name="T27" fmla="*/ 438 h 499"/>
                  <a:gd name="T28" fmla="*/ 166 w 446"/>
                  <a:gd name="T29" fmla="*/ 499 h 499"/>
                  <a:gd name="T30" fmla="*/ 0 w 446"/>
                  <a:gd name="T31" fmla="*/ 351 h 499"/>
                  <a:gd name="T32" fmla="*/ 316 w 446"/>
                  <a:gd name="T33" fmla="*/ 319 h 499"/>
                  <a:gd name="T34" fmla="*/ 316 w 446"/>
                  <a:gd name="T35" fmla="*/ 295 h 499"/>
                  <a:gd name="T36" fmla="*/ 228 w 446"/>
                  <a:gd name="T37" fmla="*/ 277 h 499"/>
                  <a:gd name="T38" fmla="*/ 133 w 446"/>
                  <a:gd name="T39" fmla="*/ 344 h 499"/>
                  <a:gd name="T40" fmla="*/ 133 w 446"/>
                  <a:gd name="T41" fmla="*/ 346 h 499"/>
                  <a:gd name="T42" fmla="*/ 208 w 446"/>
                  <a:gd name="T43" fmla="*/ 404 h 499"/>
                  <a:gd name="T44" fmla="*/ 316 w 446"/>
                  <a:gd name="T45" fmla="*/ 31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499">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8">
                <a:extLst>
                  <a:ext uri="{FF2B5EF4-FFF2-40B4-BE49-F238E27FC236}">
                    <a16:creationId xmlns:a16="http://schemas.microsoft.com/office/drawing/2014/main" id="{AA3A9144-5E21-1340-D82E-781E8E03088B}"/>
                  </a:ext>
                </a:extLst>
              </p:cNvPr>
              <p:cNvSpPr>
                <a:spLocks/>
              </p:cNvSpPr>
              <p:nvPr userDrawn="1"/>
            </p:nvSpPr>
            <p:spPr bwMode="auto">
              <a:xfrm>
                <a:off x="6336529" y="564438"/>
                <a:ext cx="127665"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9">
                <a:extLst>
                  <a:ext uri="{FF2B5EF4-FFF2-40B4-BE49-F238E27FC236}">
                    <a16:creationId xmlns:a16="http://schemas.microsoft.com/office/drawing/2014/main" id="{16E502AF-0487-43AF-00DB-14F962B92CFF}"/>
                  </a:ext>
                </a:extLst>
              </p:cNvPr>
              <p:cNvSpPr>
                <a:spLocks/>
              </p:cNvSpPr>
              <p:nvPr userDrawn="1"/>
            </p:nvSpPr>
            <p:spPr bwMode="auto">
              <a:xfrm>
                <a:off x="6475719" y="516121"/>
                <a:ext cx="134757" cy="268184"/>
              </a:xfrm>
              <a:custGeom>
                <a:avLst/>
                <a:gdLst>
                  <a:gd name="T0" fmla="*/ 58 w 310"/>
                  <a:gd name="T1" fmla="*/ 472 h 617"/>
                  <a:gd name="T2" fmla="*/ 58 w 310"/>
                  <a:gd name="T3" fmla="*/ 242 h 617"/>
                  <a:gd name="T4" fmla="*/ 0 w 310"/>
                  <a:gd name="T5" fmla="*/ 242 h 617"/>
                  <a:gd name="T6" fmla="*/ 0 w 310"/>
                  <a:gd name="T7" fmla="*/ 124 h 617"/>
                  <a:gd name="T8" fmla="*/ 58 w 310"/>
                  <a:gd name="T9" fmla="*/ 124 h 617"/>
                  <a:gd name="T10" fmla="*/ 58 w 310"/>
                  <a:gd name="T11" fmla="*/ 0 h 617"/>
                  <a:gd name="T12" fmla="*/ 196 w 310"/>
                  <a:gd name="T13" fmla="*/ 0 h 617"/>
                  <a:gd name="T14" fmla="*/ 196 w 310"/>
                  <a:gd name="T15" fmla="*/ 124 h 617"/>
                  <a:gd name="T16" fmla="*/ 310 w 310"/>
                  <a:gd name="T17" fmla="*/ 124 h 617"/>
                  <a:gd name="T18" fmla="*/ 310 w 310"/>
                  <a:gd name="T19" fmla="*/ 242 h 617"/>
                  <a:gd name="T20" fmla="*/ 196 w 310"/>
                  <a:gd name="T21" fmla="*/ 242 h 617"/>
                  <a:gd name="T22" fmla="*/ 196 w 310"/>
                  <a:gd name="T23" fmla="*/ 449 h 617"/>
                  <a:gd name="T24" fmla="*/ 240 w 310"/>
                  <a:gd name="T25" fmla="*/ 496 h 617"/>
                  <a:gd name="T26" fmla="*/ 308 w 310"/>
                  <a:gd name="T27" fmla="*/ 479 h 617"/>
                  <a:gd name="T28" fmla="*/ 308 w 310"/>
                  <a:gd name="T29" fmla="*/ 589 h 617"/>
                  <a:gd name="T30" fmla="*/ 199 w 310"/>
                  <a:gd name="T31" fmla="*/ 617 h 617"/>
                  <a:gd name="T32" fmla="*/ 58 w 310"/>
                  <a:gd name="T33" fmla="*/ 472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7">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10">
                <a:extLst>
                  <a:ext uri="{FF2B5EF4-FFF2-40B4-BE49-F238E27FC236}">
                    <a16:creationId xmlns:a16="http://schemas.microsoft.com/office/drawing/2014/main" id="{0DE8FD0D-C28A-B61F-DFEE-6F90FAD7BFAA}"/>
                  </a:ext>
                </a:extLst>
              </p:cNvPr>
              <p:cNvSpPr>
                <a:spLocks noEditPoints="1"/>
              </p:cNvSpPr>
              <p:nvPr userDrawn="1"/>
            </p:nvSpPr>
            <p:spPr bwMode="auto">
              <a:xfrm>
                <a:off x="6618455" y="566212"/>
                <a:ext cx="207012" cy="219424"/>
              </a:xfrm>
              <a:custGeom>
                <a:avLst/>
                <a:gdLst>
                  <a:gd name="T0" fmla="*/ 0 w 476"/>
                  <a:gd name="T1" fmla="*/ 254 h 505"/>
                  <a:gd name="T2" fmla="*/ 0 w 476"/>
                  <a:gd name="T3" fmla="*/ 253 h 505"/>
                  <a:gd name="T4" fmla="*/ 240 w 476"/>
                  <a:gd name="T5" fmla="*/ 0 h 505"/>
                  <a:gd name="T6" fmla="*/ 476 w 476"/>
                  <a:gd name="T7" fmla="*/ 263 h 505"/>
                  <a:gd name="T8" fmla="*/ 475 w 476"/>
                  <a:gd name="T9" fmla="*/ 300 h 505"/>
                  <a:gd name="T10" fmla="*/ 137 w 476"/>
                  <a:gd name="T11" fmla="*/ 300 h 505"/>
                  <a:gd name="T12" fmla="*/ 256 w 476"/>
                  <a:gd name="T13" fmla="*/ 395 h 505"/>
                  <a:gd name="T14" fmla="*/ 373 w 476"/>
                  <a:gd name="T15" fmla="*/ 345 h 505"/>
                  <a:gd name="T16" fmla="*/ 452 w 476"/>
                  <a:gd name="T17" fmla="*/ 415 h 505"/>
                  <a:gd name="T18" fmla="*/ 254 w 476"/>
                  <a:gd name="T19" fmla="*/ 505 h 505"/>
                  <a:gd name="T20" fmla="*/ 0 w 476"/>
                  <a:gd name="T21" fmla="*/ 254 h 505"/>
                  <a:gd name="T22" fmla="*/ 342 w 476"/>
                  <a:gd name="T23" fmla="*/ 214 h 505"/>
                  <a:gd name="T24" fmla="*/ 240 w 476"/>
                  <a:gd name="T25" fmla="*/ 111 h 505"/>
                  <a:gd name="T26" fmla="*/ 135 w 476"/>
                  <a:gd name="T27" fmla="*/ 214 h 505"/>
                  <a:gd name="T28" fmla="*/ 342 w 476"/>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05">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11">
                <a:extLst>
                  <a:ext uri="{FF2B5EF4-FFF2-40B4-BE49-F238E27FC236}">
                    <a16:creationId xmlns:a16="http://schemas.microsoft.com/office/drawing/2014/main" id="{F351CFF9-9DD1-E9B5-EE76-334AE5F03491}"/>
                  </a:ext>
                </a:extLst>
              </p:cNvPr>
              <p:cNvSpPr>
                <a:spLocks/>
              </p:cNvSpPr>
              <p:nvPr userDrawn="1"/>
            </p:nvSpPr>
            <p:spPr bwMode="auto">
              <a:xfrm>
                <a:off x="6837879" y="564438"/>
                <a:ext cx="127221"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12">
                <a:extLst>
                  <a:ext uri="{FF2B5EF4-FFF2-40B4-BE49-F238E27FC236}">
                    <a16:creationId xmlns:a16="http://schemas.microsoft.com/office/drawing/2014/main" id="{5CBDFCA1-F27C-774F-EB38-070587A34AB2}"/>
                  </a:ext>
                </a:extLst>
              </p:cNvPr>
              <p:cNvSpPr>
                <a:spLocks/>
              </p:cNvSpPr>
              <p:nvPr userDrawn="1"/>
            </p:nvSpPr>
            <p:spPr bwMode="auto">
              <a:xfrm>
                <a:off x="4988072" y="888476"/>
                <a:ext cx="134757" cy="268628"/>
              </a:xfrm>
              <a:custGeom>
                <a:avLst/>
                <a:gdLst>
                  <a:gd name="T0" fmla="*/ 58 w 310"/>
                  <a:gd name="T1" fmla="*/ 472 h 618"/>
                  <a:gd name="T2" fmla="*/ 58 w 310"/>
                  <a:gd name="T3" fmla="*/ 242 h 618"/>
                  <a:gd name="T4" fmla="*/ 0 w 310"/>
                  <a:gd name="T5" fmla="*/ 242 h 618"/>
                  <a:gd name="T6" fmla="*/ 0 w 310"/>
                  <a:gd name="T7" fmla="*/ 124 h 618"/>
                  <a:gd name="T8" fmla="*/ 58 w 310"/>
                  <a:gd name="T9" fmla="*/ 124 h 618"/>
                  <a:gd name="T10" fmla="*/ 58 w 310"/>
                  <a:gd name="T11" fmla="*/ 0 h 618"/>
                  <a:gd name="T12" fmla="*/ 195 w 310"/>
                  <a:gd name="T13" fmla="*/ 0 h 618"/>
                  <a:gd name="T14" fmla="*/ 195 w 310"/>
                  <a:gd name="T15" fmla="*/ 124 h 618"/>
                  <a:gd name="T16" fmla="*/ 310 w 310"/>
                  <a:gd name="T17" fmla="*/ 124 h 618"/>
                  <a:gd name="T18" fmla="*/ 310 w 310"/>
                  <a:gd name="T19" fmla="*/ 242 h 618"/>
                  <a:gd name="T20" fmla="*/ 195 w 310"/>
                  <a:gd name="T21" fmla="*/ 242 h 618"/>
                  <a:gd name="T22" fmla="*/ 195 w 310"/>
                  <a:gd name="T23" fmla="*/ 449 h 618"/>
                  <a:gd name="T24" fmla="*/ 240 w 310"/>
                  <a:gd name="T25" fmla="*/ 496 h 618"/>
                  <a:gd name="T26" fmla="*/ 308 w 310"/>
                  <a:gd name="T27" fmla="*/ 479 h 618"/>
                  <a:gd name="T28" fmla="*/ 308 w 310"/>
                  <a:gd name="T29" fmla="*/ 590 h 618"/>
                  <a:gd name="T30" fmla="*/ 199 w 310"/>
                  <a:gd name="T31" fmla="*/ 618 h 618"/>
                  <a:gd name="T32" fmla="*/ 58 w 310"/>
                  <a:gd name="T33" fmla="*/ 472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8">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13">
                <a:extLst>
                  <a:ext uri="{FF2B5EF4-FFF2-40B4-BE49-F238E27FC236}">
                    <a16:creationId xmlns:a16="http://schemas.microsoft.com/office/drawing/2014/main" id="{32C7C41D-9C2F-F9CB-F801-1289ECF5E586}"/>
                  </a:ext>
                </a:extLst>
              </p:cNvPr>
              <p:cNvSpPr>
                <a:spLocks noEditPoints="1"/>
              </p:cNvSpPr>
              <p:nvPr userDrawn="1"/>
            </p:nvSpPr>
            <p:spPr bwMode="auto">
              <a:xfrm>
                <a:off x="5131251" y="938123"/>
                <a:ext cx="207455" cy="219867"/>
              </a:xfrm>
              <a:custGeom>
                <a:avLst/>
                <a:gdLst>
                  <a:gd name="T0" fmla="*/ 0 w 477"/>
                  <a:gd name="T1" fmla="*/ 254 h 505"/>
                  <a:gd name="T2" fmla="*/ 0 w 477"/>
                  <a:gd name="T3" fmla="*/ 253 h 505"/>
                  <a:gd name="T4" fmla="*/ 240 w 477"/>
                  <a:gd name="T5" fmla="*/ 0 h 505"/>
                  <a:gd name="T6" fmla="*/ 477 w 477"/>
                  <a:gd name="T7" fmla="*/ 263 h 505"/>
                  <a:gd name="T8" fmla="*/ 475 w 477"/>
                  <a:gd name="T9" fmla="*/ 300 h 505"/>
                  <a:gd name="T10" fmla="*/ 137 w 477"/>
                  <a:gd name="T11" fmla="*/ 300 h 505"/>
                  <a:gd name="T12" fmla="*/ 256 w 477"/>
                  <a:gd name="T13" fmla="*/ 395 h 505"/>
                  <a:gd name="T14" fmla="*/ 373 w 477"/>
                  <a:gd name="T15" fmla="*/ 345 h 505"/>
                  <a:gd name="T16" fmla="*/ 452 w 477"/>
                  <a:gd name="T17" fmla="*/ 415 h 505"/>
                  <a:gd name="T18" fmla="*/ 254 w 477"/>
                  <a:gd name="T19" fmla="*/ 505 h 505"/>
                  <a:gd name="T20" fmla="*/ 0 w 477"/>
                  <a:gd name="T21" fmla="*/ 254 h 505"/>
                  <a:gd name="T22" fmla="*/ 343 w 477"/>
                  <a:gd name="T23" fmla="*/ 214 h 505"/>
                  <a:gd name="T24" fmla="*/ 240 w 477"/>
                  <a:gd name="T25" fmla="*/ 111 h 505"/>
                  <a:gd name="T26" fmla="*/ 135 w 477"/>
                  <a:gd name="T27" fmla="*/ 214 h 505"/>
                  <a:gd name="T28" fmla="*/ 343 w 477"/>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7" h="505">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14">
                <a:extLst>
                  <a:ext uri="{FF2B5EF4-FFF2-40B4-BE49-F238E27FC236}">
                    <a16:creationId xmlns:a16="http://schemas.microsoft.com/office/drawing/2014/main" id="{D3D8F53A-7C54-73FF-7202-68AF9530CEF8}"/>
                  </a:ext>
                </a:extLst>
              </p:cNvPr>
              <p:cNvSpPr>
                <a:spLocks/>
              </p:cNvSpPr>
              <p:nvPr userDrawn="1"/>
            </p:nvSpPr>
            <p:spPr bwMode="auto">
              <a:xfrm>
                <a:off x="5348015" y="938123"/>
                <a:ext cx="195486" cy="219867"/>
              </a:xfrm>
              <a:custGeom>
                <a:avLst/>
                <a:gdLst>
                  <a:gd name="T0" fmla="*/ 0 w 450"/>
                  <a:gd name="T1" fmla="*/ 254 h 505"/>
                  <a:gd name="T2" fmla="*/ 0 w 450"/>
                  <a:gd name="T3" fmla="*/ 253 h 505"/>
                  <a:gd name="T4" fmla="*/ 254 w 450"/>
                  <a:gd name="T5" fmla="*/ 0 h 505"/>
                  <a:gd name="T6" fmla="*/ 448 w 450"/>
                  <a:gd name="T7" fmla="*/ 82 h 505"/>
                  <a:gd name="T8" fmla="*/ 363 w 450"/>
                  <a:gd name="T9" fmla="*/ 172 h 505"/>
                  <a:gd name="T10" fmla="*/ 253 w 450"/>
                  <a:gd name="T11" fmla="*/ 119 h 505"/>
                  <a:gd name="T12" fmla="*/ 135 w 450"/>
                  <a:gd name="T13" fmla="*/ 251 h 505"/>
                  <a:gd name="T14" fmla="*/ 135 w 450"/>
                  <a:gd name="T15" fmla="*/ 253 h 505"/>
                  <a:gd name="T16" fmla="*/ 258 w 450"/>
                  <a:gd name="T17" fmla="*/ 387 h 505"/>
                  <a:gd name="T18" fmla="*/ 370 w 450"/>
                  <a:gd name="T19" fmla="*/ 335 h 505"/>
                  <a:gd name="T20" fmla="*/ 450 w 450"/>
                  <a:gd name="T21" fmla="*/ 416 h 505"/>
                  <a:gd name="T22" fmla="*/ 252 w 450"/>
                  <a:gd name="T23" fmla="*/ 505 h 505"/>
                  <a:gd name="T24" fmla="*/ 0 w 450"/>
                  <a:gd name="T25"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0" h="505">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15">
                <a:extLst>
                  <a:ext uri="{FF2B5EF4-FFF2-40B4-BE49-F238E27FC236}">
                    <a16:creationId xmlns:a16="http://schemas.microsoft.com/office/drawing/2014/main" id="{BD2B90D5-630B-CFC6-CE5B-4A3E77847404}"/>
                  </a:ext>
                </a:extLst>
              </p:cNvPr>
              <p:cNvSpPr>
                <a:spLocks/>
              </p:cNvSpPr>
              <p:nvPr userDrawn="1"/>
            </p:nvSpPr>
            <p:spPr bwMode="auto">
              <a:xfrm>
                <a:off x="5553254" y="866312"/>
                <a:ext cx="193270" cy="286802"/>
              </a:xfrm>
              <a:custGeom>
                <a:avLst/>
                <a:gdLst>
                  <a:gd name="T0" fmla="*/ 0 w 445"/>
                  <a:gd name="T1" fmla="*/ 0 h 660"/>
                  <a:gd name="T2" fmla="*/ 138 w 445"/>
                  <a:gd name="T3" fmla="*/ 0 h 660"/>
                  <a:gd name="T4" fmla="*/ 138 w 445"/>
                  <a:gd name="T5" fmla="*/ 244 h 660"/>
                  <a:gd name="T6" fmla="*/ 280 w 445"/>
                  <a:gd name="T7" fmla="*/ 166 h 660"/>
                  <a:gd name="T8" fmla="*/ 445 w 445"/>
                  <a:gd name="T9" fmla="*/ 346 h 660"/>
                  <a:gd name="T10" fmla="*/ 445 w 445"/>
                  <a:gd name="T11" fmla="*/ 660 h 660"/>
                  <a:gd name="T12" fmla="*/ 307 w 445"/>
                  <a:gd name="T13" fmla="*/ 660 h 660"/>
                  <a:gd name="T14" fmla="*/ 307 w 445"/>
                  <a:gd name="T15" fmla="*/ 390 h 660"/>
                  <a:gd name="T16" fmla="*/ 224 w 445"/>
                  <a:gd name="T17" fmla="*/ 291 h 660"/>
                  <a:gd name="T18" fmla="*/ 138 w 445"/>
                  <a:gd name="T19" fmla="*/ 390 h 660"/>
                  <a:gd name="T20" fmla="*/ 138 w 445"/>
                  <a:gd name="T21" fmla="*/ 660 h 660"/>
                  <a:gd name="T22" fmla="*/ 0 w 445"/>
                  <a:gd name="T23" fmla="*/ 660 h 660"/>
                  <a:gd name="T24" fmla="*/ 0 w 445"/>
                  <a:gd name="T25"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5" h="660">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16">
                <a:extLst>
                  <a:ext uri="{FF2B5EF4-FFF2-40B4-BE49-F238E27FC236}">
                    <a16:creationId xmlns:a16="http://schemas.microsoft.com/office/drawing/2014/main" id="{44BDC175-2104-E7E3-2519-DA2F92A4A931}"/>
                  </a:ext>
                </a:extLst>
              </p:cNvPr>
              <p:cNvSpPr>
                <a:spLocks/>
              </p:cNvSpPr>
              <p:nvPr userDrawn="1"/>
            </p:nvSpPr>
            <p:spPr bwMode="auto">
              <a:xfrm>
                <a:off x="5762039" y="938123"/>
                <a:ext cx="192827" cy="214991"/>
              </a:xfrm>
              <a:custGeom>
                <a:avLst/>
                <a:gdLst>
                  <a:gd name="T0" fmla="*/ 0 w 444"/>
                  <a:gd name="T1" fmla="*/ 9 h 494"/>
                  <a:gd name="T2" fmla="*/ 137 w 444"/>
                  <a:gd name="T3" fmla="*/ 9 h 494"/>
                  <a:gd name="T4" fmla="*/ 137 w 444"/>
                  <a:gd name="T5" fmla="*/ 78 h 494"/>
                  <a:gd name="T6" fmla="*/ 279 w 444"/>
                  <a:gd name="T7" fmla="*/ 0 h 494"/>
                  <a:gd name="T8" fmla="*/ 444 w 444"/>
                  <a:gd name="T9" fmla="*/ 180 h 494"/>
                  <a:gd name="T10" fmla="*/ 444 w 444"/>
                  <a:gd name="T11" fmla="*/ 494 h 494"/>
                  <a:gd name="T12" fmla="*/ 306 w 444"/>
                  <a:gd name="T13" fmla="*/ 494 h 494"/>
                  <a:gd name="T14" fmla="*/ 306 w 444"/>
                  <a:gd name="T15" fmla="*/ 224 h 494"/>
                  <a:gd name="T16" fmla="*/ 223 w 444"/>
                  <a:gd name="T17" fmla="*/ 125 h 494"/>
                  <a:gd name="T18" fmla="*/ 137 w 444"/>
                  <a:gd name="T19" fmla="*/ 224 h 494"/>
                  <a:gd name="T20" fmla="*/ 137 w 444"/>
                  <a:gd name="T21" fmla="*/ 494 h 494"/>
                  <a:gd name="T22" fmla="*/ 0 w 444"/>
                  <a:gd name="T23" fmla="*/ 494 h 494"/>
                  <a:gd name="T24" fmla="*/ 0 w 444"/>
                  <a:gd name="T25"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4" h="49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17">
                <a:extLst>
                  <a:ext uri="{FF2B5EF4-FFF2-40B4-BE49-F238E27FC236}">
                    <a16:creationId xmlns:a16="http://schemas.microsoft.com/office/drawing/2014/main" id="{E76CB955-2FC2-83C2-AC09-AD01BCCF18B2}"/>
                  </a:ext>
                </a:extLst>
              </p:cNvPr>
              <p:cNvSpPr>
                <a:spLocks noEditPoints="1"/>
              </p:cNvSpPr>
              <p:nvPr userDrawn="1"/>
            </p:nvSpPr>
            <p:spPr bwMode="auto">
              <a:xfrm>
                <a:off x="5967277" y="938123"/>
                <a:ext cx="228289" cy="219867"/>
              </a:xfrm>
              <a:custGeom>
                <a:avLst/>
                <a:gdLst>
                  <a:gd name="T0" fmla="*/ 0 w 525"/>
                  <a:gd name="T1" fmla="*/ 254 h 505"/>
                  <a:gd name="T2" fmla="*/ 0 w 525"/>
                  <a:gd name="T3" fmla="*/ 253 h 505"/>
                  <a:gd name="T4" fmla="*/ 263 w 525"/>
                  <a:gd name="T5" fmla="*/ 0 h 505"/>
                  <a:gd name="T6" fmla="*/ 525 w 525"/>
                  <a:gd name="T7" fmla="*/ 251 h 505"/>
                  <a:gd name="T8" fmla="*/ 525 w 525"/>
                  <a:gd name="T9" fmla="*/ 253 h 505"/>
                  <a:gd name="T10" fmla="*/ 262 w 525"/>
                  <a:gd name="T11" fmla="*/ 505 h 505"/>
                  <a:gd name="T12" fmla="*/ 0 w 525"/>
                  <a:gd name="T13" fmla="*/ 254 h 505"/>
                  <a:gd name="T14" fmla="*/ 389 w 525"/>
                  <a:gd name="T15" fmla="*/ 254 h 505"/>
                  <a:gd name="T16" fmla="*/ 389 w 525"/>
                  <a:gd name="T17" fmla="*/ 253 h 505"/>
                  <a:gd name="T18" fmla="*/ 262 w 525"/>
                  <a:gd name="T19" fmla="*/ 119 h 505"/>
                  <a:gd name="T20" fmla="*/ 136 w 525"/>
                  <a:gd name="T21" fmla="*/ 251 h 505"/>
                  <a:gd name="T22" fmla="*/ 136 w 525"/>
                  <a:gd name="T23" fmla="*/ 253 h 505"/>
                  <a:gd name="T24" fmla="*/ 263 w 525"/>
                  <a:gd name="T25" fmla="*/ 387 h 505"/>
                  <a:gd name="T26" fmla="*/ 389 w 525"/>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Rectangle 18">
                <a:extLst>
                  <a:ext uri="{FF2B5EF4-FFF2-40B4-BE49-F238E27FC236}">
                    <a16:creationId xmlns:a16="http://schemas.microsoft.com/office/drawing/2014/main" id="{BB15E459-A560-CBA7-38D2-49EC0DF1798C}"/>
                  </a:ext>
                </a:extLst>
              </p:cNvPr>
              <p:cNvSpPr>
                <a:spLocks noChangeArrowheads="1"/>
              </p:cNvSpPr>
              <p:nvPr userDrawn="1"/>
            </p:nvSpPr>
            <p:spPr bwMode="auto">
              <a:xfrm>
                <a:off x="6207091" y="866312"/>
                <a:ext cx="59843" cy="28680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19">
                <a:extLst>
                  <a:ext uri="{FF2B5EF4-FFF2-40B4-BE49-F238E27FC236}">
                    <a16:creationId xmlns:a16="http://schemas.microsoft.com/office/drawing/2014/main" id="{A894E637-6612-023A-5D26-292EB224BB2E}"/>
                  </a:ext>
                </a:extLst>
              </p:cNvPr>
              <p:cNvSpPr>
                <a:spLocks noEditPoints="1"/>
              </p:cNvSpPr>
              <p:nvPr userDrawn="1"/>
            </p:nvSpPr>
            <p:spPr bwMode="auto">
              <a:xfrm>
                <a:off x="6278460" y="938123"/>
                <a:ext cx="228732" cy="219867"/>
              </a:xfrm>
              <a:custGeom>
                <a:avLst/>
                <a:gdLst>
                  <a:gd name="T0" fmla="*/ 0 w 526"/>
                  <a:gd name="T1" fmla="*/ 254 h 505"/>
                  <a:gd name="T2" fmla="*/ 0 w 526"/>
                  <a:gd name="T3" fmla="*/ 253 h 505"/>
                  <a:gd name="T4" fmla="*/ 264 w 526"/>
                  <a:gd name="T5" fmla="*/ 0 h 505"/>
                  <a:gd name="T6" fmla="*/ 526 w 526"/>
                  <a:gd name="T7" fmla="*/ 251 h 505"/>
                  <a:gd name="T8" fmla="*/ 526 w 526"/>
                  <a:gd name="T9" fmla="*/ 253 h 505"/>
                  <a:gd name="T10" fmla="*/ 262 w 526"/>
                  <a:gd name="T11" fmla="*/ 505 h 505"/>
                  <a:gd name="T12" fmla="*/ 0 w 526"/>
                  <a:gd name="T13" fmla="*/ 254 h 505"/>
                  <a:gd name="T14" fmla="*/ 390 w 526"/>
                  <a:gd name="T15" fmla="*/ 254 h 505"/>
                  <a:gd name="T16" fmla="*/ 390 w 526"/>
                  <a:gd name="T17" fmla="*/ 253 h 505"/>
                  <a:gd name="T18" fmla="*/ 262 w 526"/>
                  <a:gd name="T19" fmla="*/ 119 h 505"/>
                  <a:gd name="T20" fmla="*/ 136 w 526"/>
                  <a:gd name="T21" fmla="*/ 251 h 505"/>
                  <a:gd name="T22" fmla="*/ 136 w 526"/>
                  <a:gd name="T23" fmla="*/ 253 h 505"/>
                  <a:gd name="T24" fmla="*/ 264 w 526"/>
                  <a:gd name="T25" fmla="*/ 387 h 505"/>
                  <a:gd name="T26" fmla="*/ 390 w 526"/>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6" h="505">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0">
                <a:extLst>
                  <a:ext uri="{FF2B5EF4-FFF2-40B4-BE49-F238E27FC236}">
                    <a16:creationId xmlns:a16="http://schemas.microsoft.com/office/drawing/2014/main" id="{C612BEEF-FFCF-00C7-83E8-3D6CD89DD8B2}"/>
                  </a:ext>
                </a:extLst>
              </p:cNvPr>
              <p:cNvSpPr>
                <a:spLocks noEditPoints="1"/>
              </p:cNvSpPr>
              <p:nvPr userDrawn="1"/>
            </p:nvSpPr>
            <p:spPr bwMode="auto">
              <a:xfrm>
                <a:off x="6516057" y="938123"/>
                <a:ext cx="221197" cy="278823"/>
              </a:xfrm>
              <a:custGeom>
                <a:avLst/>
                <a:gdLst>
                  <a:gd name="T0" fmla="*/ 24 w 509"/>
                  <a:gd name="T1" fmla="*/ 590 h 641"/>
                  <a:gd name="T2" fmla="*/ 71 w 509"/>
                  <a:gd name="T3" fmla="*/ 487 h 641"/>
                  <a:gd name="T4" fmla="*/ 235 w 509"/>
                  <a:gd name="T5" fmla="*/ 531 h 641"/>
                  <a:gd name="T6" fmla="*/ 373 w 509"/>
                  <a:gd name="T7" fmla="*/ 399 h 641"/>
                  <a:gd name="T8" fmla="*/ 373 w 509"/>
                  <a:gd name="T9" fmla="*/ 376 h 641"/>
                  <a:gd name="T10" fmla="*/ 215 w 509"/>
                  <a:gd name="T11" fmla="*/ 454 h 641"/>
                  <a:gd name="T12" fmla="*/ 0 w 509"/>
                  <a:gd name="T13" fmla="*/ 228 h 641"/>
                  <a:gd name="T14" fmla="*/ 0 w 509"/>
                  <a:gd name="T15" fmla="*/ 226 h 641"/>
                  <a:gd name="T16" fmla="*/ 215 w 509"/>
                  <a:gd name="T17" fmla="*/ 0 h 641"/>
                  <a:gd name="T18" fmla="*/ 372 w 509"/>
                  <a:gd name="T19" fmla="*/ 72 h 641"/>
                  <a:gd name="T20" fmla="*/ 372 w 509"/>
                  <a:gd name="T21" fmla="*/ 9 h 641"/>
                  <a:gd name="T22" fmla="*/ 509 w 509"/>
                  <a:gd name="T23" fmla="*/ 9 h 641"/>
                  <a:gd name="T24" fmla="*/ 509 w 509"/>
                  <a:gd name="T25" fmla="*/ 385 h 641"/>
                  <a:gd name="T26" fmla="*/ 448 w 509"/>
                  <a:gd name="T27" fmla="*/ 576 h 641"/>
                  <a:gd name="T28" fmla="*/ 239 w 509"/>
                  <a:gd name="T29" fmla="*/ 641 h 641"/>
                  <a:gd name="T30" fmla="*/ 24 w 509"/>
                  <a:gd name="T31" fmla="*/ 590 h 641"/>
                  <a:gd name="T32" fmla="*/ 373 w 509"/>
                  <a:gd name="T33" fmla="*/ 228 h 641"/>
                  <a:gd name="T34" fmla="*/ 373 w 509"/>
                  <a:gd name="T35" fmla="*/ 226 h 641"/>
                  <a:gd name="T36" fmla="*/ 255 w 509"/>
                  <a:gd name="T37" fmla="*/ 114 h 641"/>
                  <a:gd name="T38" fmla="*/ 137 w 509"/>
                  <a:gd name="T39" fmla="*/ 226 h 641"/>
                  <a:gd name="T40" fmla="*/ 137 w 509"/>
                  <a:gd name="T41" fmla="*/ 228 h 641"/>
                  <a:gd name="T42" fmla="*/ 255 w 509"/>
                  <a:gd name="T43" fmla="*/ 340 h 641"/>
                  <a:gd name="T44" fmla="*/ 373 w 509"/>
                  <a:gd name="T45" fmla="*/ 228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9" h="641">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1">
                <a:extLst>
                  <a:ext uri="{FF2B5EF4-FFF2-40B4-BE49-F238E27FC236}">
                    <a16:creationId xmlns:a16="http://schemas.microsoft.com/office/drawing/2014/main" id="{535443A8-F420-58B0-6940-C7217CB7D304}"/>
                  </a:ext>
                </a:extLst>
              </p:cNvPr>
              <p:cNvSpPr>
                <a:spLocks/>
              </p:cNvSpPr>
              <p:nvPr userDrawn="1"/>
            </p:nvSpPr>
            <p:spPr bwMode="auto">
              <a:xfrm>
                <a:off x="6747450" y="942113"/>
                <a:ext cx="219424" cy="275277"/>
              </a:xfrm>
              <a:custGeom>
                <a:avLst/>
                <a:gdLst>
                  <a:gd name="T0" fmla="*/ 362 w 505"/>
                  <a:gd name="T1" fmla="*/ 0 h 633"/>
                  <a:gd name="T2" fmla="*/ 505 w 505"/>
                  <a:gd name="T3" fmla="*/ 0 h 633"/>
                  <a:gd name="T4" fmla="*/ 319 w 505"/>
                  <a:gd name="T5" fmla="*/ 497 h 633"/>
                  <a:gd name="T6" fmla="*/ 159 w 505"/>
                  <a:gd name="T7" fmla="*/ 633 h 633"/>
                  <a:gd name="T8" fmla="*/ 37 w 505"/>
                  <a:gd name="T9" fmla="*/ 599 h 633"/>
                  <a:gd name="T10" fmla="*/ 83 w 505"/>
                  <a:gd name="T11" fmla="*/ 500 h 633"/>
                  <a:gd name="T12" fmla="*/ 142 w 505"/>
                  <a:gd name="T13" fmla="*/ 519 h 633"/>
                  <a:gd name="T14" fmla="*/ 190 w 505"/>
                  <a:gd name="T15" fmla="*/ 487 h 633"/>
                  <a:gd name="T16" fmla="*/ 0 w 505"/>
                  <a:gd name="T17" fmla="*/ 0 h 633"/>
                  <a:gd name="T18" fmla="*/ 146 w 505"/>
                  <a:gd name="T19" fmla="*/ 0 h 633"/>
                  <a:gd name="T20" fmla="*/ 256 w 505"/>
                  <a:gd name="T21" fmla="*/ 331 h 633"/>
                  <a:gd name="T22" fmla="*/ 362 w 505"/>
                  <a:gd name="T23" fmla="*/ 0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5" h="633">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2">
                <a:extLst>
                  <a:ext uri="{FF2B5EF4-FFF2-40B4-BE49-F238E27FC236}">
                    <a16:creationId xmlns:a16="http://schemas.microsoft.com/office/drawing/2014/main" id="{D577C4C5-162A-509E-0F90-2D9CF5560B46}"/>
                  </a:ext>
                </a:extLst>
              </p:cNvPr>
              <p:cNvSpPr>
                <a:spLocks/>
              </p:cNvSpPr>
              <p:nvPr userDrawn="1"/>
            </p:nvSpPr>
            <p:spPr bwMode="auto">
              <a:xfrm>
                <a:off x="6005842" y="1258171"/>
                <a:ext cx="132541" cy="290348"/>
              </a:xfrm>
              <a:custGeom>
                <a:avLst/>
                <a:gdLst>
                  <a:gd name="T0" fmla="*/ 57 w 305"/>
                  <a:gd name="T1" fmla="*/ 299 h 667"/>
                  <a:gd name="T2" fmla="*/ 0 w 305"/>
                  <a:gd name="T3" fmla="*/ 299 h 667"/>
                  <a:gd name="T4" fmla="*/ 0 w 305"/>
                  <a:gd name="T5" fmla="*/ 186 h 667"/>
                  <a:gd name="T6" fmla="*/ 57 w 305"/>
                  <a:gd name="T7" fmla="*/ 186 h 667"/>
                  <a:gd name="T8" fmla="*/ 57 w 305"/>
                  <a:gd name="T9" fmla="*/ 155 h 667"/>
                  <a:gd name="T10" fmla="*/ 96 w 305"/>
                  <a:gd name="T11" fmla="*/ 38 h 667"/>
                  <a:gd name="T12" fmla="*/ 208 w 305"/>
                  <a:gd name="T13" fmla="*/ 0 h 667"/>
                  <a:gd name="T14" fmla="*/ 305 w 305"/>
                  <a:gd name="T15" fmla="*/ 13 h 667"/>
                  <a:gd name="T16" fmla="*/ 305 w 305"/>
                  <a:gd name="T17" fmla="*/ 127 h 667"/>
                  <a:gd name="T18" fmla="*/ 243 w 305"/>
                  <a:gd name="T19" fmla="*/ 115 h 667"/>
                  <a:gd name="T20" fmla="*/ 193 w 305"/>
                  <a:gd name="T21" fmla="*/ 168 h 667"/>
                  <a:gd name="T22" fmla="*/ 193 w 305"/>
                  <a:gd name="T23" fmla="*/ 187 h 667"/>
                  <a:gd name="T24" fmla="*/ 305 w 305"/>
                  <a:gd name="T25" fmla="*/ 187 h 667"/>
                  <a:gd name="T26" fmla="*/ 305 w 305"/>
                  <a:gd name="T27" fmla="*/ 299 h 667"/>
                  <a:gd name="T28" fmla="*/ 195 w 305"/>
                  <a:gd name="T29" fmla="*/ 299 h 667"/>
                  <a:gd name="T30" fmla="*/ 195 w 305"/>
                  <a:gd name="T31" fmla="*/ 667 h 667"/>
                  <a:gd name="T32" fmla="*/ 57 w 305"/>
                  <a:gd name="T33" fmla="*/ 667 h 667"/>
                  <a:gd name="T34" fmla="*/ 57 w 305"/>
                  <a:gd name="T35" fmla="*/ 299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5" h="667">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3">
                <a:extLst>
                  <a:ext uri="{FF2B5EF4-FFF2-40B4-BE49-F238E27FC236}">
                    <a16:creationId xmlns:a16="http://schemas.microsoft.com/office/drawing/2014/main" id="{9CB671CE-477D-F1B3-6894-F85448189A99}"/>
                  </a:ext>
                </a:extLst>
              </p:cNvPr>
              <p:cNvSpPr>
                <a:spLocks noEditPoints="1"/>
              </p:cNvSpPr>
              <p:nvPr userDrawn="1"/>
            </p:nvSpPr>
            <p:spPr bwMode="auto">
              <a:xfrm>
                <a:off x="6137497" y="1333086"/>
                <a:ext cx="228289" cy="219867"/>
              </a:xfrm>
              <a:custGeom>
                <a:avLst/>
                <a:gdLst>
                  <a:gd name="T0" fmla="*/ 0 w 525"/>
                  <a:gd name="T1" fmla="*/ 255 h 506"/>
                  <a:gd name="T2" fmla="*/ 0 w 525"/>
                  <a:gd name="T3" fmla="*/ 253 h 506"/>
                  <a:gd name="T4" fmla="*/ 263 w 525"/>
                  <a:gd name="T5" fmla="*/ 0 h 506"/>
                  <a:gd name="T6" fmla="*/ 525 w 525"/>
                  <a:gd name="T7" fmla="*/ 251 h 506"/>
                  <a:gd name="T8" fmla="*/ 525 w 525"/>
                  <a:gd name="T9" fmla="*/ 253 h 506"/>
                  <a:gd name="T10" fmla="*/ 261 w 525"/>
                  <a:gd name="T11" fmla="*/ 506 h 506"/>
                  <a:gd name="T12" fmla="*/ 0 w 525"/>
                  <a:gd name="T13" fmla="*/ 255 h 506"/>
                  <a:gd name="T14" fmla="*/ 389 w 525"/>
                  <a:gd name="T15" fmla="*/ 255 h 506"/>
                  <a:gd name="T16" fmla="*/ 389 w 525"/>
                  <a:gd name="T17" fmla="*/ 253 h 506"/>
                  <a:gd name="T18" fmla="*/ 261 w 525"/>
                  <a:gd name="T19" fmla="*/ 119 h 506"/>
                  <a:gd name="T20" fmla="*/ 135 w 525"/>
                  <a:gd name="T21" fmla="*/ 251 h 506"/>
                  <a:gd name="T22" fmla="*/ 135 w 525"/>
                  <a:gd name="T23" fmla="*/ 253 h 506"/>
                  <a:gd name="T24" fmla="*/ 263 w 525"/>
                  <a:gd name="T25" fmla="*/ 387 h 506"/>
                  <a:gd name="T26" fmla="*/ 389 w 525"/>
                  <a:gd name="T27" fmla="*/ 25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6">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4">
                <a:extLst>
                  <a:ext uri="{FF2B5EF4-FFF2-40B4-BE49-F238E27FC236}">
                    <a16:creationId xmlns:a16="http://schemas.microsoft.com/office/drawing/2014/main" id="{2D545142-881D-002A-830D-2B1960B7F79A}"/>
                  </a:ext>
                </a:extLst>
              </p:cNvPr>
              <p:cNvSpPr>
                <a:spLocks/>
              </p:cNvSpPr>
              <p:nvPr userDrawn="1"/>
            </p:nvSpPr>
            <p:spPr bwMode="auto">
              <a:xfrm>
                <a:off x="6379084" y="1331756"/>
                <a:ext cx="127665" cy="216764"/>
              </a:xfrm>
              <a:custGeom>
                <a:avLst/>
                <a:gdLst>
                  <a:gd name="T0" fmla="*/ 0 w 293"/>
                  <a:gd name="T1" fmla="*/ 13 h 498"/>
                  <a:gd name="T2" fmla="*/ 138 w 293"/>
                  <a:gd name="T3" fmla="*/ 13 h 498"/>
                  <a:gd name="T4" fmla="*/ 138 w 293"/>
                  <a:gd name="T5" fmla="*/ 110 h 498"/>
                  <a:gd name="T6" fmla="*/ 293 w 293"/>
                  <a:gd name="T7" fmla="*/ 3 h 498"/>
                  <a:gd name="T8" fmla="*/ 293 w 293"/>
                  <a:gd name="T9" fmla="*/ 147 h 498"/>
                  <a:gd name="T10" fmla="*/ 286 w 293"/>
                  <a:gd name="T11" fmla="*/ 147 h 498"/>
                  <a:gd name="T12" fmla="*/ 138 w 293"/>
                  <a:gd name="T13" fmla="*/ 318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5">
                <a:extLst>
                  <a:ext uri="{FF2B5EF4-FFF2-40B4-BE49-F238E27FC236}">
                    <a16:creationId xmlns:a16="http://schemas.microsoft.com/office/drawing/2014/main" id="{5C959273-267C-8CBA-996C-EC8514CCD7D2}"/>
                  </a:ext>
                </a:extLst>
              </p:cNvPr>
              <p:cNvSpPr>
                <a:spLocks noEditPoints="1"/>
              </p:cNvSpPr>
              <p:nvPr userDrawn="1"/>
            </p:nvSpPr>
            <p:spPr bwMode="auto">
              <a:xfrm>
                <a:off x="6582993" y="1334859"/>
                <a:ext cx="194157" cy="217207"/>
              </a:xfrm>
              <a:custGeom>
                <a:avLst/>
                <a:gdLst>
                  <a:gd name="T0" fmla="*/ 0 w 446"/>
                  <a:gd name="T1" fmla="*/ 351 h 500"/>
                  <a:gd name="T2" fmla="*/ 0 w 446"/>
                  <a:gd name="T3" fmla="*/ 349 h 500"/>
                  <a:gd name="T4" fmla="*/ 195 w 446"/>
                  <a:gd name="T5" fmla="*/ 195 h 500"/>
                  <a:gd name="T6" fmla="*/ 314 w 446"/>
                  <a:gd name="T7" fmla="*/ 215 h 500"/>
                  <a:gd name="T8" fmla="*/ 314 w 446"/>
                  <a:gd name="T9" fmla="*/ 206 h 500"/>
                  <a:gd name="T10" fmla="*/ 210 w 446"/>
                  <a:gd name="T11" fmla="*/ 118 h 500"/>
                  <a:gd name="T12" fmla="*/ 76 w 446"/>
                  <a:gd name="T13" fmla="*/ 144 h 500"/>
                  <a:gd name="T14" fmla="*/ 42 w 446"/>
                  <a:gd name="T15" fmla="*/ 39 h 500"/>
                  <a:gd name="T16" fmla="*/ 230 w 446"/>
                  <a:gd name="T17" fmla="*/ 0 h 500"/>
                  <a:gd name="T18" fmla="*/ 394 w 446"/>
                  <a:gd name="T19" fmla="*/ 54 h 500"/>
                  <a:gd name="T20" fmla="*/ 446 w 446"/>
                  <a:gd name="T21" fmla="*/ 209 h 500"/>
                  <a:gd name="T22" fmla="*/ 446 w 446"/>
                  <a:gd name="T23" fmla="*/ 491 h 500"/>
                  <a:gd name="T24" fmla="*/ 313 w 446"/>
                  <a:gd name="T25" fmla="*/ 491 h 500"/>
                  <a:gd name="T26" fmla="*/ 313 w 446"/>
                  <a:gd name="T27" fmla="*/ 438 h 500"/>
                  <a:gd name="T28" fmla="*/ 167 w 446"/>
                  <a:gd name="T29" fmla="*/ 500 h 500"/>
                  <a:gd name="T30" fmla="*/ 0 w 446"/>
                  <a:gd name="T31" fmla="*/ 351 h 500"/>
                  <a:gd name="T32" fmla="*/ 316 w 446"/>
                  <a:gd name="T33" fmla="*/ 320 h 500"/>
                  <a:gd name="T34" fmla="*/ 316 w 446"/>
                  <a:gd name="T35" fmla="*/ 295 h 500"/>
                  <a:gd name="T36" fmla="*/ 228 w 446"/>
                  <a:gd name="T37" fmla="*/ 277 h 500"/>
                  <a:gd name="T38" fmla="*/ 133 w 446"/>
                  <a:gd name="T39" fmla="*/ 344 h 500"/>
                  <a:gd name="T40" fmla="*/ 133 w 446"/>
                  <a:gd name="T41" fmla="*/ 346 h 500"/>
                  <a:gd name="T42" fmla="*/ 208 w 446"/>
                  <a:gd name="T43" fmla="*/ 405 h 500"/>
                  <a:gd name="T44" fmla="*/ 316 w 446"/>
                  <a:gd name="T45" fmla="*/ 32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500">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Rectangle 26">
                <a:extLst>
                  <a:ext uri="{FF2B5EF4-FFF2-40B4-BE49-F238E27FC236}">
                    <a16:creationId xmlns:a16="http://schemas.microsoft.com/office/drawing/2014/main" id="{2F1B0169-414B-8F53-D204-E4FC9132C39A}"/>
                  </a:ext>
                </a:extLst>
              </p:cNvPr>
              <p:cNvSpPr>
                <a:spLocks noChangeArrowheads="1"/>
              </p:cNvSpPr>
              <p:nvPr userDrawn="1"/>
            </p:nvSpPr>
            <p:spPr bwMode="auto">
              <a:xfrm>
                <a:off x="6801973" y="1260831"/>
                <a:ext cx="59843"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Rectangle 27">
                <a:extLst>
                  <a:ext uri="{FF2B5EF4-FFF2-40B4-BE49-F238E27FC236}">
                    <a16:creationId xmlns:a16="http://schemas.microsoft.com/office/drawing/2014/main" id="{FD3CEF0B-9316-CAAF-B811-7977EA0FDC71}"/>
                  </a:ext>
                </a:extLst>
              </p:cNvPr>
              <p:cNvSpPr>
                <a:spLocks noChangeArrowheads="1"/>
              </p:cNvSpPr>
              <p:nvPr userDrawn="1"/>
            </p:nvSpPr>
            <p:spPr bwMode="auto">
              <a:xfrm>
                <a:off x="6886639" y="1260831"/>
                <a:ext cx="59399"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4" name="Rectangle 28">
              <a:extLst>
                <a:ext uri="{FF2B5EF4-FFF2-40B4-BE49-F238E27FC236}">
                  <a16:creationId xmlns:a16="http://schemas.microsoft.com/office/drawing/2014/main" id="{C44969F7-1BF0-A4FA-F4EB-8003272D98C6}"/>
                </a:ext>
              </a:extLst>
            </p:cNvPr>
            <p:cNvSpPr>
              <a:spLocks noChangeArrowheads="1"/>
            </p:cNvSpPr>
            <p:nvPr userDrawn="1"/>
          </p:nvSpPr>
          <p:spPr bwMode="auto">
            <a:xfrm>
              <a:off x="11556230" y="767096"/>
              <a:ext cx="634181" cy="189869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5" name="Group 64">
              <a:extLst>
                <a:ext uri="{FF2B5EF4-FFF2-40B4-BE49-F238E27FC236}">
                  <a16:creationId xmlns:a16="http://schemas.microsoft.com/office/drawing/2014/main" id="{5AB97A83-AA92-5D2A-D89F-2B85130F597F}"/>
                </a:ext>
              </a:extLst>
            </p:cNvPr>
            <p:cNvGrpSpPr/>
            <p:nvPr userDrawn="1"/>
          </p:nvGrpSpPr>
          <p:grpSpPr>
            <a:xfrm>
              <a:off x="11701122" y="936748"/>
              <a:ext cx="321494" cy="1552800"/>
              <a:chOff x="7313961" y="501936"/>
              <a:chExt cx="323594" cy="1566108"/>
            </a:xfrm>
          </p:grpSpPr>
          <p:sp>
            <p:nvSpPr>
              <p:cNvPr id="66" name="Freeform 29">
                <a:extLst>
                  <a:ext uri="{FF2B5EF4-FFF2-40B4-BE49-F238E27FC236}">
                    <a16:creationId xmlns:a16="http://schemas.microsoft.com/office/drawing/2014/main" id="{93913DCE-D7C5-993F-1CBD-D671F4E01A37}"/>
                  </a:ext>
                </a:extLst>
              </p:cNvPr>
              <p:cNvSpPr>
                <a:spLocks/>
              </p:cNvSpPr>
              <p:nvPr userDrawn="1"/>
            </p:nvSpPr>
            <p:spPr bwMode="auto">
              <a:xfrm>
                <a:off x="7383556" y="1311808"/>
                <a:ext cx="249567" cy="247350"/>
              </a:xfrm>
              <a:custGeom>
                <a:avLst/>
                <a:gdLst>
                  <a:gd name="T0" fmla="*/ 0 w 574"/>
                  <a:gd name="T1" fmla="*/ 229 h 569"/>
                  <a:gd name="T2" fmla="*/ 90 w 574"/>
                  <a:gd name="T3" fmla="*/ 413 h 569"/>
                  <a:gd name="T4" fmla="*/ 90 w 574"/>
                  <a:gd name="T5" fmla="*/ 413 h 569"/>
                  <a:gd name="T6" fmla="*/ 90 w 574"/>
                  <a:gd name="T7" fmla="*/ 413 h 569"/>
                  <a:gd name="T8" fmla="*/ 9 w 574"/>
                  <a:gd name="T9" fmla="*/ 413 h 569"/>
                  <a:gd name="T10" fmla="*/ 9 w 574"/>
                  <a:gd name="T11" fmla="*/ 569 h 569"/>
                  <a:gd name="T12" fmla="*/ 574 w 574"/>
                  <a:gd name="T13" fmla="*/ 569 h 569"/>
                  <a:gd name="T14" fmla="*/ 574 w 574"/>
                  <a:gd name="T15" fmla="*/ 413 h 569"/>
                  <a:gd name="T16" fmla="*/ 253 w 574"/>
                  <a:gd name="T17" fmla="*/ 413 h 569"/>
                  <a:gd name="T18" fmla="*/ 133 w 574"/>
                  <a:gd name="T19" fmla="*/ 286 h 569"/>
                  <a:gd name="T20" fmla="*/ 253 w 574"/>
                  <a:gd name="T21" fmla="*/ 155 h 569"/>
                  <a:gd name="T22" fmla="*/ 574 w 574"/>
                  <a:gd name="T23" fmla="*/ 155 h 569"/>
                  <a:gd name="T24" fmla="*/ 574 w 574"/>
                  <a:gd name="T25" fmla="*/ 0 h 569"/>
                  <a:gd name="T26" fmla="*/ 224 w 574"/>
                  <a:gd name="T27" fmla="*/ 0 h 569"/>
                  <a:gd name="T28" fmla="*/ 0 w 574"/>
                  <a:gd name="T29" fmla="*/ 22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4" h="569">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0">
                <a:extLst>
                  <a:ext uri="{FF2B5EF4-FFF2-40B4-BE49-F238E27FC236}">
                    <a16:creationId xmlns:a16="http://schemas.microsoft.com/office/drawing/2014/main" id="{6D0A5711-84F8-6852-FC23-C9222B8AB056}"/>
                  </a:ext>
                </a:extLst>
              </p:cNvPr>
              <p:cNvSpPr>
                <a:spLocks/>
              </p:cNvSpPr>
              <p:nvPr userDrawn="1"/>
            </p:nvSpPr>
            <p:spPr bwMode="auto">
              <a:xfrm>
                <a:off x="7387546" y="755049"/>
                <a:ext cx="245577" cy="276163"/>
              </a:xfrm>
              <a:custGeom>
                <a:avLst/>
                <a:gdLst>
                  <a:gd name="T0" fmla="*/ 0 w 554"/>
                  <a:gd name="T1" fmla="*/ 174 h 623"/>
                  <a:gd name="T2" fmla="*/ 377 w 554"/>
                  <a:gd name="T3" fmla="*/ 311 h 623"/>
                  <a:gd name="T4" fmla="*/ 0 w 554"/>
                  <a:gd name="T5" fmla="*/ 450 h 623"/>
                  <a:gd name="T6" fmla="*/ 0 w 554"/>
                  <a:gd name="T7" fmla="*/ 623 h 623"/>
                  <a:gd name="T8" fmla="*/ 554 w 554"/>
                  <a:gd name="T9" fmla="*/ 395 h 623"/>
                  <a:gd name="T10" fmla="*/ 554 w 554"/>
                  <a:gd name="T11" fmla="*/ 228 h 623"/>
                  <a:gd name="T12" fmla="*/ 0 w 554"/>
                  <a:gd name="T13" fmla="*/ 0 h 623"/>
                  <a:gd name="T14" fmla="*/ 0 w 554"/>
                  <a:gd name="T15" fmla="*/ 174 h 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4" h="623">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31">
                <a:extLst>
                  <a:ext uri="{FF2B5EF4-FFF2-40B4-BE49-F238E27FC236}">
                    <a16:creationId xmlns:a16="http://schemas.microsoft.com/office/drawing/2014/main" id="{185085EF-D1B3-20ED-1267-AC7FAB1644FE}"/>
                  </a:ext>
                </a:extLst>
              </p:cNvPr>
              <p:cNvSpPr>
                <a:spLocks noEditPoints="1"/>
              </p:cNvSpPr>
              <p:nvPr userDrawn="1"/>
            </p:nvSpPr>
            <p:spPr bwMode="auto">
              <a:xfrm>
                <a:off x="7383556" y="1583096"/>
                <a:ext cx="253999" cy="256659"/>
              </a:xfrm>
              <a:custGeom>
                <a:avLst/>
                <a:gdLst>
                  <a:gd name="T0" fmla="*/ 401 w 584"/>
                  <a:gd name="T1" fmla="*/ 110 h 590"/>
                  <a:gd name="T2" fmla="*/ 460 w 584"/>
                  <a:gd name="T3" fmla="*/ 272 h 590"/>
                  <a:gd name="T4" fmla="*/ 415 w 584"/>
                  <a:gd name="T5" fmla="*/ 397 h 590"/>
                  <a:gd name="T6" fmla="*/ 250 w 584"/>
                  <a:gd name="T7" fmla="*/ 0 h 590"/>
                  <a:gd name="T8" fmla="*/ 92 w 584"/>
                  <a:gd name="T9" fmla="*/ 68 h 590"/>
                  <a:gd name="T10" fmla="*/ 0 w 584"/>
                  <a:gd name="T11" fmla="*/ 291 h 590"/>
                  <a:gd name="T12" fmla="*/ 292 w 584"/>
                  <a:gd name="T13" fmla="*/ 590 h 590"/>
                  <a:gd name="T14" fmla="*/ 584 w 584"/>
                  <a:gd name="T15" fmla="*/ 274 h 590"/>
                  <a:gd name="T16" fmla="*/ 476 w 584"/>
                  <a:gd name="T17" fmla="*/ 12 h 590"/>
                  <a:gd name="T18" fmla="*/ 401 w 584"/>
                  <a:gd name="T19" fmla="*/ 110 h 590"/>
                  <a:gd name="T20" fmla="*/ 179 w 584"/>
                  <a:gd name="T21" fmla="*/ 408 h 590"/>
                  <a:gd name="T22" fmla="*/ 123 w 584"/>
                  <a:gd name="T23" fmla="*/ 288 h 590"/>
                  <a:gd name="T24" fmla="*/ 202 w 584"/>
                  <a:gd name="T25" fmla="*/ 168 h 590"/>
                  <a:gd name="T26" fmla="*/ 315 w 584"/>
                  <a:gd name="T27" fmla="*/ 439 h 590"/>
                  <a:gd name="T28" fmla="*/ 179 w 584"/>
                  <a:gd name="T29" fmla="*/ 408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4" h="590">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2">
                <a:extLst>
                  <a:ext uri="{FF2B5EF4-FFF2-40B4-BE49-F238E27FC236}">
                    <a16:creationId xmlns:a16="http://schemas.microsoft.com/office/drawing/2014/main" id="{8434C32D-C325-1F32-5E19-6C9FC933AC3B}"/>
                  </a:ext>
                </a:extLst>
              </p:cNvPr>
              <p:cNvSpPr>
                <a:spLocks/>
              </p:cNvSpPr>
              <p:nvPr userDrawn="1"/>
            </p:nvSpPr>
            <p:spPr bwMode="auto">
              <a:xfrm>
                <a:off x="7313961" y="1846404"/>
                <a:ext cx="319161" cy="221640"/>
              </a:xfrm>
              <a:custGeom>
                <a:avLst/>
                <a:gdLst>
                  <a:gd name="T0" fmla="*/ 580 w 720"/>
                  <a:gd name="T1" fmla="*/ 0 h 500"/>
                  <a:gd name="T2" fmla="*/ 580 w 720"/>
                  <a:gd name="T3" fmla="*/ 346 h 500"/>
                  <a:gd name="T4" fmla="*/ 0 w 720"/>
                  <a:gd name="T5" fmla="*/ 346 h 500"/>
                  <a:gd name="T6" fmla="*/ 0 w 720"/>
                  <a:gd name="T7" fmla="*/ 500 h 500"/>
                  <a:gd name="T8" fmla="*/ 720 w 720"/>
                  <a:gd name="T9" fmla="*/ 500 h 500"/>
                  <a:gd name="T10" fmla="*/ 720 w 720"/>
                  <a:gd name="T11" fmla="*/ 0 h 500"/>
                  <a:gd name="T12" fmla="*/ 580 w 720"/>
                  <a:gd name="T13" fmla="*/ 0 h 500"/>
                </a:gdLst>
                <a:ahLst/>
                <a:cxnLst>
                  <a:cxn ang="0">
                    <a:pos x="T0" y="T1"/>
                  </a:cxn>
                  <a:cxn ang="0">
                    <a:pos x="T2" y="T3"/>
                  </a:cxn>
                  <a:cxn ang="0">
                    <a:pos x="T4" y="T5"/>
                  </a:cxn>
                  <a:cxn ang="0">
                    <a:pos x="T6" y="T7"/>
                  </a:cxn>
                  <a:cxn ang="0">
                    <a:pos x="T8" y="T9"/>
                  </a:cxn>
                  <a:cxn ang="0">
                    <a:pos x="T10" y="T11"/>
                  </a:cxn>
                  <a:cxn ang="0">
                    <a:pos x="T12" y="T13"/>
                  </a:cxn>
                </a:cxnLst>
                <a:rect l="0" t="0" r="r" b="b"/>
                <a:pathLst>
                  <a:path w="720" h="500">
                    <a:moveTo>
                      <a:pt x="580" y="0"/>
                    </a:moveTo>
                    <a:lnTo>
                      <a:pt x="580" y="346"/>
                    </a:lnTo>
                    <a:lnTo>
                      <a:pt x="0" y="346"/>
                    </a:lnTo>
                    <a:lnTo>
                      <a:pt x="0" y="500"/>
                    </a:lnTo>
                    <a:lnTo>
                      <a:pt x="720" y="500"/>
                    </a:lnTo>
                    <a:lnTo>
                      <a:pt x="720" y="0"/>
                    </a:lnTo>
                    <a:lnTo>
                      <a:pt x="58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33">
                <a:extLst>
                  <a:ext uri="{FF2B5EF4-FFF2-40B4-BE49-F238E27FC236}">
                    <a16:creationId xmlns:a16="http://schemas.microsoft.com/office/drawing/2014/main" id="{A281B950-B57F-4814-65C4-87F843CA0E1C}"/>
                  </a:ext>
                </a:extLst>
              </p:cNvPr>
              <p:cNvSpPr>
                <a:spLocks noEditPoints="1"/>
              </p:cNvSpPr>
              <p:nvPr userDrawn="1"/>
            </p:nvSpPr>
            <p:spPr bwMode="auto">
              <a:xfrm>
                <a:off x="7383556" y="501936"/>
                <a:ext cx="253999" cy="263752"/>
              </a:xfrm>
              <a:custGeom>
                <a:avLst/>
                <a:gdLst>
                  <a:gd name="T0" fmla="*/ 584 w 584"/>
                  <a:gd name="T1" fmla="*/ 304 h 607"/>
                  <a:gd name="T2" fmla="*/ 292 w 584"/>
                  <a:gd name="T3" fmla="*/ 607 h 607"/>
                  <a:gd name="T4" fmla="*/ 0 w 584"/>
                  <a:gd name="T5" fmla="*/ 302 h 607"/>
                  <a:gd name="T6" fmla="*/ 292 w 584"/>
                  <a:gd name="T7" fmla="*/ 0 h 607"/>
                  <a:gd name="T8" fmla="*/ 584 w 584"/>
                  <a:gd name="T9" fmla="*/ 304 h 607"/>
                  <a:gd name="T10" fmla="*/ 133 w 584"/>
                  <a:gd name="T11" fmla="*/ 304 h 607"/>
                  <a:gd name="T12" fmla="*/ 292 w 584"/>
                  <a:gd name="T13" fmla="*/ 454 h 607"/>
                  <a:gd name="T14" fmla="*/ 451 w 584"/>
                  <a:gd name="T15" fmla="*/ 302 h 607"/>
                  <a:gd name="T16" fmla="*/ 292 w 584"/>
                  <a:gd name="T17" fmla="*/ 153 h 607"/>
                  <a:gd name="T18" fmla="*/ 133 w 584"/>
                  <a:gd name="T19" fmla="*/ 304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34">
                <a:extLst>
                  <a:ext uri="{FF2B5EF4-FFF2-40B4-BE49-F238E27FC236}">
                    <a16:creationId xmlns:a16="http://schemas.microsoft.com/office/drawing/2014/main" id="{EE465ED6-53DE-A385-42CB-0B5A75477346}"/>
                  </a:ext>
                </a:extLst>
              </p:cNvPr>
              <p:cNvSpPr>
                <a:spLocks noEditPoints="1"/>
              </p:cNvSpPr>
              <p:nvPr userDrawn="1"/>
            </p:nvSpPr>
            <p:spPr bwMode="auto">
              <a:xfrm>
                <a:off x="7383556" y="1021017"/>
                <a:ext cx="253999" cy="263752"/>
              </a:xfrm>
              <a:custGeom>
                <a:avLst/>
                <a:gdLst>
                  <a:gd name="T0" fmla="*/ 584 w 584"/>
                  <a:gd name="T1" fmla="*/ 305 h 607"/>
                  <a:gd name="T2" fmla="*/ 292 w 584"/>
                  <a:gd name="T3" fmla="*/ 607 h 607"/>
                  <a:gd name="T4" fmla="*/ 0 w 584"/>
                  <a:gd name="T5" fmla="*/ 303 h 607"/>
                  <a:gd name="T6" fmla="*/ 292 w 584"/>
                  <a:gd name="T7" fmla="*/ 0 h 607"/>
                  <a:gd name="T8" fmla="*/ 584 w 584"/>
                  <a:gd name="T9" fmla="*/ 305 h 607"/>
                  <a:gd name="T10" fmla="*/ 133 w 584"/>
                  <a:gd name="T11" fmla="*/ 305 h 607"/>
                  <a:gd name="T12" fmla="*/ 292 w 584"/>
                  <a:gd name="T13" fmla="*/ 454 h 607"/>
                  <a:gd name="T14" fmla="*/ 451 w 584"/>
                  <a:gd name="T15" fmla="*/ 303 h 607"/>
                  <a:gd name="T16" fmla="*/ 292 w 584"/>
                  <a:gd name="T17" fmla="*/ 153 h 607"/>
                  <a:gd name="T18" fmla="*/ 133 w 584"/>
                  <a:gd name="T19" fmla="*/ 305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42" name="Group 41">
            <a:extLst>
              <a:ext uri="{FF2B5EF4-FFF2-40B4-BE49-F238E27FC236}">
                <a16:creationId xmlns:a16="http://schemas.microsoft.com/office/drawing/2014/main" id="{320E6808-E70B-FA4B-99F6-1C02BBC16598}"/>
              </a:ext>
            </a:extLst>
          </p:cNvPr>
          <p:cNvGrpSpPr/>
          <p:nvPr userDrawn="1"/>
        </p:nvGrpSpPr>
        <p:grpSpPr>
          <a:xfrm>
            <a:off x="1538947" y="3561907"/>
            <a:ext cx="7851377" cy="1769127"/>
            <a:chOff x="541049" y="2649538"/>
            <a:chExt cx="9285724" cy="2092325"/>
          </a:xfrm>
          <a:solidFill>
            <a:schemeClr val="bg1"/>
          </a:solidFill>
        </p:grpSpPr>
        <p:sp>
          <p:nvSpPr>
            <p:cNvPr id="43" name="Freeform 5">
              <a:extLst>
                <a:ext uri="{FF2B5EF4-FFF2-40B4-BE49-F238E27FC236}">
                  <a16:creationId xmlns:a16="http://schemas.microsoft.com/office/drawing/2014/main" id="{4C297CEF-136F-B1B7-09B1-55E4D7563FDB}"/>
                </a:ext>
              </a:extLst>
            </p:cNvPr>
            <p:cNvSpPr>
              <a:spLocks/>
            </p:cNvSpPr>
            <p:nvPr userDrawn="1"/>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6">
              <a:extLst>
                <a:ext uri="{FF2B5EF4-FFF2-40B4-BE49-F238E27FC236}">
                  <a16:creationId xmlns:a16="http://schemas.microsoft.com/office/drawing/2014/main" id="{622BAF6B-1742-15FD-B0EB-40B8C3DC1168}"/>
                </a:ext>
              </a:extLst>
            </p:cNvPr>
            <p:cNvSpPr>
              <a:spLocks/>
            </p:cNvSpPr>
            <p:nvPr userDrawn="1"/>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7">
              <a:extLst>
                <a:ext uri="{FF2B5EF4-FFF2-40B4-BE49-F238E27FC236}">
                  <a16:creationId xmlns:a16="http://schemas.microsoft.com/office/drawing/2014/main" id="{788B3367-A4C9-CCD9-A688-1D2826A4B010}"/>
                </a:ext>
              </a:extLst>
            </p:cNvPr>
            <p:cNvSpPr>
              <a:spLocks noEditPoints="1"/>
            </p:cNvSpPr>
            <p:nvPr userDrawn="1"/>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8">
              <a:extLst>
                <a:ext uri="{FF2B5EF4-FFF2-40B4-BE49-F238E27FC236}">
                  <a16:creationId xmlns:a16="http://schemas.microsoft.com/office/drawing/2014/main" id="{E75C15B3-8177-7E6B-C4A7-1B9D3FB9D027}"/>
                </a:ext>
              </a:extLst>
            </p:cNvPr>
            <p:cNvSpPr>
              <a:spLocks/>
            </p:cNvSpPr>
            <p:nvPr userDrawn="1"/>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9">
              <a:extLst>
                <a:ext uri="{FF2B5EF4-FFF2-40B4-BE49-F238E27FC236}">
                  <a16:creationId xmlns:a16="http://schemas.microsoft.com/office/drawing/2014/main" id="{AA27F0F6-EBAD-77B3-0964-617F5FC5A0BD}"/>
                </a:ext>
              </a:extLst>
            </p:cNvPr>
            <p:cNvSpPr>
              <a:spLocks/>
            </p:cNvSpPr>
            <p:nvPr userDrawn="1"/>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10">
              <a:extLst>
                <a:ext uri="{FF2B5EF4-FFF2-40B4-BE49-F238E27FC236}">
                  <a16:creationId xmlns:a16="http://schemas.microsoft.com/office/drawing/2014/main" id="{0D449E32-BCCB-5FA7-37E4-30FF7569B638}"/>
                </a:ext>
              </a:extLst>
            </p:cNvPr>
            <p:cNvSpPr>
              <a:spLocks/>
            </p:cNvSpPr>
            <p:nvPr userDrawn="1"/>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Oval 11">
              <a:extLst>
                <a:ext uri="{FF2B5EF4-FFF2-40B4-BE49-F238E27FC236}">
                  <a16:creationId xmlns:a16="http://schemas.microsoft.com/office/drawing/2014/main" id="{DF4FD3AA-2A1C-04CA-7759-A7926327B4AA}"/>
                </a:ext>
              </a:extLst>
            </p:cNvPr>
            <p:cNvSpPr>
              <a:spLocks noChangeArrowheads="1"/>
            </p:cNvSpPr>
            <p:nvPr userDrawn="1"/>
          </p:nvSpPr>
          <p:spPr bwMode="auto">
            <a:xfrm>
              <a:off x="9282260" y="4167188"/>
              <a:ext cx="544513" cy="546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281821413"/>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1669529" y="6400800"/>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pic>
        <p:nvPicPr>
          <p:cNvPr id="2" name="Picture 1" descr="Shape&#10;&#10;Description automatically generated with medium confidence">
            <a:extLst>
              <a:ext uri="{FF2B5EF4-FFF2-40B4-BE49-F238E27FC236}">
                <a16:creationId xmlns:a16="http://schemas.microsoft.com/office/drawing/2014/main" id="{E5243B55-6DDF-F05D-1C55-35F083D4A5C4}"/>
              </a:ext>
            </a:extLst>
          </p:cNvPr>
          <p:cNvPicPr>
            <a:picLocks noChangeAspect="1"/>
          </p:cNvPicPr>
          <p:nvPr userDrawn="1"/>
        </p:nvPicPr>
        <p:blipFill>
          <a:blip r:embed="rId31"/>
          <a:stretch>
            <a:fillRect/>
          </a:stretch>
        </p:blipFill>
        <p:spPr>
          <a:xfrm>
            <a:off x="218" y="0"/>
            <a:ext cx="12188389" cy="6858000"/>
          </a:xfrm>
          <a:prstGeom prst="rect">
            <a:avLst/>
          </a:prstGeom>
        </p:spPr>
      </p:pic>
    </p:spTree>
    <p:extLst>
      <p:ext uri="{BB962C8B-B14F-4D97-AF65-F5344CB8AC3E}">
        <p14:creationId xmlns:p14="http://schemas.microsoft.com/office/powerpoint/2010/main" val="3633027268"/>
      </p:ext>
    </p:extLst>
  </p:cSld>
  <p:clrMap bg1="lt1" tx1="dk1" bg2="lt2" tx2="dk2" accent1="accent1" accent2="accent2" accent3="accent3" accent4="accent4" accent5="accent5" accent6="accent6" hlink="hlink" folHlink="folHlink"/>
  <p:sldLayoutIdLst>
    <p:sldLayoutId id="2147483753" r:id="rId1"/>
    <p:sldLayoutId id="2147483750" r:id="rId2"/>
    <p:sldLayoutId id="2147483670" r:id="rId3"/>
    <p:sldLayoutId id="2147483752" r:id="rId4"/>
    <p:sldLayoutId id="2147483654" r:id="rId5"/>
    <p:sldLayoutId id="2147483725" r:id="rId6"/>
    <p:sldLayoutId id="2147483738" r:id="rId7"/>
    <p:sldLayoutId id="2147483739" r:id="rId8"/>
    <p:sldLayoutId id="2147483661" r:id="rId9"/>
    <p:sldLayoutId id="2147483726" r:id="rId10"/>
    <p:sldLayoutId id="2147483673" r:id="rId11"/>
    <p:sldLayoutId id="2147483727" r:id="rId12"/>
    <p:sldLayoutId id="2147483662" r:id="rId13"/>
    <p:sldLayoutId id="2147483728" r:id="rId14"/>
    <p:sldLayoutId id="2147483736" r:id="rId15"/>
    <p:sldLayoutId id="2147483737" r:id="rId16"/>
    <p:sldLayoutId id="2147483691" r:id="rId17"/>
    <p:sldLayoutId id="2147483729" r:id="rId18"/>
    <p:sldLayoutId id="2147483692" r:id="rId19"/>
    <p:sldLayoutId id="2147483730" r:id="rId20"/>
    <p:sldLayoutId id="2147483749" r:id="rId21"/>
    <p:sldLayoutId id="2147483722" r:id="rId22"/>
    <p:sldLayoutId id="2147483732" r:id="rId23"/>
    <p:sldLayoutId id="2147483657" r:id="rId24"/>
    <p:sldLayoutId id="2147483733" r:id="rId25"/>
    <p:sldLayoutId id="2147483659" r:id="rId26"/>
    <p:sldLayoutId id="2147483734" r:id="rId27"/>
    <p:sldLayoutId id="2147483747" r:id="rId28"/>
    <p:sldLayoutId id="2147483748" r:id="rId29"/>
  </p:sldLayoutIdLst>
  <p:transition spd="med"/>
  <p:hf hdr="0" ftr="0" dt="0"/>
  <p:txStyles>
    <p:titleStyle>
      <a:lvl1pPr algn="ctr" defTabSz="1218987" rtl="0" eaLnBrk="1" latinLnBrk="0" hangingPunct="1">
        <a:spcBef>
          <a:spcPct val="0"/>
        </a:spcBef>
        <a:buNone/>
        <a:defRPr sz="4300" kern="1200" cap="all" baseline="0">
          <a:solidFill>
            <a:schemeClr val="tx1"/>
          </a:solidFill>
          <a:latin typeface="Arial" pitchFamily="34" charset="0"/>
          <a:ea typeface="+mj-ea"/>
          <a:cs typeface="Arial" pitchFamily="34" charset="0"/>
        </a:defRPr>
      </a:lvl1pPr>
    </p:titleStyle>
    <p:bodyStyle>
      <a:lvl1pPr marL="457120" indent="-457120" algn="l" defTabSz="1218987" rtl="0" eaLnBrk="1" latinLnBrk="0" hangingPunct="1">
        <a:spcBef>
          <a:spcPct val="20000"/>
        </a:spcBef>
        <a:buClrTx/>
        <a:buFont typeface="Arial" panose="020B0604020202020204" pitchFamily="34" charset="0"/>
        <a:buChar char="•"/>
        <a:defRPr sz="4300" kern="1200">
          <a:solidFill>
            <a:schemeClr val="tx1"/>
          </a:solidFill>
          <a:latin typeface="Arial" pitchFamily="34" charset="0"/>
          <a:ea typeface="+mn-ea"/>
          <a:cs typeface="Arial" pitchFamily="34" charset="0"/>
        </a:defRPr>
      </a:lvl1pPr>
      <a:lvl2pPr marL="990427" indent="-380933" algn="l" defTabSz="1218987" rtl="0" eaLnBrk="1" latinLnBrk="0" hangingPunct="1">
        <a:spcBef>
          <a:spcPct val="20000"/>
        </a:spcBef>
        <a:buClrTx/>
        <a:buFont typeface="Arial" panose="020B0604020202020204" pitchFamily="34" charset="0"/>
        <a:buChar char="–"/>
        <a:defRPr sz="3700" kern="1200">
          <a:solidFill>
            <a:schemeClr val="tx1"/>
          </a:solidFill>
          <a:latin typeface="Arial" pitchFamily="34" charset="0"/>
          <a:ea typeface="+mn-ea"/>
          <a:cs typeface="Arial" pitchFamily="34" charset="0"/>
        </a:defRPr>
      </a:lvl2pPr>
      <a:lvl3pPr marL="1523733" indent="-304747" algn="l" defTabSz="1218987" rtl="0" eaLnBrk="1" latinLnBrk="0" hangingPunct="1">
        <a:spcBef>
          <a:spcPct val="20000"/>
        </a:spcBef>
        <a:buClrTx/>
        <a:buFont typeface="Arial" panose="020B0604020202020204" pitchFamily="34" charset="0"/>
        <a:buChar char="-"/>
        <a:defRPr sz="3200" kern="1200">
          <a:solidFill>
            <a:schemeClr val="tx1"/>
          </a:solidFill>
          <a:latin typeface="Arial" pitchFamily="34" charset="0"/>
          <a:ea typeface="+mn-ea"/>
          <a:cs typeface="Arial" pitchFamily="34" charset="0"/>
        </a:defRPr>
      </a:lvl3pPr>
      <a:lvl4pPr marL="2133227" indent="-304747" algn="l" defTabSz="1218987" rtl="0" eaLnBrk="1" latinLnBrk="0" hangingPunct="1">
        <a:spcBef>
          <a:spcPct val="20000"/>
        </a:spcBef>
        <a:buClrTx/>
        <a:buFont typeface="Arial" panose="020B0604020202020204" pitchFamily="34" charset="0"/>
        <a:buChar char="-"/>
        <a:defRPr sz="2700" kern="1200">
          <a:solidFill>
            <a:schemeClr val="tx1"/>
          </a:solidFill>
          <a:latin typeface="Arial" pitchFamily="34" charset="0"/>
          <a:ea typeface="+mn-ea"/>
          <a:cs typeface="Arial" pitchFamily="34" charset="0"/>
        </a:defRPr>
      </a:lvl4pPr>
      <a:lvl5pPr marL="2742720" indent="-304747" algn="l" defTabSz="1218987" rtl="0" eaLnBrk="1" latinLnBrk="0" hangingPunct="1">
        <a:spcBef>
          <a:spcPct val="20000"/>
        </a:spcBef>
        <a:buClrTx/>
        <a:buFont typeface="Arial" panose="020B0604020202020204" pitchFamily="34" charset="0"/>
        <a:buChar char="-"/>
        <a:defRPr sz="2700" kern="1200">
          <a:solidFill>
            <a:schemeClr val="tx1"/>
          </a:solidFill>
          <a:latin typeface="Arial" pitchFamily="34" charset="0"/>
          <a:ea typeface="+mn-ea"/>
          <a:cs typeface="Arial" pitchFamily="34" charset="0"/>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0" userDrawn="1">
          <p15:clr>
            <a:srgbClr val="F26B43"/>
          </p15:clr>
        </p15:guide>
        <p15:guide id="2" pos="6719" userDrawn="1">
          <p15:clr>
            <a:srgbClr val="F26B43"/>
          </p15:clr>
        </p15:guide>
        <p15:guide id="3" orient="horz" pos="2880" userDrawn="1">
          <p15:clr>
            <a:srgbClr val="F26B43"/>
          </p15:clr>
        </p15:guide>
        <p15:guide id="4" pos="3839" userDrawn="1">
          <p15:clr>
            <a:srgbClr val="F26B43"/>
          </p15:clr>
        </p15:guide>
        <p15:guide id="5" pos="5279" userDrawn="1">
          <p15:clr>
            <a:srgbClr val="F26B43"/>
          </p15:clr>
        </p15:guide>
        <p15:guide id="6" pos="2399" userDrawn="1">
          <p15:clr>
            <a:srgbClr val="F26B43"/>
          </p15:clr>
        </p15:guide>
        <p15:guide id="7" pos="959" userDrawn="1">
          <p15:clr>
            <a:srgbClr val="F26B43"/>
          </p15:clr>
        </p15:guide>
        <p15:guide id="8" pos="7199" userDrawn="1">
          <p15:clr>
            <a:srgbClr val="FDE53C"/>
          </p15:clr>
        </p15:guide>
        <p15:guide id="9" pos="6239" userDrawn="1">
          <p15:clr>
            <a:srgbClr val="FDE53C"/>
          </p15:clr>
        </p15:guide>
        <p15:guide id="10" pos="5759" userDrawn="1">
          <p15:clr>
            <a:srgbClr val="FDE53C"/>
          </p15:clr>
        </p15:guide>
        <p15:guide id="11" pos="4319" userDrawn="1">
          <p15:clr>
            <a:srgbClr val="FDE53C"/>
          </p15:clr>
        </p15:guide>
        <p15:guide id="12" pos="4799" userDrawn="1">
          <p15:clr>
            <a:srgbClr val="FDE53C"/>
          </p15:clr>
        </p15:guide>
        <p15:guide id="13" pos="3335" userDrawn="1">
          <p15:clr>
            <a:srgbClr val="FDE53C"/>
          </p15:clr>
        </p15:guide>
        <p15:guide id="14" pos="2879" userDrawn="1">
          <p15:clr>
            <a:srgbClr val="FDE53C"/>
          </p15:clr>
        </p15:guide>
        <p15:guide id="15" pos="1919" userDrawn="1">
          <p15:clr>
            <a:srgbClr val="FDE53C"/>
          </p15:clr>
        </p15:guide>
        <p15:guide id="16" pos="1439" userDrawn="1">
          <p15:clr>
            <a:srgbClr val="FDE53C"/>
          </p15:clr>
        </p15:guide>
        <p15:guide id="17" pos="479" userDrawn="1">
          <p15:clr>
            <a:srgbClr val="FDE53C"/>
          </p15:clr>
        </p15:guide>
        <p15:guide id="18" orient="horz" pos="960" userDrawn="1">
          <p15:clr>
            <a:srgbClr val="FDE53C"/>
          </p15:clr>
        </p15:guide>
        <p15:guide id="19" orient="horz" pos="480" userDrawn="1">
          <p15:clr>
            <a:srgbClr val="FDE53C"/>
          </p15:clr>
        </p15:guide>
        <p15:guide id="20" orient="horz" pos="1920" userDrawn="1">
          <p15:clr>
            <a:srgbClr val="FDE53C"/>
          </p15:clr>
        </p15:guide>
        <p15:guide id="21" orient="horz" pos="2400" userDrawn="1">
          <p15:clr>
            <a:srgbClr val="FDE53C"/>
          </p15:clr>
        </p15:guide>
        <p15:guide id="22" orient="horz" pos="3360" userDrawn="1">
          <p15:clr>
            <a:srgbClr val="FDE53C"/>
          </p15:clr>
        </p15:guide>
        <p15:guide id="23" orient="horz" pos="3840" userDrawn="1">
          <p15:clr>
            <a:srgbClr val="FDE53C"/>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1481328"/>
            <a:ext cx="9811385" cy="1691640"/>
          </a:xfrm>
        </p:spPr>
        <p:txBody>
          <a:bodyPr wrap="square" anchor="t"/>
          <a:lstStyle/>
          <a:p>
            <a:r>
              <a:rPr sz="3000" b="1">
                <a:solidFill>
                  <a:srgbClr val="FFFFFF"/>
                </a:solidFill>
                <a:latin typeface="Arial"/>
                <a:ea typeface="Meiryo UI"/>
                <a:cs typeface="Meiryo UI"/>
              </a:rPr>
              <a:t>テレメトリからの FCC更新停止（ゲージ凍結）者の判定技術</a:t>
            </a:r>
          </a:p>
        </p:txBody>
      </p:sp>
      <p:sp>
        <p:nvSpPr>
          <p:cNvPr id="3" name="Subtitle 2"/>
          <p:cNvSpPr>
            <a:spLocks noGrp="1"/>
          </p:cNvSpPr>
          <p:nvPr>
            <p:ph type="subTitle" idx="1"/>
          </p:nvPr>
        </p:nvSpPr>
        <p:spPr>
          <a:xfrm>
            <a:off x="731520" y="3127248"/>
            <a:ext cx="9811385" cy="502920"/>
          </a:xfrm>
        </p:spPr>
        <p:txBody>
          <a:bodyPr anchor="t"/>
          <a:lstStyle/>
          <a:p>
            <a:r>
              <a:rPr sz="1500" b="0">
                <a:solidFill>
                  <a:srgbClr val="E8E0E4"/>
                </a:solidFill>
                <a:latin typeface="Arial"/>
                <a:ea typeface="Meiryo UI"/>
                <a:cs typeface="Meiryo UI"/>
              </a:rPr>
              <a:t>— と、その実現過程で生まれた特許候補アイデア —  |  社内 patent review 用 v5 (Lenovo Restricted)  |  2026-07-06</a:t>
            </a:r>
          </a:p>
        </p:txBody>
      </p:sp>
      <p:sp>
        <p:nvSpPr>
          <p:cNvPr id="4" name="TextBox 3"/>
          <p:cNvSpPr txBox="1"/>
          <p:nvPr/>
        </p:nvSpPr>
        <p:spPr>
          <a:xfrm>
            <a:off x="731520" y="3794760"/>
            <a:ext cx="10725785" cy="2011680"/>
          </a:xfrm>
          <a:prstGeom prst="rect">
            <a:avLst/>
          </a:prstGeom>
          <a:noFill/>
        </p:spPr>
        <p:txBody>
          <a:bodyPr wrap="square">
            <a:spAutoFit/>
          </a:bodyPr>
          <a:lstStyle/>
          <a:p>
            <a:pPr>
              <a:spcAft>
                <a:spcPts val="400"/>
              </a:spcAft>
            </a:pPr>
            <a:r>
              <a:rPr sz="1350" b="0">
                <a:solidFill>
                  <a:srgbClr val="FFFFFF"/>
                </a:solidFill>
                <a:latin typeface="Arial"/>
                <a:ea typeface="Meiryo UI"/>
                <a:cs typeface="Meiryo UI"/>
              </a:rPr>
              <a:t>•  本題: ノートPCバッテリのテレメトリ(RSOC/FCC/サイクル/時刻)だけで『満充電容量(FCC)を再学習しなくなった個体』を判定する</a:t>
            </a:r>
          </a:p>
          <a:p>
            <a:pPr>
              <a:spcAft>
                <a:spcPts val="400"/>
              </a:spcAft>
            </a:pPr>
            <a:r>
              <a:rPr sz="1350" b="0">
                <a:solidFill>
                  <a:srgbClr val="FFFFFF"/>
                </a:solidFill>
                <a:latin typeface="Arial"/>
                <a:ea typeface="Meiryo UI"/>
                <a:cs typeface="Meiryo UI"/>
              </a:rPr>
              <a:t>•  母集団: 実バッテリ履歴 752ユーザー / 3,130,394 サンプル / 全期間 24,711 学習機会(エピソード)</a:t>
            </a:r>
          </a:p>
          <a:p>
            <a:pPr>
              <a:spcAft>
                <a:spcPts val="400"/>
              </a:spcAft>
            </a:pPr>
            <a:r>
              <a:rPr sz="1350" b="0">
                <a:solidFill>
                  <a:srgbClr val="FFFFFF"/>
                </a:solidFill>
                <a:latin typeface="Arial"/>
                <a:ea typeface="Meiryo UI"/>
                <a:cs typeface="Meiryo UI"/>
              </a:rPr>
              <a:t>•  特許候補は 3つ(+将来2つ) に集約。どこをどの粒度で特許化するかの最終判断は社内reviewerに委ねる</a:t>
            </a:r>
          </a:p>
          <a:p>
            <a:pPr>
              <a:spcAft>
                <a:spcPts val="400"/>
              </a:spcAft>
            </a:pPr>
            <a:r>
              <a:rPr sz="1350" b="0">
                <a:solidFill>
                  <a:srgbClr val="FFFFFF"/>
                </a:solidFill>
                <a:latin typeface="Arial"/>
                <a:ea typeface="Meiryo UI"/>
                <a:cs typeface="Meiryo UI"/>
              </a:rPr>
              <a:t>•  技術効果は proxy ラベルに依存しない独立指標で検証。法的結論は主張しない</a:t>
            </a:r>
          </a:p>
          <a:p>
            <a:pPr>
              <a:spcAft>
                <a:spcPts val="400"/>
              </a:spcAft>
            </a:pPr>
            <a:r>
              <a:rPr sz="1350" b="0">
                <a:solidFill>
                  <a:srgbClr val="FFFFFF"/>
                </a:solidFill>
                <a:latin typeface="Arial"/>
                <a:ea typeface="Meiryo UI"/>
                <a:cs typeface="Meiryo UI"/>
              </a:rPr>
              <a:t>•  本版(v5)は非エンジニア向けの基礎解説・仕組み図解・正直な開示を追加した拡充版</a:t>
            </a:r>
          </a:p>
        </p:txBody>
      </p:sp>
      <p:sp>
        <p:nvSpPr>
          <p:cNvPr id="5" name="TextBox 4"/>
          <p:cNvSpPr txBox="1"/>
          <p:nvPr/>
        </p:nvSpPr>
        <p:spPr>
          <a:xfrm>
            <a:off x="731520" y="5742432"/>
            <a:ext cx="10725785" cy="292608"/>
          </a:xfrm>
          <a:prstGeom prst="rect">
            <a:avLst/>
          </a:prstGeom>
          <a:noFill/>
        </p:spPr>
        <p:txBody>
          <a:bodyPr wrap="square">
            <a:spAutoFit/>
          </a:bodyPr>
          <a:lstStyle/>
          <a:p>
            <a:r>
              <a:rPr sz="800" b="0">
                <a:solidFill>
                  <a:srgbClr val="9A8F96"/>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6" name="TextBox 5"/>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エグゼクティブサマリ — 1枚で全体像</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Summary</a:t>
            </a:r>
          </a:p>
        </p:txBody>
      </p:sp>
      <p:sp>
        <p:nvSpPr>
          <p:cNvPr id="5" name="TextBox 4"/>
          <p:cNvSpPr txBox="1"/>
          <p:nvPr/>
        </p:nvSpPr>
        <p:spPr>
          <a:xfrm>
            <a:off x="502920" y="932688"/>
            <a:ext cx="11182985" cy="4846320"/>
          </a:xfrm>
          <a:prstGeom prst="rect">
            <a:avLst/>
          </a:prstGeom>
          <a:noFill/>
        </p:spPr>
        <p:txBody>
          <a:bodyPr wrap="square">
            <a:spAutoFit/>
          </a:bodyPr>
          <a:lstStyle/>
          <a:p>
            <a:pPr>
              <a:spcBef>
                <a:spcPts val="600"/>
              </a:spcBef>
            </a:pPr>
            <a:r>
              <a:rPr sz="1350" b="1">
                <a:solidFill>
                  <a:srgbClr val="1F375B"/>
                </a:solidFill>
                <a:latin typeface="Arial"/>
                <a:ea typeface="Meiryo UI"/>
                <a:cs typeface="Meiryo UI"/>
              </a:rPr>
              <a:t>■ 課題</a:t>
            </a:r>
          </a:p>
          <a:p>
            <a:r>
              <a:rPr sz="1200" b="0">
                <a:solidFill>
                  <a:srgbClr val="222222"/>
                </a:solidFill>
                <a:latin typeface="Arial"/>
                <a:ea typeface="Meiryo UI"/>
                <a:cs typeface="Meiryo UI"/>
              </a:rPr>
              <a:t>バッテリ健全性表示(SoH)を駆動する満充電容量(FCC)が長期間更新されない『ゲージ凍結』は、静的検査では『浅い使い方で正常』『要再較正』『FW/HW起因』を判別できない。752台中114台が凍結、うち70台は使用で説明不能。</a:t>
            </a:r>
          </a:p>
          <a:p>
            <a:pPr>
              <a:spcBef>
                <a:spcPts val="600"/>
              </a:spcBef>
            </a:pPr>
            <a:r>
              <a:rPr sz="1350" b="1">
                <a:solidFill>
                  <a:srgbClr val="1F375B"/>
                </a:solidFill>
                <a:latin typeface="Arial"/>
                <a:ea typeface="Meiryo UI"/>
                <a:cs typeface="Meiryo UI"/>
              </a:rPr>
              <a:t>■ 解決</a:t>
            </a:r>
          </a:p>
          <a:p>
            <a:r>
              <a:rPr sz="1200" b="0">
                <a:solidFill>
                  <a:srgbClr val="222222"/>
                </a:solidFill>
                <a:latin typeface="Arial"/>
                <a:ea typeface="Meiryo UI"/>
                <a:cs typeface="Meiryo UI"/>
              </a:rPr>
              <a:t>『凍結を予測』は失敗(AUC≈0.54=ほぼコイン投げ)。代わりに『再学習の機会(深放電→再充電)に対して実際に応答したか』をEND起点72h窓で機械的に監査する方式へ転換。テレメトリのみ・機種非依存・欠測/打ち切りに頑健・30日保持でも全期間と等価。</a:t>
            </a:r>
          </a:p>
          <a:p>
            <a:pPr>
              <a:spcBef>
                <a:spcPts val="600"/>
              </a:spcBef>
            </a:pPr>
            <a:r>
              <a:rPr sz="1350" b="1">
                <a:solidFill>
                  <a:srgbClr val="1F375B"/>
                </a:solidFill>
                <a:latin typeface="Arial"/>
                <a:ea typeface="Meiryo UI"/>
                <a:cs typeface="Meiryo UI"/>
              </a:rPr>
              <a:t>■ 実績(実フリート752台)</a:t>
            </a:r>
          </a:p>
          <a:p>
            <a:r>
              <a:rPr sz="1200" b="0">
                <a:solidFill>
                  <a:srgbClr val="222222"/>
                </a:solidFill>
                <a:latin typeface="Arial"/>
                <a:ea typeface="Meiryo UI"/>
                <a:cs typeface="Meiryo UI"/>
              </a:rPr>
              <a:t>全履歴監査でゲージ再較正候補18台/FW確認候補14台に自動振り分け(既存active層からの誤エスカレーション0件)。30日オンライン運用版はFW/ゲージのCore判定で proxy 精度1.0・能動誤報0件。5本柱の独立検証(A2/A3/B/E/D)で技術効果を実証。</a:t>
            </a:r>
          </a:p>
          <a:p>
            <a:pPr>
              <a:spcBef>
                <a:spcPts val="600"/>
              </a:spcBef>
            </a:pPr>
            <a:r>
              <a:rPr sz="1350" b="1">
                <a:solidFill>
                  <a:srgbClr val="1F375B"/>
                </a:solidFill>
                <a:latin typeface="Arial"/>
                <a:ea typeface="Meiryo UI"/>
                <a:cs typeface="Meiryo UI"/>
              </a:rPr>
              <a:t>■ 特許候補</a:t>
            </a:r>
          </a:p>
          <a:p>
            <a:r>
              <a:rPr sz="1200" b="0">
                <a:solidFill>
                  <a:srgbClr val="222222"/>
                </a:solidFill>
                <a:latin typeface="Arial"/>
                <a:ea typeface="Meiryo UI"/>
                <a:cs typeface="Meiryo UI"/>
              </a:rPr>
              <a:t>①機会条件付き無応答監査(中核) ②デュアルトラック非対称リセット ③有界保持の因果証拠台帳 ＋ 将来④クローズドループ介入検証 ⑤機種非依存スクリーニング+version局在。技術エビデンスは①〜③すべてSTRONG。ただし新規性リスクは別軸(全てUNVERIFIED)。</a:t>
            </a:r>
          </a:p>
          <a:p>
            <a:pPr>
              <a:spcBef>
                <a:spcPts val="600"/>
              </a:spcBef>
            </a:pPr>
            <a:r>
              <a:rPr sz="1350" b="1">
                <a:solidFill>
                  <a:srgbClr val="1F375B"/>
                </a:solidFill>
                <a:latin typeface="Arial"/>
                <a:ea typeface="Meiryo UI"/>
                <a:cs typeface="Meiryo UI"/>
              </a:rPr>
              <a:t>■ reviewerへの依頼</a:t>
            </a:r>
          </a:p>
          <a:p>
            <a:r>
              <a:rPr sz="1200" b="0">
                <a:solidFill>
                  <a:srgbClr val="222222"/>
                </a:solidFill>
                <a:latin typeface="Arial"/>
                <a:ea typeface="Meiryo UI"/>
                <a:cs typeface="Meiryo UI"/>
              </a:rPr>
              <a:t>(1) 候補①〜③の特許化の粒度・範囲の判断 (2) 候補②の着想日・社内外公開有無の確認 (3) 正式なFTO/特許性調査(弁理士)の発注判断 (4) 将来④の介入データ収集開始の判断</a:t>
            </a:r>
          </a:p>
        </p:txBody>
      </p:sp>
      <p:sp>
        <p:nvSpPr>
          <p:cNvPr id="6" name="Rounded Rectangle 5"/>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『動くべき機会に動かなかった』事実だけを、欠測に騙されず数える監査技術。エビデンスは強いが、特許性(新規性)の判断はここから先が本番。</a:t>
            </a:r>
          </a:p>
        </p:txBody>
      </p:sp>
      <p:sp>
        <p:nvSpPr>
          <p:cNvPr id="7" name="TextBox 6"/>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8" name="TextBox 7"/>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本資料の構成と読み方</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Guide</a:t>
            </a:r>
          </a:p>
        </p:txBody>
      </p:sp>
      <p:sp>
        <p:nvSpPr>
          <p:cNvPr id="5" name="Rounded Rectangle 4"/>
          <p:cNvSpPr/>
          <p:nvPr/>
        </p:nvSpPr>
        <p:spPr>
          <a:xfrm>
            <a:off x="457200" y="1005840"/>
            <a:ext cx="2286000" cy="566928"/>
          </a:xfrm>
          <a:prstGeom prst="roundRect">
            <a:avLst/>
          </a:prstGeom>
          <a:solidFill>
            <a:srgbClr val="336699"/>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Arial"/>
                <a:ea typeface="Meiryo UI"/>
                <a:cs typeface="Meiryo UI"/>
              </a:rPr>
              <a:t>§1 基礎知識</a:t>
            </a:r>
          </a:p>
        </p:txBody>
      </p:sp>
      <p:sp>
        <p:nvSpPr>
          <p:cNvPr id="6" name="TextBox 5"/>
          <p:cNvSpPr txBox="1"/>
          <p:nvPr/>
        </p:nvSpPr>
        <p:spPr>
          <a:xfrm>
            <a:off x="2926080" y="1033272"/>
            <a:ext cx="5760720" cy="548640"/>
          </a:xfrm>
          <a:prstGeom prst="rect">
            <a:avLst/>
          </a:prstGeom>
          <a:noFill/>
        </p:spPr>
        <p:txBody>
          <a:bodyPr wrap="square">
            <a:spAutoFit/>
          </a:bodyPr>
          <a:lstStyle/>
          <a:p>
            <a:r>
              <a:rPr sz="1200" b="0">
                <a:solidFill>
                  <a:srgbClr val="222222"/>
                </a:solidFill>
                <a:latin typeface="Arial"/>
                <a:ea typeface="Meiryo UI"/>
                <a:cs typeface="Meiryo UI"/>
              </a:rPr>
              <a:t>バッテリと燃料計 / FCC学習と凍結 / なぜ問題か</a:t>
            </a:r>
          </a:p>
        </p:txBody>
      </p:sp>
      <p:sp>
        <p:nvSpPr>
          <p:cNvPr id="7" name="TextBox 6"/>
          <p:cNvSpPr txBox="1"/>
          <p:nvPr/>
        </p:nvSpPr>
        <p:spPr>
          <a:xfrm>
            <a:off x="8869680" y="1033272"/>
            <a:ext cx="3017520" cy="548640"/>
          </a:xfrm>
          <a:prstGeom prst="rect">
            <a:avLst/>
          </a:prstGeom>
          <a:noFill/>
        </p:spPr>
        <p:txBody>
          <a:bodyPr wrap="square">
            <a:spAutoFit/>
          </a:bodyPr>
          <a:lstStyle/>
          <a:p>
            <a:r>
              <a:rPr sz="1100" b="0">
                <a:solidFill>
                  <a:srgbClr val="555555"/>
                </a:solidFill>
                <a:latin typeface="Arial"/>
                <a:ea typeface="Meiryo UI"/>
                <a:cs typeface="Meiryo UI"/>
              </a:rPr>
              <a:t>非エンジニアの方はここから</a:t>
            </a:r>
          </a:p>
        </p:txBody>
      </p:sp>
      <p:sp>
        <p:nvSpPr>
          <p:cNvPr id="8" name="Rounded Rectangle 7"/>
          <p:cNvSpPr/>
          <p:nvPr/>
        </p:nvSpPr>
        <p:spPr>
          <a:xfrm>
            <a:off x="457200" y="1664208"/>
            <a:ext cx="2286000" cy="566928"/>
          </a:xfrm>
          <a:prstGeom prst="roundRect">
            <a:avLst/>
          </a:prstGeom>
          <a:solidFill>
            <a:srgbClr val="336699"/>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Arial"/>
                <a:ea typeface="Meiryo UI"/>
                <a:cs typeface="Meiryo UI"/>
              </a:rPr>
              <a:t>§2 用語定義</a:t>
            </a:r>
          </a:p>
        </p:txBody>
      </p:sp>
      <p:sp>
        <p:nvSpPr>
          <p:cNvPr id="9" name="TextBox 8"/>
          <p:cNvSpPr txBox="1"/>
          <p:nvPr/>
        </p:nvSpPr>
        <p:spPr>
          <a:xfrm>
            <a:off x="2926080" y="1691640"/>
            <a:ext cx="5760720" cy="548640"/>
          </a:xfrm>
          <a:prstGeom prst="rect">
            <a:avLst/>
          </a:prstGeom>
          <a:noFill/>
        </p:spPr>
        <p:txBody>
          <a:bodyPr wrap="square">
            <a:spAutoFit/>
          </a:bodyPr>
          <a:lstStyle/>
          <a:p>
            <a:r>
              <a:rPr sz="1200" b="0">
                <a:solidFill>
                  <a:srgbClr val="222222"/>
                </a:solidFill>
                <a:latin typeface="Arial"/>
                <a:ea typeface="Meiryo UI"/>
                <a:cs typeface="Meiryo UI"/>
              </a:rPr>
              <a:t>バッテリ・学習機会 / 検証手法・統計</a:t>
            </a:r>
          </a:p>
        </p:txBody>
      </p:sp>
      <p:sp>
        <p:nvSpPr>
          <p:cNvPr id="10" name="TextBox 9"/>
          <p:cNvSpPr txBox="1"/>
          <p:nvPr/>
        </p:nvSpPr>
        <p:spPr>
          <a:xfrm>
            <a:off x="8869680" y="1691640"/>
            <a:ext cx="3017520" cy="548640"/>
          </a:xfrm>
          <a:prstGeom prst="rect">
            <a:avLst/>
          </a:prstGeom>
          <a:noFill/>
        </p:spPr>
        <p:txBody>
          <a:bodyPr wrap="square">
            <a:spAutoFit/>
          </a:bodyPr>
          <a:lstStyle/>
          <a:p>
            <a:r>
              <a:rPr sz="1100" b="0">
                <a:solidFill>
                  <a:srgbClr val="555555"/>
                </a:solidFill>
                <a:latin typeface="Arial"/>
                <a:ea typeface="Meiryo UI"/>
                <a:cs typeface="Meiryo UI"/>
              </a:rPr>
              <a:t>つまずいたら戻る辞書</a:t>
            </a:r>
          </a:p>
        </p:txBody>
      </p:sp>
      <p:sp>
        <p:nvSpPr>
          <p:cNvPr id="11" name="Rounded Rectangle 10"/>
          <p:cNvSpPr/>
          <p:nvPr/>
        </p:nvSpPr>
        <p:spPr>
          <a:xfrm>
            <a:off x="457200" y="2322576"/>
            <a:ext cx="2286000" cy="566928"/>
          </a:xfrm>
          <a:prstGeom prst="roundRect">
            <a:avLst/>
          </a:prstGeom>
          <a:solidFill>
            <a:srgbClr val="1F375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Arial"/>
                <a:ea typeface="Meiryo UI"/>
                <a:cs typeface="Meiryo UI"/>
              </a:rPr>
              <a:t>§3 本題(Part1)</a:t>
            </a:r>
          </a:p>
        </p:txBody>
      </p:sp>
      <p:sp>
        <p:nvSpPr>
          <p:cNvPr id="12" name="TextBox 11"/>
          <p:cNvSpPr txBox="1"/>
          <p:nvPr/>
        </p:nvSpPr>
        <p:spPr>
          <a:xfrm>
            <a:off x="2926080" y="2350008"/>
            <a:ext cx="5760720" cy="548640"/>
          </a:xfrm>
          <a:prstGeom prst="rect">
            <a:avLst/>
          </a:prstGeom>
          <a:noFill/>
        </p:spPr>
        <p:txBody>
          <a:bodyPr wrap="square">
            <a:spAutoFit/>
          </a:bodyPr>
          <a:lstStyle/>
          <a:p>
            <a:r>
              <a:rPr sz="1200" b="0">
                <a:solidFill>
                  <a:srgbClr val="222222"/>
                </a:solidFill>
                <a:latin typeface="Arial"/>
                <a:ea typeface="Meiryo UI"/>
                <a:cs typeface="Meiryo UI"/>
              </a:rPr>
              <a:t>目的と難しさ → 失敗と発想転換 → 手法 → 実フリート結果</a:t>
            </a:r>
          </a:p>
        </p:txBody>
      </p:sp>
      <p:sp>
        <p:nvSpPr>
          <p:cNvPr id="13" name="TextBox 12"/>
          <p:cNvSpPr txBox="1"/>
          <p:nvPr/>
        </p:nvSpPr>
        <p:spPr>
          <a:xfrm>
            <a:off x="8869680" y="2350008"/>
            <a:ext cx="3017520" cy="548640"/>
          </a:xfrm>
          <a:prstGeom prst="rect">
            <a:avLst/>
          </a:prstGeom>
          <a:noFill/>
        </p:spPr>
        <p:txBody>
          <a:bodyPr wrap="square">
            <a:spAutoFit/>
          </a:bodyPr>
          <a:lstStyle/>
          <a:p>
            <a:r>
              <a:rPr sz="1100" b="0">
                <a:solidFill>
                  <a:srgbClr val="555555"/>
                </a:solidFill>
                <a:latin typeface="Arial"/>
                <a:ea typeface="Meiryo UI"/>
                <a:cs typeface="Meiryo UI"/>
              </a:rPr>
              <a:t>判定技術そのもの</a:t>
            </a:r>
          </a:p>
        </p:txBody>
      </p:sp>
      <p:sp>
        <p:nvSpPr>
          <p:cNvPr id="14" name="Rounded Rectangle 13"/>
          <p:cNvSpPr/>
          <p:nvPr/>
        </p:nvSpPr>
        <p:spPr>
          <a:xfrm>
            <a:off x="457200" y="2980944"/>
            <a:ext cx="2286000" cy="566928"/>
          </a:xfrm>
          <a:prstGeom prst="roundRect">
            <a:avLst/>
          </a:prstGeom>
          <a:solidFill>
            <a:srgbClr val="376B3A"/>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Arial"/>
                <a:ea typeface="Meiryo UI"/>
                <a:cs typeface="Meiryo UI"/>
              </a:rPr>
              <a:t>§4 根拠</a:t>
            </a:r>
          </a:p>
        </p:txBody>
      </p:sp>
      <p:sp>
        <p:nvSpPr>
          <p:cNvPr id="15" name="TextBox 14"/>
          <p:cNvSpPr txBox="1"/>
          <p:nvPr/>
        </p:nvSpPr>
        <p:spPr>
          <a:xfrm>
            <a:off x="2926080" y="3008376"/>
            <a:ext cx="5760720" cy="548640"/>
          </a:xfrm>
          <a:prstGeom prst="rect">
            <a:avLst/>
          </a:prstGeom>
          <a:noFill/>
        </p:spPr>
        <p:txBody>
          <a:bodyPr wrap="square">
            <a:spAutoFit/>
          </a:bodyPr>
          <a:lstStyle/>
          <a:p>
            <a:r>
              <a:rPr sz="1200" b="0">
                <a:solidFill>
                  <a:srgbClr val="222222"/>
                </a:solidFill>
                <a:latin typeface="Arial"/>
                <a:ea typeface="Meiryo UI"/>
                <a:cs typeface="Meiryo UI"/>
              </a:rPr>
              <a:t>5本柱の検証 A2/A3/B/E/D (図解説つき)</a:t>
            </a:r>
          </a:p>
        </p:txBody>
      </p:sp>
      <p:sp>
        <p:nvSpPr>
          <p:cNvPr id="16" name="TextBox 15"/>
          <p:cNvSpPr txBox="1"/>
          <p:nvPr/>
        </p:nvSpPr>
        <p:spPr>
          <a:xfrm>
            <a:off x="8869680" y="3008376"/>
            <a:ext cx="3017520" cy="548640"/>
          </a:xfrm>
          <a:prstGeom prst="rect">
            <a:avLst/>
          </a:prstGeom>
          <a:noFill/>
        </p:spPr>
        <p:txBody>
          <a:bodyPr wrap="square">
            <a:spAutoFit/>
          </a:bodyPr>
          <a:lstStyle/>
          <a:p>
            <a:r>
              <a:rPr sz="1100" b="0">
                <a:solidFill>
                  <a:srgbClr val="555555"/>
                </a:solidFill>
                <a:latin typeface="Arial"/>
                <a:ea typeface="Meiryo UI"/>
                <a:cs typeface="Meiryo UI"/>
              </a:rPr>
              <a:t>なぜ信じてよいか</a:t>
            </a:r>
          </a:p>
        </p:txBody>
      </p:sp>
      <p:sp>
        <p:nvSpPr>
          <p:cNvPr id="17" name="Rounded Rectangle 16"/>
          <p:cNvSpPr/>
          <p:nvPr/>
        </p:nvSpPr>
        <p:spPr>
          <a:xfrm>
            <a:off x="457200" y="3639312"/>
            <a:ext cx="2286000" cy="566928"/>
          </a:xfrm>
          <a:prstGeom prst="roundRect">
            <a:avLst/>
          </a:prstGeom>
          <a:solidFill>
            <a:srgbClr val="6A3D8A"/>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Arial"/>
                <a:ea typeface="Meiryo UI"/>
                <a:cs typeface="Meiryo UI"/>
              </a:rPr>
              <a:t>§5 特許候補(Part2)</a:t>
            </a:r>
          </a:p>
        </p:txBody>
      </p:sp>
      <p:sp>
        <p:nvSpPr>
          <p:cNvPr id="18" name="TextBox 17"/>
          <p:cNvSpPr txBox="1"/>
          <p:nvPr/>
        </p:nvSpPr>
        <p:spPr>
          <a:xfrm>
            <a:off x="2926080" y="3666744"/>
            <a:ext cx="5760720" cy="548640"/>
          </a:xfrm>
          <a:prstGeom prst="rect">
            <a:avLst/>
          </a:prstGeom>
          <a:noFill/>
        </p:spPr>
        <p:txBody>
          <a:bodyPr wrap="square">
            <a:spAutoFit/>
          </a:bodyPr>
          <a:lstStyle/>
          <a:p>
            <a:r>
              <a:rPr sz="1200" b="0">
                <a:solidFill>
                  <a:srgbClr val="222222"/>
                </a:solidFill>
                <a:latin typeface="Arial"/>
                <a:ea typeface="Meiryo UI"/>
                <a:cs typeface="Meiryo UI"/>
              </a:rPr>
              <a:t>候補①〜③ + 将来④⑤ (背景/問題/課題/解決/特許性)</a:t>
            </a:r>
          </a:p>
        </p:txBody>
      </p:sp>
      <p:sp>
        <p:nvSpPr>
          <p:cNvPr id="19" name="TextBox 18"/>
          <p:cNvSpPr txBox="1"/>
          <p:nvPr/>
        </p:nvSpPr>
        <p:spPr>
          <a:xfrm>
            <a:off x="8869680" y="3666744"/>
            <a:ext cx="3017520" cy="548640"/>
          </a:xfrm>
          <a:prstGeom prst="rect">
            <a:avLst/>
          </a:prstGeom>
          <a:noFill/>
        </p:spPr>
        <p:txBody>
          <a:bodyPr wrap="square">
            <a:spAutoFit/>
          </a:bodyPr>
          <a:lstStyle/>
          <a:p>
            <a:r>
              <a:rPr sz="1100" b="0">
                <a:solidFill>
                  <a:srgbClr val="555555"/>
                </a:solidFill>
                <a:latin typeface="Arial"/>
                <a:ea typeface="Meiryo UI"/>
                <a:cs typeface="Meiryo UI"/>
              </a:rPr>
              <a:t>reviewer判断の対象</a:t>
            </a:r>
          </a:p>
        </p:txBody>
      </p:sp>
      <p:sp>
        <p:nvSpPr>
          <p:cNvPr id="20" name="Rounded Rectangle 19"/>
          <p:cNvSpPr/>
          <p:nvPr/>
        </p:nvSpPr>
        <p:spPr>
          <a:xfrm>
            <a:off x="457200" y="4297680"/>
            <a:ext cx="2286000" cy="566928"/>
          </a:xfrm>
          <a:prstGeom prst="roundRect">
            <a:avLst/>
          </a:prstGeom>
          <a:solidFill>
            <a:srgbClr val="C0392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Arial"/>
                <a:ea typeface="Meiryo UI"/>
                <a:cs typeface="Meiryo UI"/>
              </a:rPr>
              <a:t>§6 開示とまとめ</a:t>
            </a:r>
          </a:p>
        </p:txBody>
      </p:sp>
      <p:sp>
        <p:nvSpPr>
          <p:cNvPr id="21" name="TextBox 20"/>
          <p:cNvSpPr txBox="1"/>
          <p:nvPr/>
        </p:nvSpPr>
        <p:spPr>
          <a:xfrm>
            <a:off x="2926080" y="4325112"/>
            <a:ext cx="5760720" cy="548640"/>
          </a:xfrm>
          <a:prstGeom prst="rect">
            <a:avLst/>
          </a:prstGeom>
          <a:noFill/>
        </p:spPr>
        <p:txBody>
          <a:bodyPr wrap="square">
            <a:spAutoFit/>
          </a:bodyPr>
          <a:lstStyle/>
          <a:p>
            <a:r>
              <a:rPr sz="1200" b="0">
                <a:solidFill>
                  <a:srgbClr val="222222"/>
                </a:solidFill>
                <a:latin typeface="Arial"/>
                <a:ea typeface="Meiryo UI"/>
                <a:cs typeface="Meiryo UI"/>
              </a:rPr>
              <a:t>正直な開示 / 知財戦略オプション / 依頼事項</a:t>
            </a:r>
          </a:p>
        </p:txBody>
      </p:sp>
      <p:sp>
        <p:nvSpPr>
          <p:cNvPr id="22" name="TextBox 21"/>
          <p:cNvSpPr txBox="1"/>
          <p:nvPr/>
        </p:nvSpPr>
        <p:spPr>
          <a:xfrm>
            <a:off x="8869680" y="4325112"/>
            <a:ext cx="3017520" cy="548640"/>
          </a:xfrm>
          <a:prstGeom prst="rect">
            <a:avLst/>
          </a:prstGeom>
          <a:noFill/>
        </p:spPr>
        <p:txBody>
          <a:bodyPr wrap="square">
            <a:spAutoFit/>
          </a:bodyPr>
          <a:lstStyle/>
          <a:p>
            <a:r>
              <a:rPr sz="1100" b="0">
                <a:solidFill>
                  <a:srgbClr val="555555"/>
                </a:solidFill>
                <a:latin typeface="Arial"/>
                <a:ea typeface="Meiryo UI"/>
                <a:cs typeface="Meiryo UI"/>
              </a:rPr>
              <a:t>リスクと残課題</a:t>
            </a:r>
          </a:p>
        </p:txBody>
      </p:sp>
      <p:sp>
        <p:nvSpPr>
          <p:cNvPr id="23" name="Rounded Rectangle 22"/>
          <p:cNvSpPr/>
          <p:nvPr/>
        </p:nvSpPr>
        <p:spPr>
          <a:xfrm>
            <a:off x="457200" y="4956048"/>
            <a:ext cx="2286000" cy="566928"/>
          </a:xfrm>
          <a:prstGeom prst="roundRect">
            <a:avLst/>
          </a:prstGeom>
          <a:solidFill>
            <a:srgbClr val="555555"/>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Arial"/>
                <a:ea typeface="Meiryo UI"/>
                <a:cs typeface="Meiryo UI"/>
              </a:rPr>
              <a:t>§7 付録</a:t>
            </a:r>
          </a:p>
        </p:txBody>
      </p:sp>
      <p:sp>
        <p:nvSpPr>
          <p:cNvPr id="24" name="TextBox 23"/>
          <p:cNvSpPr txBox="1"/>
          <p:nvPr/>
        </p:nvSpPr>
        <p:spPr>
          <a:xfrm>
            <a:off x="2926080" y="4983480"/>
            <a:ext cx="5760720" cy="548640"/>
          </a:xfrm>
          <a:prstGeom prst="rect">
            <a:avLst/>
          </a:prstGeom>
          <a:noFill/>
        </p:spPr>
        <p:txBody>
          <a:bodyPr wrap="square">
            <a:spAutoFit/>
          </a:bodyPr>
          <a:lstStyle/>
          <a:p>
            <a:r>
              <a:rPr sz="1200" b="0">
                <a:solidFill>
                  <a:srgbClr val="222222"/>
                </a:solidFill>
                <a:latin typeface="Arial"/>
                <a:ea typeface="Meiryo UI"/>
                <a:cs typeface="Meiryo UI"/>
              </a:rPr>
              <a:t>特徴量 / データと再現性 / 代替実施形態 / 先行技術 / 補足図</a:t>
            </a:r>
          </a:p>
        </p:txBody>
      </p:sp>
      <p:sp>
        <p:nvSpPr>
          <p:cNvPr id="25" name="TextBox 24"/>
          <p:cNvSpPr txBox="1"/>
          <p:nvPr/>
        </p:nvSpPr>
        <p:spPr>
          <a:xfrm>
            <a:off x="8869680" y="4983480"/>
            <a:ext cx="3017520" cy="548640"/>
          </a:xfrm>
          <a:prstGeom prst="rect">
            <a:avLst/>
          </a:prstGeom>
          <a:noFill/>
        </p:spPr>
        <p:txBody>
          <a:bodyPr wrap="square">
            <a:spAutoFit/>
          </a:bodyPr>
          <a:lstStyle/>
          <a:p>
            <a:r>
              <a:rPr sz="1100" b="0">
                <a:solidFill>
                  <a:srgbClr val="555555"/>
                </a:solidFill>
                <a:latin typeface="Arial"/>
                <a:ea typeface="Meiryo UI"/>
                <a:cs typeface="Meiryo UI"/>
              </a:rPr>
              <a:t>深掘り用</a:t>
            </a:r>
          </a:p>
        </p:txBody>
      </p:sp>
      <p:sp>
        <p:nvSpPr>
          <p:cNvPr id="26" name="TextBox 25"/>
          <p:cNvSpPr txBox="1"/>
          <p:nvPr/>
        </p:nvSpPr>
        <p:spPr>
          <a:xfrm>
            <a:off x="457200" y="5660136"/>
            <a:ext cx="11274425" cy="777240"/>
          </a:xfrm>
          <a:prstGeom prst="rect">
            <a:avLst/>
          </a:prstGeom>
          <a:noFill/>
        </p:spPr>
        <p:txBody>
          <a:bodyPr wrap="square">
            <a:spAutoFit/>
          </a:bodyPr>
          <a:lstStyle/>
          <a:p>
            <a:r>
              <a:rPr sz="1150" b="0">
                <a:solidFill>
                  <a:srgbClr val="222222"/>
                </a:solidFill>
                <a:latin typeface="Arial"/>
                <a:ea typeface="Meiryo UI"/>
                <a:cs typeface="Meiryo UI"/>
              </a:rPr>
              <a:t>読み方: 各スライド下部のグレー帯（💡）は非エンジニア向けの一言要約。図スライドは4ブロック（何のグラフ/軸/主張/読み方）構成。急ぐ方はスライド 2→13→14→20→36 の5枚で概観できます。</a:t>
            </a:r>
          </a:p>
          <a:p>
            <a:r>
              <a:rPr sz="1150" b="1">
                <a:solidFill>
                  <a:srgbClr val="C0392B"/>
                </a:solidFill>
                <a:latin typeface="Arial"/>
                <a:ea typeface="Meiryo UI"/>
                <a:cs typeface="Meiryo UI"/>
              </a:rPr>
              <a:t>この資料の正直さの記号 — UNVERIFIED: 先行技術は未検証 / NOT AVAILABLE: そのデータは存在しない(捏造しない) / proxy: 正解ラベルは本番システムの推定値(地上真実ではない)。</a:t>
            </a:r>
          </a:p>
        </p:txBody>
      </p:sp>
      <p:sp>
        <p:nvSpPr>
          <p:cNvPr id="27" name="TextBox 26"/>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28" name="TextBox 27"/>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基礎① ノートPCバッテリと『燃料計』 — FCC・RSOC・SoH とは</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36699"/>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§1 基礎知識</a:t>
            </a:r>
          </a:p>
        </p:txBody>
      </p:sp>
      <p:graphicFrame>
        <p:nvGraphicFramePr>
          <p:cNvPr id="5" name="Table 4"/>
          <p:cNvGraphicFramePr>
            <a:graphicFrameLocks noGrp="1"/>
          </p:cNvGraphicFramePr>
          <p:nvPr/>
        </p:nvGraphicFramePr>
        <p:xfrm>
          <a:off x="411480" y="960120"/>
          <a:ext cx="11338560" cy="3401568"/>
        </p:xfrm>
        <a:graphic>
          <a:graphicData uri="http://schemas.openxmlformats.org/drawingml/2006/table">
            <a:tbl>
              <a:tblPr firstRow="1" bandRow="1">
                <a:tableStyleId>{5C22544A-7EE6-4342-B048-85BDC9FD1C3A}</a:tableStyleId>
              </a:tblPr>
              <a:tblGrid>
                <a:gridCol w="2377440"/>
                <a:gridCol w="5577840"/>
                <a:gridCol w="3383280"/>
              </a:tblGrid>
              <a:tr h="566928">
                <a:tc>
                  <a:txBody>
                    <a:bodyPr/>
                    <a:lstStyle/>
                    <a:p>
                      <a:r>
                        <a:rPr sz="1100" b="1">
                          <a:solidFill>
                            <a:srgbClr val="FFFFFF"/>
                          </a:solidFill>
                          <a:latin typeface="Arial"/>
                          <a:ea typeface="Meiryo UI"/>
                          <a:cs typeface="Meiryo UI"/>
                        </a:rPr>
                        <a:t>用語</a:t>
                      </a:r>
                    </a:p>
                  </a:txBody>
                  <a:tcPr>
                    <a:solidFill>
                      <a:srgbClr val="1E0113"/>
                    </a:solidFill>
                  </a:tcPr>
                </a:tc>
                <a:tc>
                  <a:txBody>
                    <a:bodyPr/>
                    <a:lstStyle/>
                    <a:p>
                      <a:r>
                        <a:rPr sz="1100" b="1">
                          <a:solidFill>
                            <a:srgbClr val="FFFFFF"/>
                          </a:solidFill>
                          <a:latin typeface="Arial"/>
                          <a:ea typeface="Meiryo UI"/>
                          <a:cs typeface="Meiryo UI"/>
                        </a:rPr>
                        <a:t>意味</a:t>
                      </a:r>
                    </a:p>
                  </a:txBody>
                  <a:tcPr>
                    <a:solidFill>
                      <a:srgbClr val="1E0113"/>
                    </a:solidFill>
                  </a:tcPr>
                </a:tc>
                <a:tc>
                  <a:txBody>
                    <a:bodyPr/>
                    <a:lstStyle/>
                    <a:p>
                      <a:r>
                        <a:rPr sz="1100" b="1">
                          <a:solidFill>
                            <a:srgbClr val="FFFFFF"/>
                          </a:solidFill>
                          <a:latin typeface="Arial"/>
                          <a:ea typeface="Meiryo UI"/>
                          <a:cs typeface="Meiryo UI"/>
                        </a:rPr>
                        <a:t>身近なたとえ</a:t>
                      </a:r>
                    </a:p>
                  </a:txBody>
                  <a:tcPr>
                    <a:solidFill>
                      <a:srgbClr val="1E0113"/>
                    </a:solidFill>
                  </a:tcPr>
                </a:tc>
              </a:tr>
              <a:tr h="566928">
                <a:tc>
                  <a:txBody>
                    <a:bodyPr/>
                    <a:lstStyle/>
                    <a:p>
                      <a:r>
                        <a:rPr sz="1100" b="0">
                          <a:solidFill>
                            <a:srgbClr val="222222"/>
                          </a:solidFill>
                          <a:latin typeface="Arial"/>
                          <a:ea typeface="Meiryo UI"/>
                          <a:cs typeface="Meiryo UI"/>
                        </a:rPr>
                        <a:t>FCC（満充電容量）</a:t>
                      </a:r>
                    </a:p>
                  </a:txBody>
                  <a:tcPr>
                    <a:solidFill>
                      <a:srgbClr val="EEF2F7"/>
                    </a:solidFill>
                  </a:tcPr>
                </a:tc>
                <a:tc>
                  <a:txBody>
                    <a:bodyPr/>
                    <a:lstStyle/>
                    <a:p>
                      <a:r>
                        <a:rPr sz="1100" b="0">
                          <a:solidFill>
                            <a:srgbClr val="222222"/>
                          </a:solidFill>
                          <a:latin typeface="Arial"/>
                          <a:ea typeface="Meiryo UI"/>
                          <a:cs typeface="Meiryo UI"/>
                        </a:rPr>
                        <a:t>電池が『いま満タンでどれだけ入るか』の学習値(mWh)。劣化とともに減っていく</a:t>
                      </a:r>
                    </a:p>
                  </a:txBody>
                  <a:tcPr>
                    <a:solidFill>
                      <a:srgbClr val="EEF2F7"/>
                    </a:solidFill>
                  </a:tcPr>
                </a:tc>
                <a:tc>
                  <a:txBody>
                    <a:bodyPr/>
                    <a:lstStyle/>
                    <a:p>
                      <a:r>
                        <a:rPr sz="1100" b="0">
                          <a:solidFill>
                            <a:srgbClr val="222222"/>
                          </a:solidFill>
                          <a:latin typeface="Arial"/>
                          <a:ea typeface="Meiryo UI"/>
                          <a:cs typeface="Meiryo UI"/>
                        </a:rPr>
                        <a:t>何度も計り直して覚えておく『いまの満タン量』</a:t>
                      </a:r>
                    </a:p>
                  </a:txBody>
                  <a:tcPr>
                    <a:solidFill>
                      <a:srgbClr val="EEF2F7"/>
                    </a:solidFill>
                  </a:tcPr>
                </a:tc>
              </a:tr>
              <a:tr h="566928">
                <a:tc>
                  <a:txBody>
                    <a:bodyPr/>
                    <a:lstStyle/>
                    <a:p>
                      <a:r>
                        <a:rPr sz="1100" b="0">
                          <a:solidFill>
                            <a:srgbClr val="222222"/>
                          </a:solidFill>
                          <a:latin typeface="Arial"/>
                          <a:ea typeface="Meiryo UI"/>
                          <a:cs typeface="Meiryo UI"/>
                        </a:rPr>
                        <a:t>RSOC（相対残量）</a:t>
                      </a:r>
                    </a:p>
                  </a:txBody>
                  <a:tcPr>
                    <a:solidFill>
                      <a:srgbClr val="FFFFFF"/>
                    </a:solidFill>
                  </a:tcPr>
                </a:tc>
                <a:tc>
                  <a:txBody>
                    <a:bodyPr/>
                    <a:lstStyle/>
                    <a:p>
                      <a:r>
                        <a:rPr sz="1100" b="0">
                          <a:solidFill>
                            <a:srgbClr val="222222"/>
                          </a:solidFill>
                          <a:latin typeface="Arial"/>
                          <a:ea typeface="Meiryo UI"/>
                          <a:cs typeface="Meiryo UI"/>
                        </a:rPr>
                        <a:t>いまの残量% = 残容量 ÷ FCC × 100</a:t>
                      </a:r>
                    </a:p>
                  </a:txBody>
                  <a:tcPr>
                    <a:solidFill>
                      <a:srgbClr val="FFFFFF"/>
                    </a:solidFill>
                  </a:tcPr>
                </a:tc>
                <a:tc>
                  <a:txBody>
                    <a:bodyPr/>
                    <a:lstStyle/>
                    <a:p>
                      <a:r>
                        <a:rPr sz="1100" b="0">
                          <a:solidFill>
                            <a:srgbClr val="222222"/>
                          </a:solidFill>
                          <a:latin typeface="Arial"/>
                          <a:ea typeface="Meiryo UI"/>
                          <a:cs typeface="Meiryo UI"/>
                        </a:rPr>
                        <a:t>ガソリンメーターの針(満タン比の%)</a:t>
                      </a:r>
                    </a:p>
                  </a:txBody>
                  <a:tcPr>
                    <a:solidFill>
                      <a:srgbClr val="FFFFFF"/>
                    </a:solidFill>
                  </a:tcPr>
                </a:tc>
              </a:tr>
              <a:tr h="566928">
                <a:tc>
                  <a:txBody>
                    <a:bodyPr/>
                    <a:lstStyle/>
                    <a:p>
                      <a:r>
                        <a:rPr sz="1100" b="0">
                          <a:solidFill>
                            <a:srgbClr val="222222"/>
                          </a:solidFill>
                          <a:latin typeface="Arial"/>
                          <a:ea typeface="Meiryo UI"/>
                          <a:cs typeface="Meiryo UI"/>
                        </a:rPr>
                        <a:t>SoH（健全性）</a:t>
                      </a:r>
                    </a:p>
                  </a:txBody>
                  <a:tcPr>
                    <a:solidFill>
                      <a:srgbClr val="EEF2F7"/>
                    </a:solidFill>
                  </a:tcPr>
                </a:tc>
                <a:tc>
                  <a:txBody>
                    <a:bodyPr/>
                    <a:lstStyle/>
                    <a:p>
                      <a:r>
                        <a:rPr sz="1100" b="0">
                          <a:solidFill>
                            <a:srgbClr val="222222"/>
                          </a:solidFill>
                          <a:latin typeface="Arial"/>
                          <a:ea typeface="Meiryo UI"/>
                          <a:cs typeface="Meiryo UI"/>
                        </a:rPr>
                        <a:t>健康度% = FCC × 100 ÷ 設計容量(新品時)</a:t>
                      </a:r>
                    </a:p>
                  </a:txBody>
                  <a:tcPr>
                    <a:solidFill>
                      <a:srgbClr val="EEF2F7"/>
                    </a:solidFill>
                  </a:tcPr>
                </a:tc>
                <a:tc>
                  <a:txBody>
                    <a:bodyPr/>
                    <a:lstStyle/>
                    <a:p>
                      <a:r>
                        <a:rPr sz="1100" b="0">
                          <a:solidFill>
                            <a:srgbClr val="222222"/>
                          </a:solidFill>
                          <a:latin typeface="Arial"/>
                          <a:ea typeface="Meiryo UI"/>
                          <a:cs typeface="Meiryo UI"/>
                        </a:rPr>
                        <a:t>新品と比べて容量が何%残っているか</a:t>
                      </a:r>
                    </a:p>
                  </a:txBody>
                  <a:tcPr>
                    <a:solidFill>
                      <a:srgbClr val="EEF2F7"/>
                    </a:solidFill>
                  </a:tcPr>
                </a:tc>
              </a:tr>
              <a:tr h="566928">
                <a:tc>
                  <a:txBody>
                    <a:bodyPr/>
                    <a:lstStyle/>
                    <a:p>
                      <a:r>
                        <a:rPr sz="1100" b="0">
                          <a:solidFill>
                            <a:srgbClr val="222222"/>
                          </a:solidFill>
                          <a:latin typeface="Arial"/>
                          <a:ea typeface="Meiryo UI"/>
                          <a:cs typeface="Meiryo UI"/>
                        </a:rPr>
                        <a:t>FCC学習（再較正）</a:t>
                      </a:r>
                    </a:p>
                  </a:txBody>
                  <a:tcPr>
                    <a:solidFill>
                      <a:srgbClr val="FFFFFF"/>
                    </a:solidFill>
                  </a:tcPr>
                </a:tc>
                <a:tc>
                  <a:txBody>
                    <a:bodyPr/>
                    <a:lstStyle/>
                    <a:p>
                      <a:r>
                        <a:rPr sz="1100" b="0">
                          <a:solidFill>
                            <a:srgbClr val="222222"/>
                          </a:solidFill>
                          <a:latin typeface="Arial"/>
                          <a:ea typeface="Meiryo UI"/>
                          <a:cs typeface="Meiryo UI"/>
                        </a:rPr>
                        <a:t>『満充電付近→深く放電→再び満充電』の往復のときだけ、ゲージICがFCCを計り直せる</a:t>
                      </a:r>
                    </a:p>
                  </a:txBody>
                  <a:tcPr>
                    <a:solidFill>
                      <a:srgbClr val="FFFFFF"/>
                    </a:solidFill>
                  </a:tcPr>
                </a:tc>
                <a:tc>
                  <a:txBody>
                    <a:bodyPr/>
                    <a:lstStyle/>
                    <a:p>
                      <a:r>
                        <a:rPr sz="1100" b="0">
                          <a:solidFill>
                            <a:srgbClr val="222222"/>
                          </a:solidFill>
                          <a:latin typeface="Arial"/>
                          <a:ea typeface="Meiryo UI"/>
                          <a:cs typeface="Meiryo UI"/>
                        </a:rPr>
                        <a:t>体重計のゼロ点合わせ。乗らなければ校正できない</a:t>
                      </a:r>
                    </a:p>
                  </a:txBody>
                  <a:tcPr>
                    <a:solidFill>
                      <a:srgbClr val="FFFFFF"/>
                    </a:solidFill>
                  </a:tcPr>
                </a:tc>
              </a:tr>
              <a:tr h="566928">
                <a:tc>
                  <a:txBody>
                    <a:bodyPr/>
                    <a:lstStyle/>
                    <a:p>
                      <a:r>
                        <a:rPr sz="1100" b="0">
                          <a:solidFill>
                            <a:srgbClr val="222222"/>
                          </a:solidFill>
                          <a:latin typeface="Arial"/>
                          <a:ea typeface="Meiryo UI"/>
                          <a:cs typeface="Meiryo UI"/>
                        </a:rPr>
                        <a:t>ゲージ凍結</a:t>
                      </a:r>
                    </a:p>
                  </a:txBody>
                  <a:tcPr>
                    <a:solidFill>
                      <a:srgbClr val="EEF2F7"/>
                    </a:solidFill>
                  </a:tcPr>
                </a:tc>
                <a:tc>
                  <a:txBody>
                    <a:bodyPr/>
                    <a:lstStyle/>
                    <a:p>
                      <a:r>
                        <a:rPr sz="1100" b="0">
                          <a:solidFill>
                            <a:srgbClr val="222222"/>
                          </a:solidFill>
                          <a:latin typeface="Arial"/>
                          <a:ea typeface="Meiryo UI"/>
                          <a:cs typeface="Meiryo UI"/>
                        </a:rPr>
                        <a:t>FCCが長期間更新されない状態。SoH表示も止まる</a:t>
                      </a:r>
                    </a:p>
                  </a:txBody>
                  <a:tcPr>
                    <a:solidFill>
                      <a:srgbClr val="EEF2F7"/>
                    </a:solidFill>
                  </a:tcPr>
                </a:tc>
                <a:tc>
                  <a:txBody>
                    <a:bodyPr/>
                    <a:lstStyle/>
                    <a:p>
                      <a:r>
                        <a:rPr sz="1100" b="0">
                          <a:solidFill>
                            <a:srgbClr val="222222"/>
                          </a:solidFill>
                          <a:latin typeface="Arial"/>
                          <a:ea typeface="Meiryo UI"/>
                          <a:cs typeface="Meiryo UI"/>
                        </a:rPr>
                        <a:t>校正が止まり、表示が古いまま動かない</a:t>
                      </a:r>
                    </a:p>
                  </a:txBody>
                  <a:tcPr>
                    <a:solidFill>
                      <a:srgbClr val="EEF2F7"/>
                    </a:solidFill>
                  </a:tcPr>
                </a:tc>
              </a:tr>
            </a:tbl>
          </a:graphicData>
        </a:graphic>
      </p:graphicFrame>
      <p:sp>
        <p:nvSpPr>
          <p:cNvPr id="6" name="TextBox 5"/>
          <p:cNvSpPr txBox="1"/>
          <p:nvPr/>
        </p:nvSpPr>
        <p:spPr>
          <a:xfrm>
            <a:off x="457200" y="4526280"/>
            <a:ext cx="11274425" cy="1280160"/>
          </a:xfrm>
          <a:prstGeom prst="rect">
            <a:avLst/>
          </a:prstGeom>
          <a:noFill/>
        </p:spPr>
        <p:txBody>
          <a:bodyPr wrap="square">
            <a:spAutoFit/>
          </a:bodyPr>
          <a:lstStyle/>
          <a:p>
            <a:pPr>
              <a:spcAft>
                <a:spcPts val="400"/>
              </a:spcAft>
            </a:pPr>
            <a:r>
              <a:rPr sz="1200" b="0">
                <a:solidFill>
                  <a:srgbClr val="222222"/>
                </a:solidFill>
                <a:latin typeface="Arial"/>
                <a:ea typeface="Meiryo UI"/>
                <a:cs typeface="Meiryo UI"/>
              </a:rPr>
              <a:t>•  電池の実容量は直接測れない。ゲージIC(燃料計チップ)が使用中の充放電から『推定』している</a:t>
            </a:r>
          </a:p>
          <a:p>
            <a:pPr>
              <a:spcAft>
                <a:spcPts val="400"/>
              </a:spcAft>
            </a:pPr>
            <a:r>
              <a:rPr sz="1200" b="0">
                <a:solidFill>
                  <a:srgbClr val="222222"/>
                </a:solidFill>
                <a:latin typeface="Arial"/>
                <a:ea typeface="Meiryo UI"/>
                <a:cs typeface="Meiryo UI"/>
              </a:rPr>
              <a:t>•  FCCは整数mWhで量子化(最小刻み10mWh)されており、階段状にしか動かない</a:t>
            </a:r>
          </a:p>
          <a:p>
            <a:pPr>
              <a:spcAft>
                <a:spcPts val="400"/>
              </a:spcAft>
            </a:pPr>
            <a:r>
              <a:rPr sz="1200" b="0">
                <a:solidFill>
                  <a:srgbClr val="222222"/>
                </a:solidFill>
                <a:latin typeface="Arial"/>
                <a:ea typeface="Meiryo UI"/>
                <a:cs typeface="Meiryo UI"/>
              </a:rPr>
              <a:t>•  SoH表示・残り時間表示・保証判断は、すべてこのFCC学習値に依存している</a:t>
            </a:r>
          </a:p>
        </p:txBody>
      </p:sp>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PCの電池残量・健康度表示は『実測』ではなく『燃料計チップの学習値』。学習が止まると表示だけが古いまま取り残される。</a:t>
            </a:r>
          </a:p>
        </p:txBody>
      </p:sp>
      <p:sp>
        <p:nvSpPr>
          <p:cNvPr id="8" name="TextBox 7"/>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基礎② FCC学習のしくみと『ゲージ凍結』</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36699"/>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§1 基礎知識</a:t>
            </a:r>
          </a:p>
        </p:txBody>
      </p:sp>
      <p:cxnSp>
        <p:nvCxnSpPr>
          <p:cNvPr id="5" name="Connector 4"/>
          <p:cNvCxnSpPr/>
          <p:nvPr/>
        </p:nvCxnSpPr>
        <p:spPr>
          <a:xfrm>
            <a:off x="640080" y="5212080"/>
            <a:ext cx="5669280" cy="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640080" y="1325880"/>
            <a:ext cx="0" cy="388620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577840" y="5257800"/>
            <a:ext cx="1280160" cy="274320"/>
          </a:xfrm>
          <a:prstGeom prst="rect">
            <a:avLst/>
          </a:prstGeom>
          <a:noFill/>
        </p:spPr>
        <p:txBody>
          <a:bodyPr wrap="square">
            <a:spAutoFit/>
          </a:bodyPr>
          <a:lstStyle/>
          <a:p>
            <a:r>
              <a:rPr sz="1000" b="0">
                <a:solidFill>
                  <a:srgbClr val="555555"/>
                </a:solidFill>
                <a:latin typeface="Arial"/>
                <a:ea typeface="Meiryo UI"/>
                <a:cs typeface="Meiryo UI"/>
              </a:rPr>
              <a:t>時間 →</a:t>
            </a:r>
          </a:p>
        </p:txBody>
      </p:sp>
      <p:sp>
        <p:nvSpPr>
          <p:cNvPr id="8" name="TextBox 7"/>
          <p:cNvSpPr txBox="1"/>
          <p:nvPr/>
        </p:nvSpPr>
        <p:spPr>
          <a:xfrm>
            <a:off x="411480" y="1051560"/>
            <a:ext cx="2011680" cy="274320"/>
          </a:xfrm>
          <a:prstGeom prst="rect">
            <a:avLst/>
          </a:prstGeom>
          <a:noFill/>
        </p:spPr>
        <p:txBody>
          <a:bodyPr wrap="square">
            <a:spAutoFit/>
          </a:bodyPr>
          <a:lstStyle/>
          <a:p>
            <a:r>
              <a:rPr sz="1000" b="0">
                <a:solidFill>
                  <a:srgbClr val="555555"/>
                </a:solidFill>
                <a:latin typeface="Arial"/>
                <a:ea typeface="Meiryo UI"/>
                <a:cs typeface="Meiryo UI"/>
              </a:rPr>
              <a:t>容量 (mWh)</a:t>
            </a:r>
          </a:p>
        </p:txBody>
      </p:sp>
      <p:cxnSp>
        <p:nvCxnSpPr>
          <p:cNvPr id="9" name="Connector 8"/>
          <p:cNvCxnSpPr/>
          <p:nvPr/>
        </p:nvCxnSpPr>
        <p:spPr>
          <a:xfrm>
            <a:off x="822960" y="1783080"/>
            <a:ext cx="5303520" cy="1691640"/>
          </a:xfrm>
          <a:prstGeom prst="line">
            <a:avLst/>
          </a:prstGeom>
          <a:ln w="22225">
            <a:solidFill>
              <a:srgbClr val="555555"/>
            </a:solidFill>
            <a:prstDash val="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206240" y="3520440"/>
            <a:ext cx="2377440" cy="274320"/>
          </a:xfrm>
          <a:prstGeom prst="rect">
            <a:avLst/>
          </a:prstGeom>
          <a:noFill/>
        </p:spPr>
        <p:txBody>
          <a:bodyPr wrap="square">
            <a:spAutoFit/>
          </a:bodyPr>
          <a:lstStyle/>
          <a:p>
            <a:r>
              <a:rPr sz="950" b="0">
                <a:solidFill>
                  <a:srgbClr val="555555"/>
                </a:solidFill>
                <a:latin typeface="Arial"/>
                <a:ea typeface="Meiryo UI"/>
                <a:cs typeface="Meiryo UI"/>
              </a:rPr>
              <a:t>実容量（劣化で緩やかに低下）</a:t>
            </a:r>
          </a:p>
        </p:txBody>
      </p:sp>
      <p:cxnSp>
        <p:nvCxnSpPr>
          <p:cNvPr id="11" name="Connector 10"/>
          <p:cNvCxnSpPr/>
          <p:nvPr/>
        </p:nvCxnSpPr>
        <p:spPr>
          <a:xfrm>
            <a:off x="822960" y="1965960"/>
            <a:ext cx="1005840" cy="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828800" y="1965960"/>
            <a:ext cx="0" cy="36576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828800" y="2331720"/>
            <a:ext cx="1188720" cy="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017520" y="2331720"/>
            <a:ext cx="0" cy="36576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017520" y="2697480"/>
            <a:ext cx="1188720" cy="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206240" y="2697480"/>
            <a:ext cx="0" cy="36576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206240" y="3063240"/>
            <a:ext cx="1188720" cy="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394960" y="3063240"/>
            <a:ext cx="0" cy="36576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394960" y="3429000"/>
            <a:ext cx="731520" cy="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520440" y="2029968"/>
            <a:ext cx="3108960" cy="274320"/>
          </a:xfrm>
          <a:prstGeom prst="rect">
            <a:avLst/>
          </a:prstGeom>
          <a:noFill/>
        </p:spPr>
        <p:txBody>
          <a:bodyPr wrap="square">
            <a:spAutoFit/>
          </a:bodyPr>
          <a:lstStyle/>
          <a:p>
            <a:r>
              <a:rPr sz="950" b="1">
                <a:solidFill>
                  <a:srgbClr val="1F77B4"/>
                </a:solidFill>
                <a:latin typeface="Arial"/>
                <a:ea typeface="Meiryo UI"/>
                <a:cs typeface="Meiryo UI"/>
              </a:rPr>
              <a:t>健全: 学習機会のたびFCCを更新（階段）</a:t>
            </a:r>
          </a:p>
        </p:txBody>
      </p:sp>
      <p:cxnSp>
        <p:nvCxnSpPr>
          <p:cNvPr id="21" name="Connector 20"/>
          <p:cNvCxnSpPr/>
          <p:nvPr/>
        </p:nvCxnSpPr>
        <p:spPr>
          <a:xfrm>
            <a:off x="822960" y="1965960"/>
            <a:ext cx="4846320" cy="0"/>
          </a:xfrm>
          <a:prstGeom prst="line">
            <a:avLst/>
          </a:prstGeom>
          <a:ln w="31750">
            <a:solidFill>
              <a:srgbClr val="C0392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737360" y="1572768"/>
            <a:ext cx="4206240" cy="320040"/>
          </a:xfrm>
          <a:prstGeom prst="rect">
            <a:avLst/>
          </a:prstGeom>
          <a:noFill/>
        </p:spPr>
        <p:txBody>
          <a:bodyPr wrap="square">
            <a:spAutoFit/>
          </a:bodyPr>
          <a:lstStyle/>
          <a:p>
            <a:r>
              <a:rPr sz="950" b="1">
                <a:solidFill>
                  <a:srgbClr val="C0392B"/>
                </a:solidFill>
                <a:latin typeface="Arial"/>
                <a:ea typeface="Meiryo UI"/>
                <a:cs typeface="Meiryo UI"/>
              </a:rPr>
              <a:t>凍結: FCCが動かず SoH表示が実態から乖離</a:t>
            </a:r>
          </a:p>
        </p:txBody>
      </p:sp>
      <p:sp>
        <p:nvSpPr>
          <p:cNvPr id="23" name="TextBox 22"/>
          <p:cNvSpPr txBox="1"/>
          <p:nvPr/>
        </p:nvSpPr>
        <p:spPr>
          <a:xfrm>
            <a:off x="6537960" y="1005840"/>
            <a:ext cx="5257800" cy="4754880"/>
          </a:xfrm>
          <a:prstGeom prst="rect">
            <a:avLst/>
          </a:prstGeom>
          <a:noFill/>
        </p:spPr>
        <p:txBody>
          <a:bodyPr wrap="square">
            <a:spAutoFit/>
          </a:bodyPr>
          <a:lstStyle/>
          <a:p>
            <a:pPr>
              <a:spcBef>
                <a:spcPts val="500"/>
              </a:spcBef>
            </a:pPr>
            <a:r>
              <a:rPr sz="1250" b="1">
                <a:solidFill>
                  <a:srgbClr val="1F375B"/>
                </a:solidFill>
                <a:latin typeface="Arial"/>
                <a:ea typeface="Meiryo UI"/>
                <a:cs typeface="Meiryo UI"/>
              </a:rPr>
              <a:t>■ 学習機会（エピソード）</a:t>
            </a:r>
          </a:p>
          <a:p>
            <a:r>
              <a:rPr sz="1150" b="0">
                <a:latin typeface="Arial"/>
                <a:ea typeface="Meiryo UI"/>
                <a:cs typeface="Meiryo UI"/>
              </a:rPr>
              <a:t>RSOCが 高(≈80%)→低(≈20%)→高(≈80%) と往復する『深い放電→再充電』1サイクル。燃料計はこのときだけFCCを計り直せる。</a:t>
            </a:r>
          </a:p>
          <a:p>
            <a:pPr>
              <a:spcBef>
                <a:spcPts val="500"/>
              </a:spcBef>
            </a:pPr>
            <a:r>
              <a:rPr sz="1250" b="1">
                <a:solidFill>
                  <a:srgbClr val="1F375B"/>
                </a:solidFill>
                <a:latin typeface="Arial"/>
                <a:ea typeface="Meiryo UI"/>
                <a:cs typeface="Meiryo UI"/>
              </a:rPr>
              <a:t>■ 健全なゲージ</a:t>
            </a:r>
          </a:p>
          <a:p>
            <a:r>
              <a:rPr sz="1150" b="0">
                <a:latin typeface="Arial"/>
                <a:ea typeface="Meiryo UI"/>
                <a:cs typeface="Meiryo UI"/>
              </a:rPr>
              <a:t>学習機会のたびにFCCを更新し、実容量の低下を階段状に追いかける（左図・青）。</a:t>
            </a:r>
          </a:p>
          <a:p>
            <a:pPr>
              <a:spcBef>
                <a:spcPts val="500"/>
              </a:spcBef>
            </a:pPr>
            <a:r>
              <a:rPr sz="1250" b="1">
                <a:solidFill>
                  <a:srgbClr val="1F375B"/>
                </a:solidFill>
                <a:latin typeface="Arial"/>
                <a:ea typeface="Meiryo UI"/>
                <a:cs typeface="Meiryo UI"/>
              </a:rPr>
              <a:t>■ 凍結したゲージ</a:t>
            </a:r>
          </a:p>
          <a:p>
            <a:r>
              <a:rPr sz="1150" b="0">
                <a:latin typeface="Arial"/>
                <a:ea typeface="Meiryo UI"/>
                <a:cs typeface="Meiryo UI"/>
              </a:rPr>
              <a:t>FCCが更新されず横ばい（左図・赤）。SoH・残り時間・保証判断の元データが古いまま固定される。</a:t>
            </a:r>
          </a:p>
          <a:p>
            <a:pPr>
              <a:spcBef>
                <a:spcPts val="500"/>
              </a:spcBef>
            </a:pPr>
            <a:r>
              <a:rPr sz="1250" b="1">
                <a:solidFill>
                  <a:srgbClr val="1F375B"/>
                </a:solidFill>
                <a:latin typeface="Arial"/>
                <a:ea typeface="Meiryo UI"/>
                <a:cs typeface="Meiryo UI"/>
              </a:rPr>
              <a:t>■ ここが難所</a:t>
            </a:r>
          </a:p>
          <a:p>
            <a:r>
              <a:rPr sz="1150" b="0">
                <a:latin typeface="Arial"/>
                <a:ea typeface="Meiryo UI"/>
                <a:cs typeface="Meiryo UI"/>
              </a:rPr>
              <a:t>『凍結』は故障とは限らない。浅い使い方で機会が無いだけかもしれない。凍結という結果だけ見ても原因(正常/要較正/FW疑い)は分からない。</a:t>
            </a:r>
          </a:p>
        </p:txBody>
      </p:sp>
      <p:sp>
        <p:nvSpPr>
          <p:cNvPr id="24" name="Rounded Rectangle 23"/>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燃料計は『深く使って満充電に戻す』ときだけ計り直せる。動かない理由が『チャンスが無い』のか『チャンスに応えない』のかが本質的な問い。</a:t>
            </a:r>
          </a:p>
        </p:txBody>
      </p:sp>
      <p:sp>
        <p:nvSpPr>
          <p:cNvPr id="25" name="TextBox 24"/>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26" name="TextBox 25"/>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基礎③ なぜ問題か — 誤保守のコストとフリートの実態</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36699"/>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§1 基礎知識</a:t>
            </a:r>
          </a:p>
        </p:txBody>
      </p:sp>
      <p:sp>
        <p:nvSpPr>
          <p:cNvPr id="5" name="TextBox 4"/>
          <p:cNvSpPr txBox="1"/>
          <p:nvPr/>
        </p:nvSpPr>
        <p:spPr>
          <a:xfrm>
            <a:off x="502920" y="960120"/>
            <a:ext cx="5577840" cy="3657600"/>
          </a:xfrm>
          <a:prstGeom prst="rect">
            <a:avLst/>
          </a:prstGeom>
          <a:noFill/>
        </p:spPr>
        <p:txBody>
          <a:bodyPr wrap="square">
            <a:spAutoFit/>
          </a:bodyPr>
          <a:lstStyle/>
          <a:p>
            <a:r>
              <a:rPr sz="1350" b="1">
                <a:solidFill>
                  <a:srgbClr val="1F375B"/>
                </a:solidFill>
                <a:latin typeface="Arial"/>
                <a:ea typeface="Meiryo UI"/>
                <a:cs typeface="Meiryo UI"/>
              </a:rPr>
              <a:t>SoH表示が古いままだと（定性・金額効果は未算定）</a:t>
            </a:r>
          </a:p>
          <a:p>
            <a:pPr>
              <a:spcAft>
                <a:spcPts val="400"/>
              </a:spcAft>
            </a:pPr>
            <a:r>
              <a:rPr sz="1200" b="0">
                <a:solidFill>
                  <a:srgbClr val="222222"/>
                </a:solidFill>
                <a:latin typeface="Arial"/>
                <a:ea typeface="Meiryo UI"/>
                <a:cs typeface="Meiryo UI"/>
              </a:rPr>
              <a:t>•  劣化した電池を見逃す → 突然のシャットダウン・稼働時間の短縮・ユーザー満足度の低下</a:t>
            </a:r>
          </a:p>
          <a:p>
            <a:pPr>
              <a:spcAft>
                <a:spcPts val="400"/>
              </a:spcAft>
            </a:pPr>
            <a:r>
              <a:rPr sz="1200" b="0">
                <a:solidFill>
                  <a:srgbClr val="222222"/>
                </a:solidFill>
                <a:latin typeface="Arial"/>
                <a:ea typeface="Meiryo UI"/>
                <a:cs typeface="Meiryo UI"/>
              </a:rPr>
              <a:t>•  健全な電池を誤って交換 → 部品・工数・回収物流の無駄</a:t>
            </a:r>
          </a:p>
          <a:p>
            <a:pPr>
              <a:spcAft>
                <a:spcPts val="400"/>
              </a:spcAft>
            </a:pPr>
            <a:r>
              <a:rPr sz="1200" b="0">
                <a:solidFill>
                  <a:srgbClr val="222222"/>
                </a:solidFill>
                <a:latin typeface="Arial"/>
                <a:ea typeface="Meiryo UI"/>
                <a:cs typeface="Meiryo UI"/>
              </a:rPr>
              <a:t>•  保証・リース返却の判断がSoH表示に依存 → 表示が古いと判断そのものが歪む</a:t>
            </a:r>
          </a:p>
          <a:p>
            <a:pPr>
              <a:spcAft>
                <a:spcPts val="400"/>
              </a:spcAft>
            </a:pPr>
            <a:r>
              <a:rPr sz="1200" b="0">
                <a:solidFill>
                  <a:srgbClr val="222222"/>
                </a:solidFill>
                <a:latin typeface="Arial"/>
                <a:ea typeface="Meiryo UI"/>
                <a:cs typeface="Meiryo UI"/>
              </a:rPr>
              <a:t>•  フリート管理(法人PC)では数千〜数万台規模で同じ歪みが累積する</a:t>
            </a:r>
          </a:p>
        </p:txBody>
      </p:sp>
      <p:sp>
        <p:nvSpPr>
          <p:cNvPr id="6" name="Rounded Rectangle 5"/>
          <p:cNvSpPr/>
          <p:nvPr/>
        </p:nvSpPr>
        <p:spPr>
          <a:xfrm>
            <a:off x="6400800" y="1051560"/>
            <a:ext cx="5303520" cy="960120"/>
          </a:xfrm>
          <a:prstGeom prst="roundRect">
            <a:avLst/>
          </a:prstGeom>
          <a:solidFill>
            <a:srgbClr val="1F375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実フリート 752台の実態（実バッテリ履歴あり）</a:t>
            </a:r>
          </a:p>
          <a:p>
            <a:pPr algn="ctr"/>
            <a:r>
              <a:rPr sz="950" b="0">
                <a:solidFill>
                  <a:srgbClr val="FFFFFF"/>
                </a:solidFill>
                <a:latin typeface="Arial"/>
                <a:ea typeface="Meiryo UI"/>
                <a:cs typeface="Meiryo UI"/>
              </a:rPr>
              <a:t>全1,808コレクション中、実履歴のある752台を全数解析（3,130,394サンプル）</a:t>
            </a:r>
          </a:p>
        </p:txBody>
      </p:sp>
      <p:sp>
        <p:nvSpPr>
          <p:cNvPr id="7" name="Rounded Rectangle 6"/>
          <p:cNvSpPr/>
          <p:nvPr/>
        </p:nvSpPr>
        <p:spPr>
          <a:xfrm>
            <a:off x="6400800" y="2194560"/>
            <a:ext cx="2560320" cy="1371600"/>
          </a:xfrm>
          <a:prstGeom prst="roundRect">
            <a:avLst/>
          </a:prstGeom>
          <a:solidFill>
            <a:srgbClr val="B05A00"/>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凍結 114台</a:t>
            </a:r>
            <a:br/>
            <a:r>
              <a:rPr sz="1200" b="1">
                <a:solidFill>
                  <a:srgbClr val="FFFFFF"/>
                </a:solidFill>
                <a:latin typeface="Arial"/>
                <a:ea typeface="Meiryo UI"/>
                <a:cs typeface="Meiryo UI"/>
              </a:rPr>
              <a:t>(15.2%)</a:t>
            </a:r>
          </a:p>
          <a:p>
            <a:pPr algn="ctr"/>
            <a:r>
              <a:rPr sz="950" b="0">
                <a:solidFill>
                  <a:srgbClr val="FFFFFF"/>
                </a:solidFill>
                <a:latin typeface="Arial"/>
                <a:ea typeface="Meiryo UI"/>
                <a:cs typeface="Meiryo UI"/>
              </a:rPr>
              <a:t>60日以上FCC更新なし</a:t>
            </a:r>
            <a:br/>
            <a:r>
              <a:rPr sz="950" b="0">
                <a:solidFill>
                  <a:srgbClr val="FFFFFF"/>
                </a:solidFill>
                <a:latin typeface="Arial"/>
                <a:ea typeface="Meiryo UI"/>
                <a:cs typeface="Meiryo UI"/>
              </a:rPr>
              <a:t>(stale 59 + very_stale 55)</a:t>
            </a:r>
          </a:p>
        </p:txBody>
      </p:sp>
      <p:sp>
        <p:nvSpPr>
          <p:cNvPr id="8" name="Rounded Rectangle 7"/>
          <p:cNvSpPr/>
          <p:nvPr/>
        </p:nvSpPr>
        <p:spPr>
          <a:xfrm>
            <a:off x="9144000" y="2194560"/>
            <a:ext cx="2560320" cy="1371600"/>
          </a:xfrm>
          <a:prstGeom prst="roundRect">
            <a:avLst/>
          </a:prstGeom>
          <a:solidFill>
            <a:srgbClr val="2CA02C"/>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使用で説明可</a:t>
            </a:r>
            <a:br/>
            <a:r>
              <a:rPr sz="1200" b="1">
                <a:solidFill>
                  <a:srgbClr val="FFFFFF"/>
                </a:solidFill>
                <a:latin typeface="Arial"/>
                <a:ea typeface="Meiryo UI"/>
                <a:cs typeface="Meiryo UI"/>
              </a:rPr>
              <a:t>44台</a:t>
            </a:r>
          </a:p>
          <a:p>
            <a:pPr algn="ctr"/>
            <a:r>
              <a:rPr sz="950" b="0">
                <a:solidFill>
                  <a:srgbClr val="FFFFFF"/>
                </a:solidFill>
                <a:latin typeface="Arial"/>
                <a:ea typeface="Meiryo UI"/>
                <a:cs typeface="Meiryo UI"/>
              </a:rPr>
              <a:t>常時AC 22 / 低サイクル 16</a:t>
            </a:r>
            <a:br/>
            <a:r>
              <a:rPr sz="950" b="0">
                <a:solidFill>
                  <a:srgbClr val="FFFFFF"/>
                </a:solidFill>
                <a:latin typeface="Arial"/>
                <a:ea typeface="Meiryo UI"/>
                <a:cs typeface="Meiryo UI"/>
              </a:rPr>
              <a:t>/ 浅放電 6</a:t>
            </a:r>
          </a:p>
        </p:txBody>
      </p:sp>
      <p:sp>
        <p:nvSpPr>
          <p:cNvPr id="9" name="Rounded Rectangle 8"/>
          <p:cNvSpPr/>
          <p:nvPr/>
        </p:nvSpPr>
        <p:spPr>
          <a:xfrm>
            <a:off x="6400800" y="3749039"/>
            <a:ext cx="5303520" cy="1325880"/>
          </a:xfrm>
          <a:prstGeom prst="roundRect">
            <a:avLst/>
          </a:prstGeom>
          <a:solidFill>
            <a:srgbClr val="C0392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説明不能（HW/FW疑い）70台</a:t>
            </a:r>
          </a:p>
          <a:p>
            <a:pPr algn="ctr"/>
            <a:r>
              <a:rPr sz="950" b="0">
                <a:solidFill>
                  <a:srgbClr val="FFFFFF"/>
                </a:solidFill>
                <a:latin typeface="Arial"/>
                <a:ea typeface="Meiryo UI"/>
                <a:cs typeface="Meiryo UI"/>
              </a:rPr>
              <a:t>activeより多くサイクルし(96.9 vs 65.7 cyc/yr)・深く放電(min RSOC=1)するのに凍結。行動・熱・ロギングでは説明不能。※『疑い』であり確定診断ではない(FWバージョンデータ不在)</a:t>
            </a:r>
          </a:p>
        </p:txBody>
      </p:sp>
      <p:sp>
        <p:nvSpPr>
          <p:cNvPr id="10" name="TextBox 9"/>
          <p:cNvSpPr txBox="1"/>
          <p:nvPr/>
        </p:nvSpPr>
        <p:spPr>
          <a:xfrm>
            <a:off x="502920" y="4754880"/>
            <a:ext cx="5577840" cy="1005840"/>
          </a:xfrm>
          <a:prstGeom prst="rect">
            <a:avLst/>
          </a:prstGeom>
          <a:noFill/>
        </p:spPr>
        <p:txBody>
          <a:bodyPr wrap="square">
            <a:spAutoFit/>
          </a:bodyPr>
          <a:lstStyle/>
          <a:p>
            <a:r>
              <a:rPr sz="1250" b="1">
                <a:solidFill>
                  <a:srgbClr val="1F375B"/>
                </a:solidFill>
                <a:latin typeface="Arial"/>
                <a:ea typeface="Meiryo UI"/>
                <a:cs typeface="Meiryo UI"/>
              </a:rPr>
              <a:t>→ 凍結は珍しくない(約15%)。しかも半分以上は使い方では説明できない。『どの個体に・どの対処を』を自動で仕分ける技術が必要。</a:t>
            </a:r>
          </a:p>
        </p:txBody>
      </p:sp>
      <p:sp>
        <p:nvSpPr>
          <p:cNvPr id="11" name="Rounded Rectangle 10"/>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『表示が動かない』個体が752台中114台。原因はユーザー起因〜FW疑いまで様々で、対処も違う。見分ける仕組みがないと保守が空回りする。</a:t>
            </a:r>
          </a:p>
        </p:txBody>
      </p:sp>
      <p:sp>
        <p:nvSpPr>
          <p:cNvPr id="12" name="TextBox 11"/>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3" name="TextBox 12"/>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用語定義 (1/2) — バッテリと学習機会</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36699"/>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用語定義</a:t>
            </a:r>
          </a:p>
        </p:txBody>
      </p:sp>
      <p:sp>
        <p:nvSpPr>
          <p:cNvPr id="5" name="TextBox 4"/>
          <p:cNvSpPr txBox="1"/>
          <p:nvPr/>
        </p:nvSpPr>
        <p:spPr>
          <a:xfrm>
            <a:off x="502920" y="914400"/>
            <a:ext cx="11182985" cy="4846320"/>
          </a:xfrm>
          <a:prstGeom prst="rect">
            <a:avLst/>
          </a:prstGeom>
          <a:noFill/>
        </p:spPr>
        <p:txBody>
          <a:bodyPr wrap="square">
            <a:spAutoFit/>
          </a:bodyPr>
          <a:lstStyle/>
          <a:p>
            <a:pPr>
              <a:spcAft>
                <a:spcPts val="400"/>
              </a:spcAft>
            </a:pPr>
            <a:r>
              <a:rPr sz="1250" b="1">
                <a:solidFill>
                  <a:srgbClr val="1F375B"/>
                </a:solidFill>
                <a:latin typeface="Arial"/>
                <a:ea typeface="Meiryo UI"/>
                <a:cs typeface="Meiryo UI"/>
              </a:rPr>
              <a:t>FCC（満充電容量）　</a:t>
            </a:r>
            <a:r>
              <a:rPr sz="1150" b="0">
                <a:solidFill>
                  <a:srgbClr val="222222"/>
                </a:solidFill>
                <a:latin typeface="Arial"/>
                <a:ea typeface="Meiryo UI"/>
                <a:cs typeface="Meiryo UI"/>
              </a:rPr>
              <a:t>燃料計が学習する『今の満充電容量』(mWh)。劣化で減る。充放電で段階的に再学習・更新。</a:t>
            </a:r>
          </a:p>
          <a:p>
            <a:pPr>
              <a:spcAft>
                <a:spcPts val="400"/>
              </a:spcAft>
            </a:pPr>
            <a:r>
              <a:rPr sz="1250" b="1">
                <a:solidFill>
                  <a:srgbClr val="1F375B"/>
                </a:solidFill>
                <a:latin typeface="Arial"/>
                <a:ea typeface="Meiryo UI"/>
                <a:cs typeface="Meiryo UI"/>
              </a:rPr>
              <a:t>FCC更新停止 / ゲージ凍結　</a:t>
            </a:r>
            <a:r>
              <a:rPr sz="1150" b="0">
                <a:solidFill>
                  <a:srgbClr val="222222"/>
                </a:solidFill>
                <a:latin typeface="Arial"/>
                <a:ea typeface="Meiryo UI"/>
                <a:cs typeface="Meiryo UI"/>
              </a:rPr>
              <a:t>FCCが長期間更新されない状態。SoH(=FCC×100/DesignCapacity)が動かなくなる。本技術の判定対象。</a:t>
            </a:r>
          </a:p>
          <a:p>
            <a:pPr>
              <a:spcAft>
                <a:spcPts val="400"/>
              </a:spcAft>
            </a:pPr>
            <a:r>
              <a:rPr sz="1250" b="1">
                <a:solidFill>
                  <a:srgbClr val="1F375B"/>
                </a:solidFill>
                <a:latin typeface="Arial"/>
                <a:ea typeface="Meiryo UI"/>
                <a:cs typeface="Meiryo UI"/>
              </a:rPr>
              <a:t>RSOC（相対残量, %）　</a:t>
            </a:r>
            <a:r>
              <a:rPr sz="1150" b="0">
                <a:solidFill>
                  <a:srgbClr val="222222"/>
                </a:solidFill>
                <a:latin typeface="Arial"/>
                <a:ea typeface="Meiryo UI"/>
                <a:cs typeface="Meiryo UI"/>
              </a:rPr>
              <a:t>= remainingCapacity/FCC×100。今の充電残量%。high=満充電付近、low=空付近。</a:t>
            </a:r>
          </a:p>
          <a:p>
            <a:pPr>
              <a:spcAft>
                <a:spcPts val="400"/>
              </a:spcAft>
            </a:pPr>
            <a:r>
              <a:rPr sz="1250" b="1">
                <a:solidFill>
                  <a:srgbClr val="1F375B"/>
                </a:solidFill>
                <a:latin typeface="Arial"/>
                <a:ea typeface="Meiryo UI"/>
                <a:cs typeface="Meiryo UI"/>
              </a:rPr>
              <a:t>学習機会 / エピソード　</a:t>
            </a:r>
            <a:r>
              <a:rPr sz="1150" b="0">
                <a:solidFill>
                  <a:srgbClr val="222222"/>
                </a:solidFill>
                <a:latin typeface="Arial"/>
                <a:ea typeface="Meiryo UI"/>
                <a:cs typeface="Meiryo UI"/>
              </a:rPr>
              <a:t>燃料計がFCCを再学習できる『深い放電→再充電』1サイクル。RSOCが high→low→high と動いた区間。</a:t>
            </a:r>
          </a:p>
          <a:p>
            <a:pPr>
              <a:spcAft>
                <a:spcPts val="400"/>
              </a:spcAft>
            </a:pPr>
            <a:r>
              <a:rPr sz="1250" b="1">
                <a:solidFill>
                  <a:srgbClr val="1F375B"/>
                </a:solidFill>
                <a:latin typeface="Arial"/>
                <a:ea typeface="Meiryo UI"/>
                <a:cs typeface="Meiryo UI"/>
              </a:rPr>
              <a:t>START / LOW / END　</a:t>
            </a:r>
            <a:r>
              <a:rPr sz="1150" b="0">
                <a:solidFill>
                  <a:srgbClr val="222222"/>
                </a:solidFill>
                <a:latin typeface="Arial"/>
                <a:ea typeface="Meiryo UI"/>
                <a:cs typeface="Meiryo UI"/>
              </a:rPr>
              <a:t>エピソードの 開始(高RSOC) / 谷(最深放電) / 終了(再び高RSOC=再充電完了)。END=機会の完了時刻。</a:t>
            </a:r>
          </a:p>
          <a:p>
            <a:pPr>
              <a:spcAft>
                <a:spcPts val="400"/>
              </a:spcAft>
            </a:pPr>
            <a:r>
              <a:rPr sz="1250" b="1">
                <a:solidFill>
                  <a:srgbClr val="1F375B"/>
                </a:solidFill>
                <a:latin typeface="Arial"/>
                <a:ea typeface="Meiryo UI"/>
                <a:cs typeface="Meiryo UI"/>
              </a:rPr>
              <a:t>有効ステップ（≥50mWh）　</a:t>
            </a:r>
            <a:r>
              <a:rPr sz="1150" b="0">
                <a:solidFill>
                  <a:srgbClr val="222222"/>
                </a:solidFill>
                <a:latin typeface="Arial"/>
                <a:ea typeface="Meiryo UI"/>
                <a:cs typeface="Meiryo UI"/>
              </a:rPr>
              <a:t>意味あるFCC更新=『学習応答』とみなす最小変化。量子化最小は10mWh。</a:t>
            </a:r>
          </a:p>
          <a:p>
            <a:pPr>
              <a:spcAft>
                <a:spcPts val="400"/>
              </a:spcAft>
            </a:pPr>
            <a:r>
              <a:rPr sz="1250" b="1">
                <a:solidFill>
                  <a:srgbClr val="1F375B"/>
                </a:solidFill>
                <a:latin typeface="Arial"/>
                <a:ea typeface="Meiryo UI"/>
                <a:cs typeface="Meiryo UI"/>
              </a:rPr>
              <a:t>micro-step（微小ステップ）　</a:t>
            </a:r>
            <a:r>
              <a:rPr sz="1150" b="0">
                <a:solidFill>
                  <a:srgbClr val="222222"/>
                </a:solidFill>
                <a:latin typeface="Arial"/>
                <a:ea typeface="Meiryo UI"/>
                <a:cs typeface="Meiryo UI"/>
              </a:rPr>
              <a:t>50mWh未満の微小なFCC変化。ノイズとは呼ばない(microはeffectiveより反転しにくい)が、学習応答とは区別する。</a:t>
            </a:r>
          </a:p>
          <a:p>
            <a:pPr>
              <a:spcAft>
                <a:spcPts val="400"/>
              </a:spcAft>
            </a:pPr>
            <a:r>
              <a:rPr sz="1250" b="1">
                <a:solidFill>
                  <a:srgbClr val="1F375B"/>
                </a:solidFill>
                <a:latin typeface="Arial"/>
                <a:ea typeface="Meiryo UI"/>
                <a:cs typeface="Meiryo UI"/>
              </a:rPr>
              <a:t>応答ステータス（END後72h窓）　</a:t>
            </a:r>
            <a:r>
              <a:rPr sz="1150" b="0">
                <a:solidFill>
                  <a:srgbClr val="222222"/>
                </a:solidFill>
                <a:latin typeface="Arial"/>
                <a:ea typeface="Meiryo UI"/>
                <a:cs typeface="Meiryo UI"/>
              </a:rPr>
              <a:t>responded=有効step有 / no_response=窓を全部観測したが無し / censored=窓の観測が途中で終了=保留(無応答に数えない)。</a:t>
            </a:r>
          </a:p>
          <a:p>
            <a:pPr>
              <a:spcAft>
                <a:spcPts val="400"/>
              </a:spcAft>
            </a:pPr>
            <a:r>
              <a:rPr sz="1250" b="1">
                <a:solidFill>
                  <a:srgbClr val="1F375B"/>
                </a:solidFill>
                <a:latin typeface="Arial"/>
                <a:ea typeface="Meiryo UI"/>
                <a:cs typeface="Meiryo UI"/>
              </a:rPr>
              <a:t>品質ティア　</a:t>
            </a:r>
            <a:r>
              <a:rPr sz="1150" b="0">
                <a:solidFill>
                  <a:srgbClr val="222222"/>
                </a:solidFill>
                <a:latin typeface="Arial"/>
                <a:ea typeface="Meiryo UI"/>
                <a:cs typeface="Meiryo UI"/>
              </a:rPr>
              <a:t>エピソードの観測品質 HIGH_OK / MEDIUM_GAP / LOW_LARGE_GAP。睡眠ギャップ等が大きい機会は証拠として使わない。</a:t>
            </a:r>
          </a:p>
        </p:txBody>
      </p:sp>
      <p:sp>
        <p:nvSpPr>
          <p:cNvPr id="6" name="Rounded Rectangle 5"/>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『テスト(機会)を受けたか』『答案(応答)を出したか』『試験中に停電(欠測)しなかったか』を区別するための言葉たち。</a:t>
            </a:r>
          </a:p>
        </p:txBody>
      </p:sp>
      <p:sp>
        <p:nvSpPr>
          <p:cNvPr id="7" name="TextBox 6"/>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8" name="TextBox 7"/>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用語定義 (2/2) — 検証手法と統計</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36699"/>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用語定義</a:t>
            </a:r>
          </a:p>
        </p:txBody>
      </p:sp>
      <p:sp>
        <p:nvSpPr>
          <p:cNvPr id="5" name="TextBox 4"/>
          <p:cNvSpPr txBox="1"/>
          <p:nvPr/>
        </p:nvSpPr>
        <p:spPr>
          <a:xfrm>
            <a:off x="502920" y="914400"/>
            <a:ext cx="11182985" cy="4846320"/>
          </a:xfrm>
          <a:prstGeom prst="rect">
            <a:avLst/>
          </a:prstGeom>
          <a:noFill/>
        </p:spPr>
        <p:txBody>
          <a:bodyPr wrap="square">
            <a:spAutoFit/>
          </a:bodyPr>
          <a:lstStyle/>
          <a:p>
            <a:pPr>
              <a:spcAft>
                <a:spcPts val="400"/>
              </a:spcAft>
            </a:pPr>
            <a:r>
              <a:rPr sz="1250" b="1">
                <a:solidFill>
                  <a:srgbClr val="1F375B"/>
                </a:solidFill>
                <a:latin typeface="Arial"/>
                <a:ea typeface="Meiryo UI"/>
                <a:cs typeface="Meiryo UI"/>
              </a:rPr>
              <a:t>対照 / ヌル分布(null)　</a:t>
            </a:r>
            <a:r>
              <a:rPr sz="1150" b="0">
                <a:solidFill>
                  <a:srgbClr val="222222"/>
                </a:solidFill>
                <a:latin typeface="Arial"/>
                <a:ea typeface="Meiryo UI"/>
                <a:cs typeface="Meiryo UI"/>
              </a:rPr>
              <a:t>効果が無い場合に期待される値の分布。実データがその95%区間の外なら『偶然では説明できない』と判断。</a:t>
            </a:r>
          </a:p>
          <a:p>
            <a:pPr>
              <a:spcAft>
                <a:spcPts val="400"/>
              </a:spcAft>
            </a:pPr>
            <a:r>
              <a:rPr sz="1250" b="1">
                <a:solidFill>
                  <a:srgbClr val="1F375B"/>
                </a:solidFill>
                <a:latin typeface="Arial"/>
                <a:ea typeface="Meiryo UI"/>
                <a:cs typeface="Meiryo UI"/>
              </a:rPr>
              <a:t>負の対照検定(A2)　</a:t>
            </a:r>
            <a:r>
              <a:rPr sz="1150" b="0">
                <a:solidFill>
                  <a:srgbClr val="222222"/>
                </a:solidFill>
                <a:latin typeface="Arial"/>
                <a:ea typeface="Meiryo UI"/>
                <a:cs typeface="Meiryo UI"/>
              </a:rPr>
              <a:t>機会END時刻をわざとズラした『ニセ機会』5種と比較し、応答が真の機会に特異かを検証。治験のプラセボに相当。</a:t>
            </a:r>
          </a:p>
          <a:p>
            <a:pPr>
              <a:spcAft>
                <a:spcPts val="400"/>
              </a:spcAft>
            </a:pPr>
            <a:r>
              <a:rPr sz="1250" b="1">
                <a:solidFill>
                  <a:srgbClr val="1F375B"/>
                </a:solidFill>
                <a:latin typeface="Arial"/>
                <a:ea typeface="Meiryo UI"/>
                <a:cs typeface="Meiryo UI"/>
              </a:rPr>
              <a:t>アンカー比較(A3)　</a:t>
            </a:r>
            <a:r>
              <a:rPr sz="1150" b="0">
                <a:solidFill>
                  <a:srgbClr val="222222"/>
                </a:solidFill>
                <a:latin typeface="Arial"/>
                <a:ea typeface="Meiryo UI"/>
                <a:cs typeface="Meiryo UI"/>
              </a:rPr>
              <a:t>応答の起点を START/LOW/END で比較し『因果汚染(=再充電完了前の変化を応答と誤計上)』を定量化。</a:t>
            </a:r>
          </a:p>
          <a:p>
            <a:pPr>
              <a:spcAft>
                <a:spcPts val="400"/>
              </a:spcAft>
            </a:pPr>
            <a:r>
              <a:rPr sz="1250" b="1">
                <a:solidFill>
                  <a:srgbClr val="1F375B"/>
                </a:solidFill>
                <a:latin typeface="Arial"/>
                <a:ea typeface="Meiryo UI"/>
                <a:cs typeface="Meiryo UI"/>
              </a:rPr>
              <a:t>応答ハザード(B)　</a:t>
            </a:r>
            <a:r>
              <a:rPr sz="1150" b="0">
                <a:solidFill>
                  <a:srgbClr val="222222"/>
                </a:solidFill>
                <a:latin typeface="Arial"/>
                <a:ea typeface="Meiryo UI"/>
                <a:cs typeface="Meiryo UI"/>
              </a:rPr>
              <a:t>機会ENDからの経過時間に対する累積応答率(CIF)を生存解析で推定。</a:t>
            </a:r>
          </a:p>
          <a:p>
            <a:pPr>
              <a:spcAft>
                <a:spcPts val="400"/>
              </a:spcAft>
            </a:pPr>
            <a:r>
              <a:rPr sz="1250" b="1">
                <a:solidFill>
                  <a:srgbClr val="1F375B"/>
                </a:solidFill>
                <a:latin typeface="Arial"/>
                <a:ea typeface="Meiryo UI"/>
                <a:cs typeface="Meiryo UI"/>
              </a:rPr>
              <a:t>欠測ストレス(E) / 保持グリッド(D)　</a:t>
            </a:r>
            <a:r>
              <a:rPr sz="1150" b="0">
                <a:solidFill>
                  <a:srgbClr val="222222"/>
                </a:solidFill>
                <a:latin typeface="Arial"/>
                <a:ea typeface="Meiryo UI"/>
                <a:cs typeface="Meiryo UI"/>
              </a:rPr>
              <a:t>E=欠測・打ち切りを人工注入し誤判定耐性を検証 / D=生データ保持を短くしても全期間版と等価か検証。</a:t>
            </a:r>
          </a:p>
          <a:p>
            <a:pPr>
              <a:spcAft>
                <a:spcPts val="400"/>
              </a:spcAft>
            </a:pPr>
            <a:r>
              <a:rPr sz="1250" b="1">
                <a:solidFill>
                  <a:srgbClr val="1F375B"/>
                </a:solidFill>
                <a:latin typeface="Arial"/>
                <a:ea typeface="Meiryo UI"/>
                <a:cs typeface="Meiryo UI"/>
              </a:rPr>
              <a:t>user-bootstrap　</a:t>
            </a:r>
            <a:r>
              <a:rPr sz="1150" b="0">
                <a:solidFill>
                  <a:srgbClr val="222222"/>
                </a:solidFill>
                <a:latin typeface="Arial"/>
                <a:ea typeface="Meiryo UI"/>
                <a:cs typeface="Meiryo UI"/>
              </a:rPr>
              <a:t>ユーザ単位で再標本して信頼区間を計算。同一ユーザの複数機会を独立扱いしない(ばらつきの過小評価を防ぐ)。</a:t>
            </a:r>
          </a:p>
          <a:p>
            <a:pPr>
              <a:spcAft>
                <a:spcPts val="400"/>
              </a:spcAft>
            </a:pPr>
            <a:r>
              <a:rPr sz="1250" b="1">
                <a:solidFill>
                  <a:srgbClr val="1F375B"/>
                </a:solidFill>
                <a:latin typeface="Arial"/>
                <a:ea typeface="Meiryo UI"/>
                <a:cs typeface="Meiryo UI"/>
              </a:rPr>
              <a:t>dual-track / 非対称リセット　</a:t>
            </a:r>
            <a:r>
              <a:rPr sz="1150" b="0">
                <a:solidFill>
                  <a:srgbClr val="222222"/>
                </a:solidFill>
                <a:latin typeface="Arial"/>
                <a:ea typeface="Meiryo UI"/>
                <a:cs typeface="Meiryo UI"/>
              </a:rPr>
              <a:t>any(全変化)とeffective(≥50mWh)を別系統で追跡。微小変化はany系統のみリセットしeffective証拠は保持。</a:t>
            </a:r>
          </a:p>
          <a:p>
            <a:pPr>
              <a:spcAft>
                <a:spcPts val="400"/>
              </a:spcAft>
            </a:pPr>
            <a:r>
              <a:rPr sz="1250" b="1">
                <a:solidFill>
                  <a:srgbClr val="1F375B"/>
                </a:solidFill>
                <a:latin typeface="Arial"/>
                <a:ea typeface="Meiryo UI"/>
                <a:cs typeface="Meiryo UI"/>
              </a:rPr>
              <a:t>stateful / stateless　</a:t>
            </a:r>
            <a:r>
              <a:rPr sz="1150" b="0">
                <a:solidFill>
                  <a:srgbClr val="222222"/>
                </a:solidFill>
                <a:latin typeface="Arial"/>
                <a:ea typeface="Meiryo UI"/>
                <a:cs typeface="Meiryo UI"/>
              </a:rPr>
              <a:t>永続状態(台帳)あり/なし。statefulは保持窓をまたぐ証拠を状態で回収できる。</a:t>
            </a:r>
          </a:p>
          <a:p>
            <a:pPr>
              <a:spcAft>
                <a:spcPts val="400"/>
              </a:spcAft>
            </a:pPr>
            <a:r>
              <a:rPr sz="1250" b="1">
                <a:solidFill>
                  <a:srgbClr val="1F375B"/>
                </a:solidFill>
                <a:latin typeface="Arial"/>
                <a:ea typeface="Meiryo UI"/>
                <a:cs typeface="Meiryo UI"/>
              </a:rPr>
              <a:t>AUC　</a:t>
            </a:r>
            <a:r>
              <a:rPr sz="1150" b="0">
                <a:solidFill>
                  <a:srgbClr val="222222"/>
                </a:solidFill>
                <a:latin typeface="Arial"/>
                <a:ea typeface="Meiryo UI"/>
                <a:cs typeface="Meiryo UI"/>
              </a:rPr>
              <a:t>判別力の点数。1.0=完璧、0.5=コイン投げと同じ。0.54は『ほぼ偶然』の意味。</a:t>
            </a:r>
          </a:p>
          <a:p>
            <a:pPr>
              <a:spcAft>
                <a:spcPts val="400"/>
              </a:spcAft>
            </a:pPr>
            <a:r>
              <a:rPr sz="1250" b="1">
                <a:solidFill>
                  <a:srgbClr val="1F375B"/>
                </a:solidFill>
                <a:latin typeface="Arial"/>
                <a:ea typeface="Meiryo UI"/>
                <a:cs typeface="Meiryo UI"/>
              </a:rPr>
              <a:t>proxyラベル　</a:t>
            </a:r>
            <a:r>
              <a:rPr sz="1150" b="0">
                <a:solidFill>
                  <a:srgbClr val="222222"/>
                </a:solidFill>
                <a:latin typeface="Arial"/>
                <a:ea typeface="Meiryo UI"/>
                <a:cs typeface="Meiryo UI"/>
              </a:rPr>
              <a:t>地上真実(実際の故障確定)が無いため、別ロジック(本番システム)の出力を仮の正解として使ったもの。</a:t>
            </a:r>
          </a:p>
        </p:txBody>
      </p:sp>
      <p:sp>
        <p:nvSpPr>
          <p:cNvPr id="6" name="Rounded Rectangle 5"/>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検証はすべて『偶然・欠測・データ制約に騙されていないか』を突く設計。UNVERIFIED/NOT AVAILABLE/proxyの3語は正直さの目印。</a:t>
            </a:r>
          </a:p>
        </p:txBody>
      </p:sp>
      <p:sp>
        <p:nvSpPr>
          <p:cNvPr id="7" name="TextBox 6"/>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8" name="TextBox 7"/>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本来の目的と、なぜ難しいか</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§3 Part1 ─ 本題</a:t>
            </a:r>
          </a:p>
        </p:txBody>
      </p:sp>
      <p:sp>
        <p:nvSpPr>
          <p:cNvPr id="5" name="TextBox 4"/>
          <p:cNvSpPr txBox="1"/>
          <p:nvPr/>
        </p:nvSpPr>
        <p:spPr>
          <a:xfrm>
            <a:off x="548640" y="1005840"/>
            <a:ext cx="5486400" cy="4572000"/>
          </a:xfrm>
          <a:prstGeom prst="rect">
            <a:avLst/>
          </a:prstGeom>
          <a:noFill/>
        </p:spPr>
        <p:txBody>
          <a:bodyPr wrap="square">
            <a:spAutoFit/>
          </a:bodyPr>
          <a:lstStyle/>
          <a:p>
            <a:r>
              <a:rPr sz="1500" b="1">
                <a:solidFill>
                  <a:srgbClr val="1F77B4"/>
                </a:solidFill>
                <a:latin typeface="Arial"/>
                <a:ea typeface="Meiryo UI"/>
                <a:cs typeface="Meiryo UI"/>
              </a:rPr>
              <a:t>目的</a:t>
            </a:r>
          </a:p>
          <a:p>
            <a:r>
              <a:rPr sz="1250" b="0">
                <a:latin typeface="Arial"/>
                <a:ea typeface="Meiryo UI"/>
                <a:cs typeface="Meiryo UI"/>
              </a:rPr>
              <a:t>テレメトリ(RSOC・FCC・サイクル・時刻)だけから、FCCを再学習しなくなった個体(ゲージ凍結)をフリート規模で正しく判定する。</a:t>
            </a:r>
          </a:p>
          <a:p>
            <a:pPr>
              <a:spcBef>
                <a:spcPts val="1000"/>
              </a:spcBef>
            </a:pPr>
            <a:r>
              <a:rPr sz="1500" b="1">
                <a:solidFill>
                  <a:srgbClr val="1F77B4"/>
                </a:solidFill>
                <a:latin typeface="Arial"/>
                <a:ea typeface="Meiryo UI"/>
                <a:cs typeface="Meiryo UI"/>
              </a:rPr>
              <a:t>なぜ難しいか</a:t>
            </a:r>
          </a:p>
          <a:p>
            <a:pPr>
              <a:spcAft>
                <a:spcPts val="400"/>
              </a:spcAft>
            </a:pPr>
            <a:r>
              <a:rPr sz="1200" b="0">
                <a:solidFill>
                  <a:srgbClr val="222222"/>
                </a:solidFill>
                <a:latin typeface="Arial"/>
                <a:ea typeface="Meiryo UI"/>
                <a:cs typeface="Meiryo UI"/>
              </a:rPr>
              <a:t>•  静的検査では区別不能: FCCが動かない理由が『浅い充放電で正常』か『要再較正』か『FW/HW起因』か判別できない</a:t>
            </a:r>
          </a:p>
          <a:p>
            <a:pPr>
              <a:spcAft>
                <a:spcPts val="400"/>
              </a:spcAft>
            </a:pPr>
            <a:r>
              <a:rPr sz="1200" b="0">
                <a:solidFill>
                  <a:srgbClr val="222222"/>
                </a:solidFill>
                <a:latin typeface="Arial"/>
                <a:ea typeface="Meiryo UI"/>
                <a:cs typeface="Meiryo UI"/>
              </a:rPr>
              <a:t>•  欠測・睡眠ギャップ・記録打ち切り: データの穴を『無応答』と誤判定しやすい</a:t>
            </a:r>
          </a:p>
          <a:p>
            <a:pPr>
              <a:spcAft>
                <a:spcPts val="400"/>
              </a:spcAft>
            </a:pPr>
            <a:r>
              <a:rPr sz="1200" b="0">
                <a:solidFill>
                  <a:srgbClr val="222222"/>
                </a:solidFill>
                <a:latin typeface="Arial"/>
                <a:ea typeface="Meiryo UI"/>
                <a:cs typeface="Meiryo UI"/>
              </a:rPr>
              <a:t>•  生データ保持が有界: 直近30日しか残せない等の制約で、過去の証拠が失われる</a:t>
            </a:r>
          </a:p>
          <a:p>
            <a:pPr>
              <a:spcAft>
                <a:spcPts val="400"/>
              </a:spcAft>
            </a:pPr>
            <a:r>
              <a:rPr sz="1200" b="0">
                <a:solidFill>
                  <a:srgbClr val="222222"/>
                </a:solidFill>
                <a:latin typeface="Arial"/>
                <a:ea typeface="Meiryo UI"/>
                <a:cs typeface="Meiryo UI"/>
              </a:rPr>
              <a:t>•  機種非依存が必須: 機種名でハードコードすると過学習・汎化不能</a:t>
            </a:r>
          </a:p>
        </p:txBody>
      </p:sp>
      <p:sp>
        <p:nvSpPr>
          <p:cNvPr id="6" name="Rounded Rectangle 5"/>
          <p:cNvSpPr/>
          <p:nvPr/>
        </p:nvSpPr>
        <p:spPr>
          <a:xfrm>
            <a:off x="6400800" y="1371600"/>
            <a:ext cx="5303520" cy="1737360"/>
          </a:xfrm>
          <a:prstGeom prst="roundRect">
            <a:avLst/>
          </a:prstGeom>
          <a:solidFill>
            <a:srgbClr val="1F77B4"/>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FCCが動かない = ?</a:t>
            </a:r>
          </a:p>
          <a:p>
            <a:pPr algn="ctr"/>
            <a:r>
              <a:rPr sz="950" b="0">
                <a:solidFill>
                  <a:srgbClr val="FFFFFF"/>
                </a:solidFill>
                <a:latin typeface="Arial"/>
                <a:ea typeface="Meiryo UI"/>
                <a:cs typeface="Meiryo UI"/>
              </a:rPr>
              <a:t>静的検査では下の3つを区別できない</a:t>
            </a:r>
          </a:p>
        </p:txBody>
      </p:sp>
      <p:sp>
        <p:nvSpPr>
          <p:cNvPr id="7" name="Rounded Rectangle 6"/>
          <p:cNvSpPr/>
          <p:nvPr/>
        </p:nvSpPr>
        <p:spPr>
          <a:xfrm>
            <a:off x="6400800" y="3383280"/>
            <a:ext cx="1691640" cy="1188720"/>
          </a:xfrm>
          <a:prstGeom prst="roundRect">
            <a:avLst/>
          </a:prstGeom>
          <a:solidFill>
            <a:srgbClr val="2CA02C"/>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正常</a:t>
            </a:r>
            <a:br/>
            <a:r>
              <a:rPr sz="1200" b="1">
                <a:solidFill>
                  <a:srgbClr val="FFFFFF"/>
                </a:solidFill>
                <a:latin typeface="Arial"/>
                <a:ea typeface="Meiryo UI"/>
                <a:cs typeface="Meiryo UI"/>
              </a:rPr>
              <a:t>(浅充放電)</a:t>
            </a:r>
          </a:p>
        </p:txBody>
      </p:sp>
      <p:sp>
        <p:nvSpPr>
          <p:cNvPr id="8" name="Rounded Rectangle 7"/>
          <p:cNvSpPr/>
          <p:nvPr/>
        </p:nvSpPr>
        <p:spPr>
          <a:xfrm>
            <a:off x="8229600" y="3383280"/>
            <a:ext cx="1691640" cy="1188720"/>
          </a:xfrm>
          <a:prstGeom prst="roundRect">
            <a:avLst/>
          </a:prstGeom>
          <a:solidFill>
            <a:srgbClr val="B05A00"/>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要再較正</a:t>
            </a:r>
            <a:br/>
            <a:r>
              <a:rPr sz="1200" b="1">
                <a:solidFill>
                  <a:srgbClr val="FFFFFF"/>
                </a:solidFill>
                <a:latin typeface="Arial"/>
                <a:ea typeface="Meiryo UI"/>
                <a:cs typeface="Meiryo UI"/>
              </a:rPr>
              <a:t>(ゲージ)</a:t>
            </a:r>
          </a:p>
        </p:txBody>
      </p:sp>
      <p:sp>
        <p:nvSpPr>
          <p:cNvPr id="9" name="Rounded Rectangle 8"/>
          <p:cNvSpPr/>
          <p:nvPr/>
        </p:nvSpPr>
        <p:spPr>
          <a:xfrm>
            <a:off x="10058400" y="3383280"/>
            <a:ext cx="1691640" cy="1188720"/>
          </a:xfrm>
          <a:prstGeom prst="roundRect">
            <a:avLst/>
          </a:prstGeom>
          <a:solidFill>
            <a:srgbClr val="C0392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FW/HW</a:t>
            </a:r>
            <a:br/>
            <a:r>
              <a:rPr sz="1200" b="1">
                <a:solidFill>
                  <a:srgbClr val="FFFFFF"/>
                </a:solidFill>
                <a:latin typeface="Arial"/>
                <a:ea typeface="Meiryo UI"/>
                <a:cs typeface="Meiryo UI"/>
              </a:rPr>
              <a:t>起因</a:t>
            </a:r>
          </a:p>
        </p:txBody>
      </p:sp>
      <p:sp>
        <p:nvSpPr>
          <p:cNvPr id="10" name="Rounded Rectangle 9"/>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『FCCが動かない』という結果は同じでも原因は3通り。原因ごとに正しい対処(何もしない/較正を促す/FW調査)が違う。</a:t>
            </a:r>
          </a:p>
        </p:txBody>
      </p:sp>
      <p:sp>
        <p:nvSpPr>
          <p:cNvPr id="11" name="TextBox 10"/>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2" name="TextBox 11"/>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失敗した素朴アプローチ → 発想の転換</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§3 Part1 ─ 本題</a:t>
            </a:r>
          </a:p>
        </p:txBody>
      </p:sp>
      <p:sp>
        <p:nvSpPr>
          <p:cNvPr id="5" name="TextBox 4"/>
          <p:cNvSpPr txBox="1"/>
          <p:nvPr/>
        </p:nvSpPr>
        <p:spPr>
          <a:xfrm>
            <a:off x="548640" y="960120"/>
            <a:ext cx="7498079" cy="2286000"/>
          </a:xfrm>
          <a:prstGeom prst="rect">
            <a:avLst/>
          </a:prstGeom>
          <a:noFill/>
        </p:spPr>
        <p:txBody>
          <a:bodyPr wrap="square">
            <a:spAutoFit/>
          </a:bodyPr>
          <a:lstStyle/>
          <a:p>
            <a:r>
              <a:rPr sz="1400" b="1">
                <a:solidFill>
                  <a:srgbClr val="1F375B"/>
                </a:solidFill>
                <a:latin typeface="Arial"/>
                <a:ea typeface="Meiryo UI"/>
                <a:cs typeface="Meiryo UI"/>
              </a:rPr>
              <a:t>『使用挙動から凍結を予測』しようとしたが、解けなかった:</a:t>
            </a:r>
          </a:p>
          <a:p>
            <a:pPr>
              <a:spcAft>
                <a:spcPts val="400"/>
              </a:spcAft>
            </a:pPr>
            <a:r>
              <a:rPr sz="1250" b="0">
                <a:solidFill>
                  <a:srgbClr val="222222"/>
                </a:solidFill>
                <a:latin typeface="Arial"/>
                <a:ea typeface="Meiryo UI"/>
                <a:cs typeface="Meiryo UI"/>
              </a:rPr>
              <a:t>•  教師あり予測(33特徴量, 公平比較領域 obs≥180d): AUC 0.535/0.540 — ほぼランダム</a:t>
            </a:r>
          </a:p>
          <a:p>
            <a:pPr>
              <a:spcAft>
                <a:spcPts val="400"/>
              </a:spcAft>
            </a:pPr>
            <a:r>
              <a:rPr sz="1250" b="0">
                <a:solidFill>
                  <a:srgbClr val="222222"/>
                </a:solidFill>
                <a:latin typeface="Arial"/>
                <a:ea typeface="Meiryo UI"/>
                <a:cs typeface="Meiryo UI"/>
              </a:rPr>
              <a:t>•  FCC履歴を除いた規範ML(異常スコア): AUC 0.5584 — near-random</a:t>
            </a:r>
          </a:p>
          <a:p>
            <a:pPr>
              <a:spcAft>
                <a:spcPts val="400"/>
              </a:spcAft>
            </a:pPr>
            <a:r>
              <a:rPr sz="1250" b="0">
                <a:solidFill>
                  <a:srgbClr val="222222"/>
                </a:solidFill>
                <a:latin typeface="Arial"/>
                <a:ea typeface="Meiryo UI"/>
                <a:cs typeface="Meiryo UI"/>
              </a:rPr>
              <a:t>•  最重要特徴 min_rsoc は『深放電ほど凍結』という反usage方向(交絡) → 『予測』では解けない</a:t>
            </a:r>
          </a:p>
        </p:txBody>
      </p:sp>
      <p:sp>
        <p:nvSpPr>
          <p:cNvPr id="6" name="Rounded Rectangle 5"/>
          <p:cNvSpPr/>
          <p:nvPr/>
        </p:nvSpPr>
        <p:spPr>
          <a:xfrm>
            <a:off x="8321040" y="1051560"/>
            <a:ext cx="3429000" cy="1920240"/>
          </a:xfrm>
          <a:prstGeom prst="roundRect">
            <a:avLst/>
          </a:prstGeom>
          <a:solidFill>
            <a:srgbClr val="336699"/>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AUCとは</a:t>
            </a:r>
          </a:p>
          <a:p>
            <a:pPr algn="ctr"/>
            <a:r>
              <a:rPr sz="1050" b="0">
                <a:solidFill>
                  <a:srgbClr val="FFFFFF"/>
                </a:solidFill>
                <a:latin typeface="Arial"/>
                <a:ea typeface="Meiryo UI"/>
                <a:cs typeface="Meiryo UI"/>
              </a:rPr>
              <a:t>判別力の点数。1.0=完璧、</a:t>
            </a:r>
            <a:br/>
            <a:r>
              <a:rPr sz="1050" b="0">
                <a:solidFill>
                  <a:srgbClr val="FFFFFF"/>
                </a:solidFill>
                <a:latin typeface="Arial"/>
                <a:ea typeface="Meiryo UI"/>
                <a:cs typeface="Meiryo UI"/>
              </a:rPr>
              <a:t>0.5=コイン投げと同じ。</a:t>
            </a:r>
            <a:br/>
            <a:r>
              <a:rPr sz="1050" b="0">
                <a:solidFill>
                  <a:srgbClr val="FFFFFF"/>
                </a:solidFill>
                <a:latin typeface="Arial"/>
                <a:ea typeface="Meiryo UI"/>
                <a:cs typeface="Meiryo UI"/>
              </a:rPr>
              <a:t>0.54は『ほぼ偶然』のレベル。</a:t>
            </a:r>
          </a:p>
        </p:txBody>
      </p:sp>
      <p:sp>
        <p:nvSpPr>
          <p:cNvPr id="7" name="Rounded Rectangle 6"/>
          <p:cNvSpPr/>
          <p:nvPr/>
        </p:nvSpPr>
        <p:spPr>
          <a:xfrm>
            <a:off x="914400" y="3520440"/>
            <a:ext cx="4389120" cy="1554480"/>
          </a:xfrm>
          <a:prstGeom prst="roundRect">
            <a:avLst/>
          </a:prstGeom>
          <a:solidFill>
            <a:srgbClr val="555555"/>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予測アプローチ（失敗）</a:t>
            </a:r>
          </a:p>
          <a:p>
            <a:pPr algn="ctr"/>
            <a:r>
              <a:rPr sz="950" b="0">
                <a:solidFill>
                  <a:srgbClr val="FFFFFF"/>
                </a:solidFill>
                <a:latin typeface="Arial"/>
                <a:ea typeface="Meiryo UI"/>
                <a:cs typeface="Meiryo UI"/>
              </a:rPr>
              <a:t>使用挙動 → 凍結を機械学習で予測</a:t>
            </a:r>
            <a:br/>
            <a:r>
              <a:rPr sz="950" b="0">
                <a:solidFill>
                  <a:srgbClr val="FFFFFF"/>
                </a:solidFill>
                <a:latin typeface="Arial"/>
                <a:ea typeface="Meiryo UI"/>
                <a:cs typeface="Meiryo UI"/>
              </a:rPr>
              <a:t>AUC≈0.54(公平領域) / 0.56(規範)</a:t>
            </a:r>
          </a:p>
        </p:txBody>
      </p:sp>
      <p:cxnSp>
        <p:nvCxnSpPr>
          <p:cNvPr id="8" name="Connector 7"/>
          <p:cNvCxnSpPr/>
          <p:nvPr/>
        </p:nvCxnSpPr>
        <p:spPr>
          <a:xfrm>
            <a:off x="5486400" y="4297680"/>
            <a:ext cx="1188720" cy="0"/>
          </a:xfrm>
          <a:prstGeom prst="line">
            <a:avLst/>
          </a:prstGeom>
          <a:ln w="38100">
            <a:solidFill>
              <a:srgbClr val="1F37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766560" y="3520440"/>
            <a:ext cx="4846320" cy="1554480"/>
          </a:xfrm>
          <a:prstGeom prst="roundRect">
            <a:avLst/>
          </a:prstGeom>
          <a:solidFill>
            <a:srgbClr val="2CA02C"/>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機械的監査アプローチ（提案）</a:t>
            </a:r>
          </a:p>
          <a:p>
            <a:pPr algn="ctr"/>
            <a:r>
              <a:rPr sz="950" b="0">
                <a:solidFill>
                  <a:srgbClr val="FFFFFF"/>
                </a:solidFill>
                <a:latin typeface="Arial"/>
                <a:ea typeface="Meiryo UI"/>
                <a:cs typeface="Meiryo UI"/>
              </a:rPr>
              <a:t>『学習機会があったのに応答したか?』を</a:t>
            </a:r>
            <a:br/>
            <a:r>
              <a:rPr sz="950" b="0">
                <a:solidFill>
                  <a:srgbClr val="FFFFFF"/>
                </a:solidFill>
                <a:latin typeface="Arial"/>
                <a:ea typeface="Meiryo UI"/>
                <a:cs typeface="Meiryo UI"/>
              </a:rPr>
              <a:t>機会END起点で因果的に監査(決定論カウンタ)</a:t>
            </a:r>
          </a:p>
        </p:txBody>
      </p:sp>
      <p:sp>
        <p:nvSpPr>
          <p:cNvPr id="10" name="TextBox 9"/>
          <p:cNvSpPr txBox="1"/>
          <p:nvPr/>
        </p:nvSpPr>
        <p:spPr>
          <a:xfrm>
            <a:off x="548640" y="5257800"/>
            <a:ext cx="11091545" cy="548640"/>
          </a:xfrm>
          <a:prstGeom prst="rect">
            <a:avLst/>
          </a:prstGeom>
          <a:noFill/>
        </p:spPr>
        <p:txBody>
          <a:bodyPr wrap="square">
            <a:spAutoFit/>
          </a:bodyPr>
          <a:lstStyle/>
          <a:p>
            <a:r>
              <a:rPr sz="1300" b="1">
                <a:solidFill>
                  <a:srgbClr val="2CA02C"/>
                </a:solidFill>
                <a:latin typeface="Arial"/>
                <a:ea typeface="Meiryo UI"/>
                <a:cs typeface="Meiryo UI"/>
              </a:rPr>
              <a:t>発想転換: 『凍結を当てる』のではなく『再学習する“機会”に対して実際に応答したかを機械的に監査する』。本技術の核。</a:t>
            </a:r>
          </a:p>
        </p:txBody>
      </p:sp>
      <p:sp>
        <p:nvSpPr>
          <p:cNvPr id="11" name="Rounded Rectangle 10"/>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壊れそうかをAIに予言させるのは失敗(コイン投げ並み)。『チャンスに応えたか』を出席簿のように数える方式に切り替えたら解けた。</a:t>
            </a:r>
          </a:p>
        </p:txBody>
      </p:sp>
      <p:sp>
        <p:nvSpPr>
          <p:cNvPr id="12" name="TextBox 11"/>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3" name="TextBox 12"/>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提案手法の全体像 — テレメトリから判定までの流れ</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§3 Part1 ─ 本題</a:t>
            </a:r>
          </a:p>
        </p:txBody>
      </p:sp>
      <p:sp>
        <p:nvSpPr>
          <p:cNvPr id="5" name="TextBox 4"/>
          <p:cNvSpPr txBox="1"/>
          <p:nvPr/>
        </p:nvSpPr>
        <p:spPr>
          <a:xfrm>
            <a:off x="365760" y="932688"/>
            <a:ext cx="11430000" cy="1051560"/>
          </a:xfrm>
          <a:prstGeom prst="rect">
            <a:avLst/>
          </a:prstGeom>
          <a:noFill/>
        </p:spPr>
        <p:txBody>
          <a:bodyPr wrap="square">
            <a:spAutoFit/>
          </a:bodyPr>
          <a:lstStyle/>
          <a:p>
            <a:r>
              <a:rPr sz="1250" b="1">
                <a:solidFill>
                  <a:srgbClr val="1F375B"/>
                </a:solidFill>
                <a:latin typeface="Arial"/>
                <a:ea typeface="Meiryo UI"/>
                <a:cs typeface="Meiryo UI"/>
              </a:rPr>
              <a:t>入力: テレメトリ(RSOC / FCC / cycleCount / timestamp) のみ。ハードウェア識別子(機種名・ベンダー・FRU)は判定に使わない(機種非依存)。</a:t>
            </a:r>
          </a:p>
          <a:p>
            <a:r>
              <a:rPr sz="1200" b="0">
                <a:latin typeface="Arial"/>
                <a:ea typeface="Meiryo UI"/>
                <a:cs typeface="Meiryo UI"/>
              </a:rPr>
              <a:t>出力: 各ユーザを NORMAL / ゲージ再較正候補 / FW確認候補 / 監視 / 判定保留(データ品質) に振り分け。①〜⑤の各段が後述の特許候補に対応。</a:t>
            </a:r>
          </a:p>
        </p:txBody>
      </p:sp>
      <p:sp>
        <p:nvSpPr>
          <p:cNvPr id="6" name="Rounded Rectangle 5"/>
          <p:cNvSpPr/>
          <p:nvPr/>
        </p:nvSpPr>
        <p:spPr>
          <a:xfrm>
            <a:off x="320040" y="2423160"/>
            <a:ext cx="2157984" cy="1554480"/>
          </a:xfrm>
          <a:prstGeom prst="roundRect">
            <a:avLst/>
          </a:prstGeom>
          <a:solidFill>
            <a:srgbClr val="1F77B4"/>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① 学習機会の抽出</a:t>
            </a:r>
          </a:p>
          <a:p>
            <a:pPr algn="ctr"/>
            <a:r>
              <a:rPr sz="950" b="0">
                <a:solidFill>
                  <a:srgbClr val="FFFFFF"/>
                </a:solidFill>
                <a:latin typeface="Arial"/>
                <a:ea typeface="Meiryo UI"/>
                <a:cs typeface="Meiryo UI"/>
              </a:rPr>
              <a:t>RSOC high→low→high</a:t>
            </a:r>
            <a:br/>
            <a:r>
              <a:rPr sz="950" b="0">
                <a:solidFill>
                  <a:srgbClr val="FFFFFF"/>
                </a:solidFill>
                <a:latin typeface="Arial"/>
                <a:ea typeface="Meiryo UI"/>
                <a:cs typeface="Meiryo UI"/>
              </a:rPr>
              <a:t>(深放電→再充電)</a:t>
            </a:r>
          </a:p>
        </p:txBody>
      </p:sp>
      <p:cxnSp>
        <p:nvCxnSpPr>
          <p:cNvPr id="7" name="Connector 6"/>
          <p:cNvCxnSpPr/>
          <p:nvPr/>
        </p:nvCxnSpPr>
        <p:spPr>
          <a:xfrm>
            <a:off x="2478024" y="3200400"/>
            <a:ext cx="109728" cy="0"/>
          </a:xfrm>
          <a:prstGeom prst="line">
            <a:avLst/>
          </a:prstGeom>
          <a:ln w="31750">
            <a:solidFill>
              <a:srgbClr val="1F37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587752" y="2423160"/>
            <a:ext cx="2157984" cy="1554480"/>
          </a:xfrm>
          <a:prstGeom prst="roundRect">
            <a:avLst/>
          </a:prstGeom>
          <a:solidFill>
            <a:srgbClr val="2E6E6A"/>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② END起点で応答監査</a:t>
            </a:r>
          </a:p>
          <a:p>
            <a:pPr algn="ctr"/>
            <a:r>
              <a:rPr sz="950" b="0">
                <a:solidFill>
                  <a:srgbClr val="FFFFFF"/>
                </a:solidFill>
                <a:latin typeface="Arial"/>
                <a:ea typeface="Meiryo UI"/>
                <a:cs typeface="Meiryo UI"/>
              </a:rPr>
              <a:t>再充電完了後72h窓の</a:t>
            </a:r>
            <a:br/>
            <a:r>
              <a:rPr sz="950" b="0">
                <a:solidFill>
                  <a:srgbClr val="FFFFFF"/>
                </a:solidFill>
                <a:latin typeface="Arial"/>
                <a:ea typeface="Meiryo UI"/>
                <a:cs typeface="Meiryo UI"/>
              </a:rPr>
              <a:t>有効ステップ≥50mWh</a:t>
            </a:r>
          </a:p>
        </p:txBody>
      </p:sp>
      <p:cxnSp>
        <p:nvCxnSpPr>
          <p:cNvPr id="9" name="Connector 8"/>
          <p:cNvCxnSpPr/>
          <p:nvPr/>
        </p:nvCxnSpPr>
        <p:spPr>
          <a:xfrm>
            <a:off x="4745736" y="3200400"/>
            <a:ext cx="109728" cy="0"/>
          </a:xfrm>
          <a:prstGeom prst="line">
            <a:avLst/>
          </a:prstGeom>
          <a:ln w="31750">
            <a:solidFill>
              <a:srgbClr val="1F37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55464" y="2423160"/>
            <a:ext cx="2157984" cy="1554480"/>
          </a:xfrm>
          <a:prstGeom prst="roundRect">
            <a:avLst/>
          </a:prstGeom>
          <a:solidFill>
            <a:srgbClr val="B05A00"/>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③ 欠測/打ち切り耐性</a:t>
            </a:r>
          </a:p>
          <a:p>
            <a:pPr algn="ctr"/>
            <a:r>
              <a:rPr sz="950" b="0">
                <a:solidFill>
                  <a:srgbClr val="FFFFFF"/>
                </a:solidFill>
                <a:latin typeface="Arial"/>
                <a:ea typeface="Meiryo UI"/>
                <a:cs typeface="Meiryo UI"/>
              </a:rPr>
              <a:t>段階品質ティア+</a:t>
            </a:r>
            <a:br/>
            <a:r>
              <a:rPr sz="950" b="0">
                <a:solidFill>
                  <a:srgbClr val="FFFFFF"/>
                </a:solidFill>
                <a:latin typeface="Arial"/>
                <a:ea typeface="Meiryo UI"/>
                <a:cs typeface="Meiryo UI"/>
              </a:rPr>
              <a:t>censored除外</a:t>
            </a:r>
          </a:p>
        </p:txBody>
      </p:sp>
      <p:cxnSp>
        <p:nvCxnSpPr>
          <p:cNvPr id="11" name="Connector 10"/>
          <p:cNvCxnSpPr/>
          <p:nvPr/>
        </p:nvCxnSpPr>
        <p:spPr>
          <a:xfrm>
            <a:off x="7013448" y="3200400"/>
            <a:ext cx="109728" cy="0"/>
          </a:xfrm>
          <a:prstGeom prst="line">
            <a:avLst/>
          </a:prstGeom>
          <a:ln w="31750">
            <a:solidFill>
              <a:srgbClr val="1F37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123176" y="2423160"/>
            <a:ext cx="2157984" cy="1554480"/>
          </a:xfrm>
          <a:prstGeom prst="roundRect">
            <a:avLst/>
          </a:prstGeom>
          <a:solidFill>
            <a:srgbClr val="6A3D8A"/>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④ 二分岐トリアージ</a:t>
            </a:r>
          </a:p>
          <a:p>
            <a:pPr algn="ctr"/>
            <a:r>
              <a:rPr sz="950" b="0">
                <a:solidFill>
                  <a:srgbClr val="FFFFFF"/>
                </a:solidFill>
                <a:latin typeface="Arial"/>
                <a:ea typeface="Meiryo UI"/>
                <a:cs typeface="Meiryo UI"/>
              </a:rPr>
              <a:t>機会反復×無応答→FW</a:t>
            </a:r>
            <a:br/>
            <a:r>
              <a:rPr sz="950" b="0">
                <a:solidFill>
                  <a:srgbClr val="FFFFFF"/>
                </a:solidFill>
                <a:latin typeface="Arial"/>
                <a:ea typeface="Meiryo UI"/>
                <a:cs typeface="Meiryo UI"/>
              </a:rPr>
              <a:t>機会皆無→ゲージ再較正</a:t>
            </a:r>
          </a:p>
        </p:txBody>
      </p:sp>
      <p:cxnSp>
        <p:nvCxnSpPr>
          <p:cNvPr id="13" name="Connector 12"/>
          <p:cNvCxnSpPr/>
          <p:nvPr/>
        </p:nvCxnSpPr>
        <p:spPr>
          <a:xfrm>
            <a:off x="9281160" y="3200400"/>
            <a:ext cx="109728" cy="0"/>
          </a:xfrm>
          <a:prstGeom prst="line">
            <a:avLst/>
          </a:prstGeom>
          <a:ln w="31750">
            <a:solidFill>
              <a:srgbClr val="1F37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390888" y="2423160"/>
            <a:ext cx="2157984" cy="1554480"/>
          </a:xfrm>
          <a:prstGeom prst="roundRect">
            <a:avLst/>
          </a:prstGeom>
          <a:solidFill>
            <a:srgbClr val="1F375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⑤ 有界保持で証拠保全</a:t>
            </a:r>
          </a:p>
          <a:p>
            <a:pPr algn="ctr"/>
            <a:r>
              <a:rPr sz="950" b="0">
                <a:solidFill>
                  <a:srgbClr val="FFFFFF"/>
                </a:solidFill>
                <a:latin typeface="Arial"/>
                <a:ea typeface="Meiryo UI"/>
                <a:cs typeface="Meiryo UI"/>
              </a:rPr>
              <a:t>最小状態の因果台帳</a:t>
            </a:r>
            <a:br/>
            <a:r>
              <a:rPr sz="950" b="0">
                <a:solidFill>
                  <a:srgbClr val="FFFFFF"/>
                </a:solidFill>
                <a:latin typeface="Arial"/>
                <a:ea typeface="Meiryo UI"/>
                <a:cs typeface="Meiryo UI"/>
              </a:rPr>
              <a:t>(30日保持で全期間等価)</a:t>
            </a:r>
          </a:p>
        </p:txBody>
      </p:sp>
      <p:sp>
        <p:nvSpPr>
          <p:cNvPr id="15" name="TextBox 14"/>
          <p:cNvSpPr txBox="1"/>
          <p:nvPr/>
        </p:nvSpPr>
        <p:spPr>
          <a:xfrm>
            <a:off x="365760" y="4251960"/>
            <a:ext cx="11430000" cy="1463040"/>
          </a:xfrm>
          <a:prstGeom prst="rect">
            <a:avLst/>
          </a:prstGeom>
          <a:noFill/>
        </p:spPr>
        <p:txBody>
          <a:bodyPr wrap="square">
            <a:spAutoFit/>
          </a:bodyPr>
          <a:lstStyle/>
          <a:p>
            <a:pPr>
              <a:spcAft>
                <a:spcPts val="400"/>
              </a:spcAft>
            </a:pPr>
            <a:r>
              <a:rPr sz="1250" b="0">
                <a:solidFill>
                  <a:srgbClr val="555555"/>
                </a:solidFill>
                <a:latin typeface="Arial"/>
                <a:ea typeface="Meiryo UI"/>
                <a:cs typeface="Meiryo UI"/>
              </a:rPr>
              <a:t>•  ①+③+④ → 特許候補①（機会条件付き無応答監査・中核判定法）</a:t>
            </a:r>
          </a:p>
          <a:p>
            <a:pPr>
              <a:spcAft>
                <a:spcPts val="400"/>
              </a:spcAft>
            </a:pPr>
            <a:r>
              <a:rPr sz="1250" b="0">
                <a:solidFill>
                  <a:srgbClr val="555555"/>
                </a:solidFill>
                <a:latin typeface="Arial"/>
                <a:ea typeface="Meiryo UI"/>
                <a:cs typeface="Meiryo UI"/>
              </a:rPr>
              <a:t>•  ②(微小変化の扱い) → 特許候補②（デュアルトラック非対称リセット状態機械）</a:t>
            </a:r>
          </a:p>
          <a:p>
            <a:pPr>
              <a:spcAft>
                <a:spcPts val="400"/>
              </a:spcAft>
            </a:pPr>
            <a:r>
              <a:rPr sz="1250" b="0">
                <a:solidFill>
                  <a:srgbClr val="555555"/>
                </a:solidFill>
                <a:latin typeface="Arial"/>
                <a:ea typeface="Meiryo UI"/>
                <a:cs typeface="Meiryo UI"/>
              </a:rPr>
              <a:t>•  ⑤(保持制約下の証拠保全) → 特許候補③（有界保持の因果証拠台帳・最小状態）</a:t>
            </a:r>
          </a:p>
        </p:txBody>
      </p:sp>
      <p:sp>
        <p:nvSpPr>
          <p:cNvPr id="16" name="Rounded Rectangle 15"/>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5段のパイプライン=1つの判定技術。その中の『核になる工夫』3つが、そのまま特許候補①②③になっている。</a:t>
            </a:r>
          </a:p>
        </p:txBody>
      </p:sp>
      <p:sp>
        <p:nvSpPr>
          <p:cNvPr id="17" name="TextBox 16"/>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8" name="TextBox 17"/>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仕組み図解A — 学習機会と『END起点72h監査』</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2E6E6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§3 Part1 ─ 図解</a:t>
            </a:r>
          </a:p>
        </p:txBody>
      </p:sp>
      <p:cxnSp>
        <p:nvCxnSpPr>
          <p:cNvPr id="5" name="Connector 4"/>
          <p:cNvCxnSpPr/>
          <p:nvPr/>
        </p:nvCxnSpPr>
        <p:spPr>
          <a:xfrm>
            <a:off x="640080" y="5257800"/>
            <a:ext cx="6080760" cy="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640080" y="1325880"/>
            <a:ext cx="0" cy="393192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35040" y="5285232"/>
            <a:ext cx="1097280" cy="274320"/>
          </a:xfrm>
          <a:prstGeom prst="rect">
            <a:avLst/>
          </a:prstGeom>
          <a:noFill/>
        </p:spPr>
        <p:txBody>
          <a:bodyPr wrap="square">
            <a:spAutoFit/>
          </a:bodyPr>
          <a:lstStyle/>
          <a:p>
            <a:r>
              <a:rPr sz="1000" b="0">
                <a:solidFill>
                  <a:srgbClr val="555555"/>
                </a:solidFill>
                <a:latin typeface="Arial"/>
                <a:ea typeface="Meiryo UI"/>
                <a:cs typeface="Meiryo UI"/>
              </a:rPr>
              <a:t>時間 →</a:t>
            </a:r>
          </a:p>
        </p:txBody>
      </p:sp>
      <p:sp>
        <p:nvSpPr>
          <p:cNvPr id="8" name="TextBox 7"/>
          <p:cNvSpPr txBox="1"/>
          <p:nvPr/>
        </p:nvSpPr>
        <p:spPr>
          <a:xfrm>
            <a:off x="365760" y="1033272"/>
            <a:ext cx="1463040" cy="274320"/>
          </a:xfrm>
          <a:prstGeom prst="rect">
            <a:avLst/>
          </a:prstGeom>
          <a:noFill/>
        </p:spPr>
        <p:txBody>
          <a:bodyPr wrap="square">
            <a:spAutoFit/>
          </a:bodyPr>
          <a:lstStyle/>
          <a:p>
            <a:r>
              <a:rPr sz="1000" b="0">
                <a:solidFill>
                  <a:srgbClr val="555555"/>
                </a:solidFill>
                <a:latin typeface="Arial"/>
                <a:ea typeface="Meiryo UI"/>
                <a:cs typeface="Meiryo UI"/>
              </a:rPr>
              <a:t>RSOC (%)</a:t>
            </a:r>
          </a:p>
        </p:txBody>
      </p:sp>
      <p:cxnSp>
        <p:nvCxnSpPr>
          <p:cNvPr id="9" name="Connector 8"/>
          <p:cNvCxnSpPr/>
          <p:nvPr/>
        </p:nvCxnSpPr>
        <p:spPr>
          <a:xfrm>
            <a:off x="640080" y="2148840"/>
            <a:ext cx="5943600" cy="0"/>
          </a:xfrm>
          <a:prstGeom prst="line">
            <a:avLst/>
          </a:prstGeom>
          <a:ln w="12700">
            <a:solidFill>
              <a:srgbClr val="555555"/>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40080" y="4526280"/>
            <a:ext cx="5943600" cy="0"/>
          </a:xfrm>
          <a:prstGeom prst="line">
            <a:avLst/>
          </a:prstGeom>
          <a:ln w="12700">
            <a:solidFill>
              <a:srgbClr val="555555"/>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 y="1892808"/>
            <a:ext cx="914400" cy="228600"/>
          </a:xfrm>
          <a:prstGeom prst="rect">
            <a:avLst/>
          </a:prstGeom>
          <a:noFill/>
        </p:spPr>
        <p:txBody>
          <a:bodyPr wrap="square">
            <a:spAutoFit/>
          </a:bodyPr>
          <a:lstStyle/>
          <a:p>
            <a:r>
              <a:rPr sz="950" b="0">
                <a:solidFill>
                  <a:srgbClr val="555555"/>
                </a:solidFill>
                <a:latin typeface="Arial"/>
                <a:ea typeface="Meiryo UI"/>
                <a:cs typeface="Meiryo UI"/>
              </a:rPr>
              <a:t>80%</a:t>
            </a:r>
          </a:p>
        </p:txBody>
      </p:sp>
      <p:sp>
        <p:nvSpPr>
          <p:cNvPr id="12" name="TextBox 11"/>
          <p:cNvSpPr txBox="1"/>
          <p:nvPr/>
        </p:nvSpPr>
        <p:spPr>
          <a:xfrm>
            <a:off x="658368" y="4270248"/>
            <a:ext cx="914400" cy="228600"/>
          </a:xfrm>
          <a:prstGeom prst="rect">
            <a:avLst/>
          </a:prstGeom>
          <a:noFill/>
        </p:spPr>
        <p:txBody>
          <a:bodyPr wrap="square">
            <a:spAutoFit/>
          </a:bodyPr>
          <a:lstStyle/>
          <a:p>
            <a:r>
              <a:rPr sz="950" b="0">
                <a:solidFill>
                  <a:srgbClr val="555555"/>
                </a:solidFill>
                <a:latin typeface="Arial"/>
                <a:ea typeface="Meiryo UI"/>
                <a:cs typeface="Meiryo UI"/>
              </a:rPr>
              <a:t>20%</a:t>
            </a:r>
          </a:p>
        </p:txBody>
      </p:sp>
      <p:sp>
        <p:nvSpPr>
          <p:cNvPr id="13" name="Rectangle 12"/>
          <p:cNvSpPr/>
          <p:nvPr/>
        </p:nvSpPr>
        <p:spPr>
          <a:xfrm>
            <a:off x="4709160" y="1554480"/>
            <a:ext cx="1600200" cy="3566160"/>
          </a:xfrm>
          <a:prstGeom prst="rect">
            <a:avLst/>
          </a:prstGeom>
          <a:solidFill>
            <a:srgbClr val="E4F0E4"/>
          </a:solidFill>
          <a:ln>
            <a:solidFill>
              <a:srgbClr val="2CA02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64024" y="1581912"/>
            <a:ext cx="1645920" cy="502920"/>
          </a:xfrm>
          <a:prstGeom prst="rect">
            <a:avLst/>
          </a:prstGeom>
          <a:noFill/>
        </p:spPr>
        <p:txBody>
          <a:bodyPr wrap="square">
            <a:spAutoFit/>
          </a:bodyPr>
          <a:lstStyle/>
          <a:p>
            <a:r>
              <a:rPr sz="950" b="1">
                <a:solidFill>
                  <a:srgbClr val="376B3A"/>
                </a:solidFill>
                <a:latin typeface="Arial"/>
                <a:ea typeface="Meiryo UI"/>
                <a:cs typeface="Meiryo UI"/>
              </a:rPr>
              <a:t>監査窓</a:t>
            </a:r>
            <a:br/>
            <a:r>
              <a:rPr sz="950" b="1">
                <a:solidFill>
                  <a:srgbClr val="376B3A"/>
                </a:solidFill>
                <a:latin typeface="Arial"/>
                <a:ea typeface="Meiryo UI"/>
                <a:cs typeface="Meiryo UI"/>
              </a:rPr>
              <a:t>[END, END+72h]</a:t>
            </a:r>
          </a:p>
        </p:txBody>
      </p:sp>
      <p:cxnSp>
        <p:nvCxnSpPr>
          <p:cNvPr id="15" name="Connector 14"/>
          <p:cNvCxnSpPr/>
          <p:nvPr/>
        </p:nvCxnSpPr>
        <p:spPr>
          <a:xfrm>
            <a:off x="960120" y="2011680"/>
            <a:ext cx="1097280" cy="0"/>
          </a:xfrm>
          <a:prstGeom prst="line">
            <a:avLst/>
          </a:prstGeom>
          <a:ln w="34925">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57400" y="2011680"/>
            <a:ext cx="1280160" cy="2834640"/>
          </a:xfrm>
          <a:prstGeom prst="line">
            <a:avLst/>
          </a:prstGeom>
          <a:ln w="34925">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337560" y="4846320"/>
            <a:ext cx="365760" cy="0"/>
          </a:xfrm>
          <a:prstGeom prst="line">
            <a:avLst/>
          </a:prstGeom>
          <a:ln w="34925">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703320" y="2011680"/>
            <a:ext cx="1005840" cy="2834640"/>
          </a:xfrm>
          <a:prstGeom prst="line">
            <a:avLst/>
          </a:prstGeom>
          <a:ln w="34925">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709160" y="2011680"/>
            <a:ext cx="1691640" cy="0"/>
          </a:xfrm>
          <a:prstGeom prst="line">
            <a:avLst/>
          </a:prstGeom>
          <a:ln w="34925">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340864" y="1645920"/>
            <a:ext cx="0" cy="3520440"/>
          </a:xfrm>
          <a:prstGeom prst="line">
            <a:avLst/>
          </a:prstGeom>
          <a:ln w="15875">
            <a:solidFill>
              <a:srgbClr val="1F375B"/>
            </a:solidFill>
            <a:prstDash val="sysDot"/>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883664" y="5212080"/>
            <a:ext cx="1554480" cy="274320"/>
          </a:xfrm>
          <a:prstGeom prst="rect">
            <a:avLst/>
          </a:prstGeom>
          <a:noFill/>
        </p:spPr>
        <p:txBody>
          <a:bodyPr wrap="square">
            <a:spAutoFit/>
          </a:bodyPr>
          <a:lstStyle/>
          <a:p>
            <a:r>
              <a:rPr sz="950" b="1">
                <a:solidFill>
                  <a:srgbClr val="1F375B"/>
                </a:solidFill>
                <a:latin typeface="Arial"/>
                <a:ea typeface="Meiryo UI"/>
                <a:cs typeface="Meiryo UI"/>
              </a:rPr>
              <a:t>START</a:t>
            </a:r>
          </a:p>
        </p:txBody>
      </p:sp>
      <p:cxnSp>
        <p:nvCxnSpPr>
          <p:cNvPr id="22" name="Connector 21"/>
          <p:cNvCxnSpPr/>
          <p:nvPr/>
        </p:nvCxnSpPr>
        <p:spPr>
          <a:xfrm>
            <a:off x="3520440" y="1645920"/>
            <a:ext cx="0" cy="3520440"/>
          </a:xfrm>
          <a:prstGeom prst="line">
            <a:avLst/>
          </a:prstGeom>
          <a:ln w="15875">
            <a:solidFill>
              <a:srgbClr val="1F375B"/>
            </a:solidFill>
            <a:prstDash val="sysDot"/>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63240" y="5212080"/>
            <a:ext cx="1554480" cy="274320"/>
          </a:xfrm>
          <a:prstGeom prst="rect">
            <a:avLst/>
          </a:prstGeom>
          <a:noFill/>
        </p:spPr>
        <p:txBody>
          <a:bodyPr wrap="square">
            <a:spAutoFit/>
          </a:bodyPr>
          <a:lstStyle/>
          <a:p>
            <a:r>
              <a:rPr sz="950" b="1">
                <a:solidFill>
                  <a:srgbClr val="1F375B"/>
                </a:solidFill>
                <a:latin typeface="Arial"/>
                <a:ea typeface="Meiryo UI"/>
                <a:cs typeface="Meiryo UI"/>
              </a:rPr>
              <a:t>LOW(谷)</a:t>
            </a:r>
          </a:p>
        </p:txBody>
      </p:sp>
      <p:cxnSp>
        <p:nvCxnSpPr>
          <p:cNvPr id="24" name="Connector 23"/>
          <p:cNvCxnSpPr/>
          <p:nvPr/>
        </p:nvCxnSpPr>
        <p:spPr>
          <a:xfrm>
            <a:off x="4709160" y="1645920"/>
            <a:ext cx="0" cy="3520440"/>
          </a:xfrm>
          <a:prstGeom prst="line">
            <a:avLst/>
          </a:prstGeom>
          <a:ln w="15875">
            <a:solidFill>
              <a:srgbClr val="376B3A"/>
            </a:solidFill>
            <a:prstDash val="sysDot"/>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251960" y="5212080"/>
            <a:ext cx="1554480" cy="274320"/>
          </a:xfrm>
          <a:prstGeom prst="rect">
            <a:avLst/>
          </a:prstGeom>
          <a:noFill/>
        </p:spPr>
        <p:txBody>
          <a:bodyPr wrap="square">
            <a:spAutoFit/>
          </a:bodyPr>
          <a:lstStyle/>
          <a:p>
            <a:r>
              <a:rPr sz="950" b="1">
                <a:solidFill>
                  <a:srgbClr val="376B3A"/>
                </a:solidFill>
                <a:latin typeface="Arial"/>
                <a:ea typeface="Meiryo UI"/>
                <a:cs typeface="Meiryo UI"/>
              </a:rPr>
              <a:t>END=機会完了</a:t>
            </a:r>
          </a:p>
        </p:txBody>
      </p:sp>
      <p:sp>
        <p:nvSpPr>
          <p:cNvPr id="26" name="Rounded Rectangle 25"/>
          <p:cNvSpPr/>
          <p:nvPr/>
        </p:nvSpPr>
        <p:spPr>
          <a:xfrm>
            <a:off x="7040880" y="1234440"/>
            <a:ext cx="4800600" cy="1051560"/>
          </a:xfrm>
          <a:prstGeom prst="roundRect">
            <a:avLst/>
          </a:prstGeom>
          <a:solidFill>
            <a:srgbClr val="2CA02C"/>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responded（応答）</a:t>
            </a:r>
          </a:p>
          <a:p>
            <a:pPr algn="ctr"/>
            <a:r>
              <a:rPr sz="1000" b="0">
                <a:solidFill>
                  <a:srgbClr val="FFFFFF"/>
                </a:solidFill>
                <a:latin typeface="Arial"/>
                <a:ea typeface="Meiryo UI"/>
                <a:cs typeface="Meiryo UI"/>
              </a:rPr>
              <a:t>監査窓内に有効ステップ(≥50mWh)を観測 → ゲージは学習している(健全寄り)</a:t>
            </a:r>
          </a:p>
        </p:txBody>
      </p:sp>
      <p:sp>
        <p:nvSpPr>
          <p:cNvPr id="27" name="Rounded Rectangle 26"/>
          <p:cNvSpPr/>
          <p:nvPr/>
        </p:nvSpPr>
        <p:spPr>
          <a:xfrm>
            <a:off x="7040880" y="2468880"/>
            <a:ext cx="4800600" cy="1051560"/>
          </a:xfrm>
          <a:prstGeom prst="roundRect">
            <a:avLst/>
          </a:prstGeom>
          <a:solidFill>
            <a:srgbClr val="C0392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no_response（無応答）</a:t>
            </a:r>
          </a:p>
          <a:p>
            <a:pPr algn="ctr"/>
            <a:r>
              <a:rPr sz="1000" b="0">
                <a:solidFill>
                  <a:srgbClr val="FFFFFF"/>
                </a:solidFill>
                <a:latin typeface="Arial"/>
                <a:ea typeface="Meiryo UI"/>
                <a:cs typeface="Meiryo UI"/>
              </a:rPr>
              <a:t>窓[END, END+72h]を最後まで観測したのに有効ステップ無し → 無応答の証拠として計数</a:t>
            </a:r>
          </a:p>
        </p:txBody>
      </p:sp>
      <p:sp>
        <p:nvSpPr>
          <p:cNvPr id="28" name="Rounded Rectangle 27"/>
          <p:cNvSpPr/>
          <p:nvPr/>
        </p:nvSpPr>
        <p:spPr>
          <a:xfrm>
            <a:off x="7040880" y="3703320"/>
            <a:ext cx="4800600" cy="1188720"/>
          </a:xfrm>
          <a:prstGeom prst="roundRect">
            <a:avLst/>
          </a:prstGeom>
          <a:solidFill>
            <a:srgbClr val="555555"/>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censored（打ち切り=保留）</a:t>
            </a:r>
          </a:p>
          <a:p>
            <a:pPr algn="ctr"/>
            <a:r>
              <a:rPr sz="1000" b="0">
                <a:solidFill>
                  <a:srgbClr val="FFFFFF"/>
                </a:solidFill>
                <a:latin typeface="Arial"/>
                <a:ea typeface="Meiryo UI"/>
                <a:cs typeface="Meiryo UI"/>
              </a:rPr>
              <a:t>窓の観測が途中で終わった(データがそこで尽きた等) → 無応答に数えない。</a:t>
            </a:r>
            <a:br/>
            <a:r>
              <a:rPr sz="1000" b="0">
                <a:solidFill>
                  <a:srgbClr val="FFFFFF"/>
                </a:solidFill>
                <a:latin typeface="Arial"/>
                <a:ea typeface="Meiryo UI"/>
                <a:cs typeface="Meiryo UI"/>
              </a:rPr>
              <a:t>期限は『窓を全部観測できたとき』だけ発火(未来情報も使わない)</a:t>
            </a:r>
          </a:p>
        </p:txBody>
      </p:sp>
      <p:sp>
        <p:nvSpPr>
          <p:cNvPr id="29" name="TextBox 28"/>
          <p:cNvSpPr txBox="1"/>
          <p:nvPr/>
        </p:nvSpPr>
        <p:spPr>
          <a:xfrm>
            <a:off x="7040880" y="5029200"/>
            <a:ext cx="4800600" cy="731520"/>
          </a:xfrm>
          <a:prstGeom prst="rect">
            <a:avLst/>
          </a:prstGeom>
          <a:noFill/>
        </p:spPr>
        <p:txBody>
          <a:bodyPr wrap="square">
            <a:spAutoFit/>
          </a:bodyPr>
          <a:lstStyle/>
          <a:p>
            <a:r>
              <a:rPr sz="1050" b="0">
                <a:solidFill>
                  <a:srgbClr val="222222"/>
                </a:solidFill>
                <a:latin typeface="Arial"/>
                <a:ea typeface="Meiryo UI"/>
                <a:cs typeface="Meiryo UI"/>
              </a:rPr>
              <a:t>起点をSTARTにすると『放電途中のFCC変化』まで応答に誤計上される(56%汚染)。ENDなら構造的に0%(根拠②)。</a:t>
            </a:r>
          </a:p>
        </p:txBody>
      </p:sp>
      <p:sp>
        <p:nvSpPr>
          <p:cNvPr id="30" name="Rounded Rectangle 29"/>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採点は試験が終わって(END)から72時間だけ。途中退室(censored)は不合格に数えない — この2つの規律が誤判定を防ぐ。</a:t>
            </a:r>
          </a:p>
        </p:txBody>
      </p:sp>
      <p:sp>
        <p:nvSpPr>
          <p:cNvPr id="31" name="TextBox 30"/>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32" name="TextBox 31"/>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実フリート752台での判定結果 — 全履歴監査と30日オンライン運用</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§3 Part1 ─ 結果</a:t>
            </a:r>
          </a:p>
        </p:txBody>
      </p:sp>
      <p:sp>
        <p:nvSpPr>
          <p:cNvPr id="5" name="TextBox 4"/>
          <p:cNvSpPr txBox="1"/>
          <p:nvPr/>
        </p:nvSpPr>
        <p:spPr>
          <a:xfrm>
            <a:off x="457200" y="896112"/>
            <a:ext cx="5486400" cy="320040"/>
          </a:xfrm>
          <a:prstGeom prst="rect">
            <a:avLst/>
          </a:prstGeom>
          <a:noFill/>
        </p:spPr>
        <p:txBody>
          <a:bodyPr wrap="square">
            <a:spAutoFit/>
          </a:bodyPr>
          <a:lstStyle/>
          <a:p>
            <a:r>
              <a:rPr sz="1250" b="1">
                <a:solidFill>
                  <a:srgbClr val="1F375B"/>
                </a:solidFill>
                <a:latin typeface="Arial"/>
                <a:ea typeface="Meiryo UI"/>
                <a:cs typeface="Meiryo UI"/>
              </a:rPr>
              <a:t>A. 全履歴監査（回顧的・v2.0-final、proxyラベルの供給源）</a:t>
            </a:r>
          </a:p>
        </p:txBody>
      </p:sp>
      <p:graphicFrame>
        <p:nvGraphicFramePr>
          <p:cNvPr id="6" name="Table 5"/>
          <p:cNvGraphicFramePr>
            <a:graphicFrameLocks noGrp="1"/>
          </p:cNvGraphicFramePr>
          <p:nvPr/>
        </p:nvGraphicFramePr>
        <p:xfrm>
          <a:off x="457200" y="1261872"/>
          <a:ext cx="5486399" cy="2304288"/>
        </p:xfrm>
        <a:graphic>
          <a:graphicData uri="http://schemas.openxmlformats.org/drawingml/2006/table">
            <a:tbl>
              <a:tblPr firstRow="1" bandRow="1">
                <a:tableStyleId>{5C22544A-7EE6-4342-B048-85BDC9FD1C3A}</a:tableStyleId>
              </a:tblPr>
              <a:tblGrid>
                <a:gridCol w="3977639"/>
                <a:gridCol w="731520"/>
                <a:gridCol w="777240"/>
              </a:tblGrid>
              <a:tr h="384048">
                <a:tc>
                  <a:txBody>
                    <a:bodyPr/>
                    <a:lstStyle/>
                    <a:p>
                      <a:r>
                        <a:rPr sz="1100" b="1">
                          <a:solidFill>
                            <a:srgbClr val="FFFFFF"/>
                          </a:solidFill>
                          <a:latin typeface="Arial"/>
                          <a:ea typeface="Meiryo UI"/>
                          <a:cs typeface="Meiryo UI"/>
                        </a:rPr>
                        <a:t>最終ラベル</a:t>
                      </a:r>
                    </a:p>
                  </a:txBody>
                  <a:tcPr>
                    <a:solidFill>
                      <a:srgbClr val="1E0113"/>
                    </a:solidFill>
                  </a:tcPr>
                </a:tc>
                <a:tc>
                  <a:txBody>
                    <a:bodyPr/>
                    <a:lstStyle/>
                    <a:p>
                      <a:r>
                        <a:rPr sz="1100" b="1">
                          <a:solidFill>
                            <a:srgbClr val="FFFFFF"/>
                          </a:solidFill>
                          <a:latin typeface="Arial"/>
                          <a:ea typeface="Meiryo UI"/>
                          <a:cs typeface="Meiryo UI"/>
                        </a:rPr>
                        <a:t>件数</a:t>
                      </a:r>
                    </a:p>
                  </a:txBody>
                  <a:tcPr>
                    <a:solidFill>
                      <a:srgbClr val="1E0113"/>
                    </a:solidFill>
                  </a:tcPr>
                </a:tc>
                <a:tc>
                  <a:txBody>
                    <a:bodyPr/>
                    <a:lstStyle/>
                    <a:p>
                      <a:r>
                        <a:rPr sz="1100" b="1">
                          <a:solidFill>
                            <a:srgbClr val="FFFFFF"/>
                          </a:solidFill>
                          <a:latin typeface="Arial"/>
                          <a:ea typeface="Meiryo UI"/>
                          <a:cs typeface="Meiryo UI"/>
                        </a:rPr>
                        <a:t>割合</a:t>
                      </a:r>
                    </a:p>
                  </a:txBody>
                  <a:tcPr>
                    <a:solidFill>
                      <a:srgbClr val="1E0113"/>
                    </a:solidFill>
                  </a:tcPr>
                </a:tc>
              </a:tr>
              <a:tr h="384048">
                <a:tc>
                  <a:txBody>
                    <a:bodyPr/>
                    <a:lstStyle/>
                    <a:p>
                      <a:r>
                        <a:rPr sz="1000" b="0">
                          <a:solidFill>
                            <a:srgbClr val="222222"/>
                          </a:solidFill>
                          <a:latin typeface="Arial"/>
                          <a:ea typeface="Meiryo UI"/>
                          <a:cs typeface="Meiryo UI"/>
                        </a:rPr>
                        <a:t>NORMAL_OR_RESPONDING（正常/応答中）</a:t>
                      </a:r>
                    </a:p>
                  </a:txBody>
                  <a:tcPr>
                    <a:solidFill>
                      <a:srgbClr val="EEF2F7"/>
                    </a:solidFill>
                  </a:tcPr>
                </a:tc>
                <a:tc>
                  <a:txBody>
                    <a:bodyPr/>
                    <a:lstStyle/>
                    <a:p>
                      <a:r>
                        <a:rPr sz="1000" b="1">
                          <a:solidFill>
                            <a:srgbClr val="222222"/>
                          </a:solidFill>
                          <a:latin typeface="Arial"/>
                          <a:ea typeface="Meiryo UI"/>
                          <a:cs typeface="Meiryo UI"/>
                        </a:rPr>
                        <a:t>327</a:t>
                      </a:r>
                    </a:p>
                  </a:txBody>
                  <a:tcPr>
                    <a:solidFill>
                      <a:srgbClr val="EEF2F7"/>
                    </a:solidFill>
                  </a:tcPr>
                </a:tc>
                <a:tc>
                  <a:txBody>
                    <a:bodyPr/>
                    <a:lstStyle/>
                    <a:p>
                      <a:r>
                        <a:rPr sz="1000" b="1">
                          <a:solidFill>
                            <a:srgbClr val="222222"/>
                          </a:solidFill>
                          <a:latin typeface="Arial"/>
                          <a:ea typeface="Meiryo UI"/>
                          <a:cs typeface="Meiryo UI"/>
                        </a:rPr>
                        <a:t>43.5%</a:t>
                      </a:r>
                    </a:p>
                  </a:txBody>
                  <a:tcPr>
                    <a:solidFill>
                      <a:srgbClr val="EEF2F7"/>
                    </a:solidFill>
                  </a:tcPr>
                </a:tc>
              </a:tr>
              <a:tr h="384048">
                <a:tc>
                  <a:txBody>
                    <a:bodyPr/>
                    <a:lstStyle/>
                    <a:p>
                      <a:r>
                        <a:rPr sz="1000" b="0">
                          <a:solidFill>
                            <a:srgbClr val="222222"/>
                          </a:solidFill>
                          <a:latin typeface="Arial"/>
                          <a:ea typeface="Meiryo UI"/>
                          <a:cs typeface="Meiryo UI"/>
                        </a:rPr>
                        <a:t>REVIEW_INSUFFICIENT_DATA（データ不足で保留）</a:t>
                      </a:r>
                    </a:p>
                  </a:txBody>
                  <a:tcPr>
                    <a:solidFill>
                      <a:srgbClr val="FFFFFF"/>
                    </a:solidFill>
                  </a:tcPr>
                </a:tc>
                <a:tc>
                  <a:txBody>
                    <a:bodyPr/>
                    <a:lstStyle/>
                    <a:p>
                      <a:r>
                        <a:rPr sz="1000" b="1">
                          <a:solidFill>
                            <a:srgbClr val="222222"/>
                          </a:solidFill>
                          <a:latin typeface="Arial"/>
                          <a:ea typeface="Meiryo UI"/>
                          <a:cs typeface="Meiryo UI"/>
                        </a:rPr>
                        <a:t>338</a:t>
                      </a:r>
                    </a:p>
                  </a:txBody>
                  <a:tcPr>
                    <a:solidFill>
                      <a:srgbClr val="FFFFFF"/>
                    </a:solidFill>
                  </a:tcPr>
                </a:tc>
                <a:tc>
                  <a:txBody>
                    <a:bodyPr/>
                    <a:lstStyle/>
                    <a:p>
                      <a:r>
                        <a:rPr sz="1000" b="1">
                          <a:solidFill>
                            <a:srgbClr val="222222"/>
                          </a:solidFill>
                          <a:latin typeface="Arial"/>
                          <a:ea typeface="Meiryo UI"/>
                          <a:cs typeface="Meiryo UI"/>
                        </a:rPr>
                        <a:t>44.9%</a:t>
                      </a:r>
                    </a:p>
                  </a:txBody>
                  <a:tcPr>
                    <a:solidFill>
                      <a:srgbClr val="FFFFFF"/>
                    </a:solidFill>
                  </a:tcPr>
                </a:tc>
              </a:tr>
              <a:tr h="384048">
                <a:tc>
                  <a:txBody>
                    <a:bodyPr/>
                    <a:lstStyle/>
                    <a:p>
                      <a:r>
                        <a:rPr sz="1000" b="0">
                          <a:solidFill>
                            <a:srgbClr val="222222"/>
                          </a:solidFill>
                          <a:latin typeface="Arial"/>
                          <a:ea typeface="Meiryo UI"/>
                          <a:cs typeface="Meiryo UI"/>
                        </a:rPr>
                        <a:t>WATCH（低更新率・判定曖昧で経過観察）</a:t>
                      </a:r>
                    </a:p>
                  </a:txBody>
                  <a:tcPr>
                    <a:solidFill>
                      <a:srgbClr val="EEF2F7"/>
                    </a:solidFill>
                  </a:tcPr>
                </a:tc>
                <a:tc>
                  <a:txBody>
                    <a:bodyPr/>
                    <a:lstStyle/>
                    <a:p>
                      <a:r>
                        <a:rPr sz="1000" b="1">
                          <a:solidFill>
                            <a:srgbClr val="222222"/>
                          </a:solidFill>
                          <a:latin typeface="Arial"/>
                          <a:ea typeface="Meiryo UI"/>
                          <a:cs typeface="Meiryo UI"/>
                        </a:rPr>
                        <a:t>55</a:t>
                      </a:r>
                    </a:p>
                  </a:txBody>
                  <a:tcPr>
                    <a:solidFill>
                      <a:srgbClr val="EEF2F7"/>
                    </a:solidFill>
                  </a:tcPr>
                </a:tc>
                <a:tc>
                  <a:txBody>
                    <a:bodyPr/>
                    <a:lstStyle/>
                    <a:p>
                      <a:r>
                        <a:rPr sz="1000" b="1">
                          <a:solidFill>
                            <a:srgbClr val="222222"/>
                          </a:solidFill>
                          <a:latin typeface="Arial"/>
                          <a:ea typeface="Meiryo UI"/>
                          <a:cs typeface="Meiryo UI"/>
                        </a:rPr>
                        <a:t>7.3%</a:t>
                      </a:r>
                    </a:p>
                  </a:txBody>
                  <a:tcPr>
                    <a:solidFill>
                      <a:srgbClr val="EEF2F7"/>
                    </a:solidFill>
                  </a:tcPr>
                </a:tc>
              </a:tr>
              <a:tr h="384048">
                <a:tc>
                  <a:txBody>
                    <a:bodyPr/>
                    <a:lstStyle/>
                    <a:p>
                      <a:r>
                        <a:rPr sz="1000" b="0">
                          <a:solidFill>
                            <a:srgbClr val="222222"/>
                          </a:solidFill>
                          <a:latin typeface="Arial"/>
                          <a:ea typeface="Meiryo UI"/>
                          <a:cs typeface="Meiryo UI"/>
                        </a:rPr>
                        <a:t>ACTIONABLE_GAUGE_RESET（ゲージ再較正候補）</a:t>
                      </a:r>
                    </a:p>
                  </a:txBody>
                  <a:tcPr>
                    <a:solidFill>
                      <a:srgbClr val="FFFFFF"/>
                    </a:solidFill>
                  </a:tcPr>
                </a:tc>
                <a:tc>
                  <a:txBody>
                    <a:bodyPr/>
                    <a:lstStyle/>
                    <a:p>
                      <a:r>
                        <a:rPr sz="1000" b="1">
                          <a:solidFill>
                            <a:srgbClr val="222222"/>
                          </a:solidFill>
                          <a:latin typeface="Arial"/>
                          <a:ea typeface="Meiryo UI"/>
                          <a:cs typeface="Meiryo UI"/>
                        </a:rPr>
                        <a:t>18</a:t>
                      </a:r>
                    </a:p>
                  </a:txBody>
                  <a:tcPr>
                    <a:solidFill>
                      <a:srgbClr val="FFFFFF"/>
                    </a:solidFill>
                  </a:tcPr>
                </a:tc>
                <a:tc>
                  <a:txBody>
                    <a:bodyPr/>
                    <a:lstStyle/>
                    <a:p>
                      <a:r>
                        <a:rPr sz="1000" b="1">
                          <a:solidFill>
                            <a:srgbClr val="222222"/>
                          </a:solidFill>
                          <a:latin typeface="Arial"/>
                          <a:ea typeface="Meiryo UI"/>
                          <a:cs typeface="Meiryo UI"/>
                        </a:rPr>
                        <a:t>2.4%</a:t>
                      </a:r>
                    </a:p>
                  </a:txBody>
                  <a:tcPr>
                    <a:solidFill>
                      <a:srgbClr val="FFFFFF"/>
                    </a:solidFill>
                  </a:tcPr>
                </a:tc>
              </a:tr>
              <a:tr h="384048">
                <a:tc>
                  <a:txBody>
                    <a:bodyPr/>
                    <a:lstStyle/>
                    <a:p>
                      <a:r>
                        <a:rPr sz="1000" b="0">
                          <a:solidFill>
                            <a:srgbClr val="222222"/>
                          </a:solidFill>
                          <a:latin typeface="Arial"/>
                          <a:ea typeface="Meiryo UI"/>
                          <a:cs typeface="Meiryo UI"/>
                        </a:rPr>
                        <a:t>ACTIONABLE_FW_CHECK（FW確認候補）</a:t>
                      </a:r>
                    </a:p>
                  </a:txBody>
                  <a:tcPr>
                    <a:solidFill>
                      <a:srgbClr val="EEF2F7"/>
                    </a:solidFill>
                  </a:tcPr>
                </a:tc>
                <a:tc>
                  <a:txBody>
                    <a:bodyPr/>
                    <a:lstStyle/>
                    <a:p>
                      <a:r>
                        <a:rPr sz="1000" b="1">
                          <a:solidFill>
                            <a:srgbClr val="222222"/>
                          </a:solidFill>
                          <a:latin typeface="Arial"/>
                          <a:ea typeface="Meiryo UI"/>
                          <a:cs typeface="Meiryo UI"/>
                        </a:rPr>
                        <a:t>14</a:t>
                      </a:r>
                    </a:p>
                  </a:txBody>
                  <a:tcPr>
                    <a:solidFill>
                      <a:srgbClr val="EEF2F7"/>
                    </a:solidFill>
                  </a:tcPr>
                </a:tc>
                <a:tc>
                  <a:txBody>
                    <a:bodyPr/>
                    <a:lstStyle/>
                    <a:p>
                      <a:r>
                        <a:rPr sz="1000" b="1">
                          <a:solidFill>
                            <a:srgbClr val="222222"/>
                          </a:solidFill>
                          <a:latin typeface="Arial"/>
                          <a:ea typeface="Meiryo UI"/>
                          <a:cs typeface="Meiryo UI"/>
                        </a:rPr>
                        <a:t>1.9%</a:t>
                      </a:r>
                    </a:p>
                  </a:txBody>
                  <a:tcPr>
                    <a:solidFill>
                      <a:srgbClr val="EEF2F7"/>
                    </a:solidFill>
                  </a:tcPr>
                </a:tc>
              </a:tr>
            </a:tbl>
          </a:graphicData>
        </a:graphic>
      </p:graphicFrame>
      <p:sp>
        <p:nvSpPr>
          <p:cNvPr id="7" name="TextBox 6"/>
          <p:cNvSpPr txBox="1"/>
          <p:nvPr/>
        </p:nvSpPr>
        <p:spPr>
          <a:xfrm>
            <a:off x="457200" y="3703320"/>
            <a:ext cx="5577840" cy="914400"/>
          </a:xfrm>
          <a:prstGeom prst="rect">
            <a:avLst/>
          </a:prstGeom>
          <a:noFill/>
        </p:spPr>
        <p:txBody>
          <a:bodyPr wrap="square">
            <a:spAutoFit/>
          </a:bodyPr>
          <a:lstStyle/>
          <a:p>
            <a:r>
              <a:rPr sz="1050" b="0">
                <a:solidFill>
                  <a:srgbClr val="222222"/>
                </a:solidFill>
                <a:latin typeface="Arial"/>
                <a:ea typeface="Meiryo UI"/>
                <a:cs typeface="Meiryo UI"/>
              </a:rPr>
              <a:t>候補抽出96台→二分岐。既存active(更新中)層からの誤エスカレーション0件。FW 14台・ゲージ18台は全て stale/very_stale 層由来。</a:t>
            </a:r>
          </a:p>
        </p:txBody>
      </p:sp>
      <p:sp>
        <p:nvSpPr>
          <p:cNvPr id="8" name="TextBox 7"/>
          <p:cNvSpPr txBox="1"/>
          <p:nvPr/>
        </p:nvSpPr>
        <p:spPr>
          <a:xfrm>
            <a:off x="6355080" y="896112"/>
            <a:ext cx="5486400" cy="320040"/>
          </a:xfrm>
          <a:prstGeom prst="rect">
            <a:avLst/>
          </a:prstGeom>
          <a:noFill/>
        </p:spPr>
        <p:txBody>
          <a:bodyPr wrap="square">
            <a:spAutoFit/>
          </a:bodyPr>
          <a:lstStyle/>
          <a:p>
            <a:r>
              <a:rPr sz="1250" b="1">
                <a:solidFill>
                  <a:srgbClr val="1F375B"/>
                </a:solidFill>
                <a:latin typeface="Arial"/>
                <a:ea typeface="Meiryo UI"/>
                <a:cs typeface="Meiryo UI"/>
              </a:rPr>
              <a:t>B. 30日オンライン運用版 v2（毎日スライド・9段階）</a:t>
            </a:r>
          </a:p>
        </p:txBody>
      </p:sp>
      <p:graphicFrame>
        <p:nvGraphicFramePr>
          <p:cNvPr id="9" name="Table 8"/>
          <p:cNvGraphicFramePr>
            <a:graphicFrameLocks noGrp="1"/>
          </p:cNvGraphicFramePr>
          <p:nvPr/>
        </p:nvGraphicFramePr>
        <p:xfrm>
          <a:off x="6355080" y="1261872"/>
          <a:ext cx="5394960" cy="3657600"/>
        </p:xfrm>
        <a:graphic>
          <a:graphicData uri="http://schemas.openxmlformats.org/drawingml/2006/table">
            <a:tbl>
              <a:tblPr firstRow="1" bandRow="1">
                <a:tableStyleId>{5C22544A-7EE6-4342-B048-85BDC9FD1C3A}</a:tableStyleId>
              </a:tblPr>
              <a:tblGrid>
                <a:gridCol w="4709160"/>
                <a:gridCol w="685800"/>
              </a:tblGrid>
              <a:tr h="365760">
                <a:tc>
                  <a:txBody>
                    <a:bodyPr/>
                    <a:lstStyle/>
                    <a:p>
                      <a:r>
                        <a:rPr sz="1100" b="1">
                          <a:solidFill>
                            <a:srgbClr val="FFFFFF"/>
                          </a:solidFill>
                          <a:latin typeface="Arial"/>
                          <a:ea typeface="Meiryo UI"/>
                          <a:cs typeface="Meiryo UI"/>
                        </a:rPr>
                        <a:t>運用ラベル(v2)</a:t>
                      </a:r>
                    </a:p>
                  </a:txBody>
                  <a:tcPr>
                    <a:solidFill>
                      <a:srgbClr val="1E0113"/>
                    </a:solidFill>
                  </a:tcPr>
                </a:tc>
                <a:tc>
                  <a:txBody>
                    <a:bodyPr/>
                    <a:lstStyle/>
                    <a:p>
                      <a:r>
                        <a:rPr sz="1100" b="1">
                          <a:solidFill>
                            <a:srgbClr val="FFFFFF"/>
                          </a:solidFill>
                          <a:latin typeface="Arial"/>
                          <a:ea typeface="Meiryo UI"/>
                          <a:cs typeface="Meiryo UI"/>
                        </a:rPr>
                        <a:t>件数</a:t>
                      </a:r>
                    </a:p>
                  </a:txBody>
                  <a:tcPr>
                    <a:solidFill>
                      <a:srgbClr val="1E0113"/>
                    </a:solidFill>
                  </a:tcPr>
                </a:tc>
              </a:tr>
              <a:tr h="365760">
                <a:tc>
                  <a:txBody>
                    <a:bodyPr/>
                    <a:lstStyle/>
                    <a:p>
                      <a:r>
                        <a:rPr sz="950" b="0">
                          <a:solidFill>
                            <a:srgbClr val="222222"/>
                          </a:solidFill>
                          <a:latin typeface="Arial"/>
                          <a:ea typeface="Meiryo UI"/>
                          <a:cs typeface="Meiryo UI"/>
                        </a:rPr>
                        <a:t>REVIEW_DATA_QUALITY（データ品質で保留）</a:t>
                      </a:r>
                    </a:p>
                  </a:txBody>
                  <a:tcPr>
                    <a:solidFill>
                      <a:srgbClr val="EEF2F7"/>
                    </a:solidFill>
                  </a:tcPr>
                </a:tc>
                <a:tc>
                  <a:txBody>
                    <a:bodyPr/>
                    <a:lstStyle/>
                    <a:p>
                      <a:r>
                        <a:rPr sz="950" b="1">
                          <a:solidFill>
                            <a:srgbClr val="1F375B"/>
                          </a:solidFill>
                          <a:latin typeface="Arial"/>
                          <a:ea typeface="Meiryo UI"/>
                          <a:cs typeface="Meiryo UI"/>
                        </a:rPr>
                        <a:t>325</a:t>
                      </a:r>
                    </a:p>
                  </a:txBody>
                  <a:tcPr>
                    <a:solidFill>
                      <a:srgbClr val="EEF2F7"/>
                    </a:solidFill>
                  </a:tcPr>
                </a:tc>
              </a:tr>
              <a:tr h="365760">
                <a:tc>
                  <a:txBody>
                    <a:bodyPr/>
                    <a:lstStyle/>
                    <a:p>
                      <a:r>
                        <a:rPr sz="950" b="0">
                          <a:solidFill>
                            <a:srgbClr val="222222"/>
                          </a:solidFill>
                          <a:latin typeface="Arial"/>
                          <a:ea typeface="Meiryo UI"/>
                          <a:cs typeface="Meiryo UI"/>
                        </a:rPr>
                        <a:t>NORMAL_RESPONDING（正常応答）</a:t>
                      </a:r>
                    </a:p>
                  </a:txBody>
                  <a:tcPr>
                    <a:solidFill>
                      <a:srgbClr val="FFFFFF"/>
                    </a:solidFill>
                  </a:tcPr>
                </a:tc>
                <a:tc>
                  <a:txBody>
                    <a:bodyPr/>
                    <a:lstStyle/>
                    <a:p>
                      <a:r>
                        <a:rPr sz="950" b="1">
                          <a:solidFill>
                            <a:srgbClr val="1F375B"/>
                          </a:solidFill>
                          <a:latin typeface="Arial"/>
                          <a:ea typeface="Meiryo UI"/>
                          <a:cs typeface="Meiryo UI"/>
                        </a:rPr>
                        <a:t>183</a:t>
                      </a:r>
                    </a:p>
                  </a:txBody>
                  <a:tcPr>
                    <a:solidFill>
                      <a:srgbClr val="FFFFFF"/>
                    </a:solidFill>
                  </a:tcPr>
                </a:tc>
              </a:tr>
              <a:tr h="365760">
                <a:tc>
                  <a:txBody>
                    <a:bodyPr/>
                    <a:lstStyle/>
                    <a:p>
                      <a:r>
                        <a:rPr sz="950" b="0">
                          <a:solidFill>
                            <a:srgbClr val="222222"/>
                          </a:solidFill>
                          <a:latin typeface="Arial"/>
                          <a:ea typeface="Meiryo UI"/>
                          <a:cs typeface="Meiryo UI"/>
                        </a:rPr>
                        <a:t>WATCH_LARGE_GAP_OR_CENSORED（大ギャップ/打ち切り監視）</a:t>
                      </a:r>
                    </a:p>
                  </a:txBody>
                  <a:tcPr>
                    <a:solidFill>
                      <a:srgbClr val="EEF2F7"/>
                    </a:solidFill>
                  </a:tcPr>
                </a:tc>
                <a:tc>
                  <a:txBody>
                    <a:bodyPr/>
                    <a:lstStyle/>
                    <a:p>
                      <a:r>
                        <a:rPr sz="950" b="1">
                          <a:solidFill>
                            <a:srgbClr val="1F375B"/>
                          </a:solidFill>
                          <a:latin typeface="Arial"/>
                          <a:ea typeface="Meiryo UI"/>
                          <a:cs typeface="Meiryo UI"/>
                        </a:rPr>
                        <a:t>128</a:t>
                      </a:r>
                    </a:p>
                  </a:txBody>
                  <a:tcPr>
                    <a:solidFill>
                      <a:srgbClr val="EEF2F7"/>
                    </a:solidFill>
                  </a:tcPr>
                </a:tc>
              </a:tr>
              <a:tr h="365760">
                <a:tc>
                  <a:txBody>
                    <a:bodyPr/>
                    <a:lstStyle/>
                    <a:p>
                      <a:r>
                        <a:rPr sz="950" b="0">
                          <a:solidFill>
                            <a:srgbClr val="C0392B"/>
                          </a:solidFill>
                          <a:latin typeface="Arial"/>
                          <a:ea typeface="Meiryo UI"/>
                          <a:cs typeface="Meiryo UI"/>
                        </a:rPr>
                        <a:t>FW_WATCH_HIGH_ANOMALY（FW監視）</a:t>
                      </a:r>
                    </a:p>
                  </a:txBody>
                  <a:tcPr>
                    <a:solidFill>
                      <a:srgbClr val="FFFFFF"/>
                    </a:solidFill>
                  </a:tcPr>
                </a:tc>
                <a:tc>
                  <a:txBody>
                    <a:bodyPr/>
                    <a:lstStyle/>
                    <a:p>
                      <a:r>
                        <a:rPr sz="950" b="1">
                          <a:solidFill>
                            <a:srgbClr val="1F375B"/>
                          </a:solidFill>
                          <a:latin typeface="Arial"/>
                          <a:ea typeface="Meiryo UI"/>
                          <a:cs typeface="Meiryo UI"/>
                        </a:rPr>
                        <a:t>43</a:t>
                      </a:r>
                    </a:p>
                  </a:txBody>
                  <a:tcPr>
                    <a:solidFill>
                      <a:srgbClr val="FFFFFF"/>
                    </a:solidFill>
                  </a:tcPr>
                </a:tc>
              </a:tr>
              <a:tr h="365760">
                <a:tc>
                  <a:txBody>
                    <a:bodyPr/>
                    <a:lstStyle/>
                    <a:p>
                      <a:r>
                        <a:rPr sz="950" b="0">
                          <a:solidFill>
                            <a:srgbClr val="222222"/>
                          </a:solidFill>
                          <a:latin typeface="Arial"/>
                          <a:ea typeface="Meiryo UI"/>
                          <a:cs typeface="Meiryo UI"/>
                        </a:rPr>
                        <a:t>WATCH_LOW_EVIDENCE（低証拠監視）</a:t>
                      </a:r>
                    </a:p>
                  </a:txBody>
                  <a:tcPr>
                    <a:solidFill>
                      <a:srgbClr val="EEF2F7"/>
                    </a:solidFill>
                  </a:tcPr>
                </a:tc>
                <a:tc>
                  <a:txBody>
                    <a:bodyPr/>
                    <a:lstStyle/>
                    <a:p>
                      <a:r>
                        <a:rPr sz="950" b="1">
                          <a:solidFill>
                            <a:srgbClr val="1F375B"/>
                          </a:solidFill>
                          <a:latin typeface="Arial"/>
                          <a:ea typeface="Meiryo UI"/>
                          <a:cs typeface="Meiryo UI"/>
                        </a:rPr>
                        <a:t>35</a:t>
                      </a:r>
                    </a:p>
                  </a:txBody>
                  <a:tcPr>
                    <a:solidFill>
                      <a:srgbClr val="EEF2F7"/>
                    </a:solidFill>
                  </a:tcPr>
                </a:tc>
              </a:tr>
              <a:tr h="365760">
                <a:tc>
                  <a:txBody>
                    <a:bodyPr/>
                    <a:lstStyle/>
                    <a:p>
                      <a:r>
                        <a:rPr sz="950" b="0">
                          <a:solidFill>
                            <a:srgbClr val="B05A00"/>
                          </a:solidFill>
                          <a:latin typeface="Arial"/>
                          <a:ea typeface="Meiryo UI"/>
                          <a:cs typeface="Meiryo UI"/>
                        </a:rPr>
                        <a:t>GAUGE_SOFT_CALIBRATION（軽い較正促し）</a:t>
                      </a:r>
                    </a:p>
                  </a:txBody>
                  <a:tcPr>
                    <a:solidFill>
                      <a:srgbClr val="FFFFFF"/>
                    </a:solidFill>
                  </a:tcPr>
                </a:tc>
                <a:tc>
                  <a:txBody>
                    <a:bodyPr/>
                    <a:lstStyle/>
                    <a:p>
                      <a:r>
                        <a:rPr sz="950" b="1">
                          <a:solidFill>
                            <a:srgbClr val="1F375B"/>
                          </a:solidFill>
                          <a:latin typeface="Arial"/>
                          <a:ea typeface="Meiryo UI"/>
                          <a:cs typeface="Meiryo UI"/>
                        </a:rPr>
                        <a:t>22</a:t>
                      </a:r>
                    </a:p>
                  </a:txBody>
                  <a:tcPr>
                    <a:solidFill>
                      <a:srgbClr val="FFFFFF"/>
                    </a:solidFill>
                  </a:tcPr>
                </a:tc>
              </a:tr>
              <a:tr h="365760">
                <a:tc>
                  <a:txBody>
                    <a:bodyPr/>
                    <a:lstStyle/>
                    <a:p>
                      <a:r>
                        <a:rPr sz="950" b="0">
                          <a:solidFill>
                            <a:srgbClr val="B05A00"/>
                          </a:solidFill>
                          <a:latin typeface="Arial"/>
                          <a:ea typeface="Meiryo UI"/>
                          <a:cs typeface="Meiryo UI"/>
                        </a:rPr>
                        <a:t>GAUGE_REVIEW（ゲージ・要人手確認）</a:t>
                      </a:r>
                    </a:p>
                  </a:txBody>
                  <a:tcPr>
                    <a:solidFill>
                      <a:srgbClr val="EEF2F7"/>
                    </a:solidFill>
                  </a:tcPr>
                </a:tc>
                <a:tc>
                  <a:txBody>
                    <a:bodyPr/>
                    <a:lstStyle/>
                    <a:p>
                      <a:r>
                        <a:rPr sz="950" b="1">
                          <a:solidFill>
                            <a:srgbClr val="1F375B"/>
                          </a:solidFill>
                          <a:latin typeface="Arial"/>
                          <a:ea typeface="Meiryo UI"/>
                          <a:cs typeface="Meiryo UI"/>
                        </a:rPr>
                        <a:t>7</a:t>
                      </a:r>
                    </a:p>
                  </a:txBody>
                  <a:tcPr>
                    <a:solidFill>
                      <a:srgbClr val="EEF2F7"/>
                    </a:solidFill>
                  </a:tcPr>
                </a:tc>
              </a:tr>
              <a:tr h="365760">
                <a:tc>
                  <a:txBody>
                    <a:bodyPr/>
                    <a:lstStyle/>
                    <a:p>
                      <a:r>
                        <a:rPr sz="950" b="1">
                          <a:solidFill>
                            <a:srgbClr val="C0392B"/>
                          </a:solidFill>
                          <a:latin typeface="Arial"/>
                          <a:ea typeface="Meiryo UI"/>
                          <a:cs typeface="Meiryo UI"/>
                        </a:rPr>
                        <a:t>FW_CHECK_CORE（FW確認・最有力）</a:t>
                      </a:r>
                    </a:p>
                  </a:txBody>
                  <a:tcPr>
                    <a:solidFill>
                      <a:srgbClr val="FFFFFF"/>
                    </a:solidFill>
                  </a:tcPr>
                </a:tc>
                <a:tc>
                  <a:txBody>
                    <a:bodyPr/>
                    <a:lstStyle/>
                    <a:p>
                      <a:r>
                        <a:rPr sz="950" b="1">
                          <a:solidFill>
                            <a:srgbClr val="1F375B"/>
                          </a:solidFill>
                          <a:latin typeface="Arial"/>
                          <a:ea typeface="Meiryo UI"/>
                          <a:cs typeface="Meiryo UI"/>
                        </a:rPr>
                        <a:t>5</a:t>
                      </a:r>
                    </a:p>
                  </a:txBody>
                  <a:tcPr>
                    <a:solidFill>
                      <a:srgbClr val="FFFFFF"/>
                    </a:solidFill>
                  </a:tcPr>
                </a:tc>
              </a:tr>
              <a:tr h="365760">
                <a:tc>
                  <a:txBody>
                    <a:bodyPr/>
                    <a:lstStyle/>
                    <a:p>
                      <a:r>
                        <a:rPr sz="950" b="1">
                          <a:solidFill>
                            <a:srgbClr val="B05A00"/>
                          </a:solidFill>
                          <a:latin typeface="Arial"/>
                          <a:ea typeface="Meiryo UI"/>
                          <a:cs typeface="Meiryo UI"/>
                        </a:rPr>
                        <a:t>GAUGE_RESET_CORE（ゲージ再較正・最有力）</a:t>
                      </a:r>
                    </a:p>
                  </a:txBody>
                  <a:tcPr>
                    <a:solidFill>
                      <a:srgbClr val="EEF2F7"/>
                    </a:solidFill>
                  </a:tcPr>
                </a:tc>
                <a:tc>
                  <a:txBody>
                    <a:bodyPr/>
                    <a:lstStyle/>
                    <a:p>
                      <a:r>
                        <a:rPr sz="950" b="1">
                          <a:solidFill>
                            <a:srgbClr val="1F375B"/>
                          </a:solidFill>
                          <a:latin typeface="Arial"/>
                          <a:ea typeface="Meiryo UI"/>
                          <a:cs typeface="Meiryo UI"/>
                        </a:rPr>
                        <a:t>4</a:t>
                      </a:r>
                    </a:p>
                  </a:txBody>
                  <a:tcPr>
                    <a:solidFill>
                      <a:srgbClr val="EEF2F7"/>
                    </a:solidFill>
                  </a:tcPr>
                </a:tc>
              </a:tr>
            </a:tbl>
          </a:graphicData>
        </a:graphic>
      </p:graphicFrame>
      <p:sp>
        <p:nvSpPr>
          <p:cNvPr id="10" name="TextBox 9"/>
          <p:cNvSpPr txBox="1"/>
          <p:nvPr/>
        </p:nvSpPr>
        <p:spPr>
          <a:xfrm>
            <a:off x="457200" y="4434840"/>
            <a:ext cx="5577840" cy="1371600"/>
          </a:xfrm>
          <a:prstGeom prst="rect">
            <a:avLst/>
          </a:prstGeom>
          <a:noFill/>
        </p:spPr>
        <p:txBody>
          <a:bodyPr wrap="square">
            <a:spAutoFit/>
          </a:bodyPr>
          <a:lstStyle/>
          <a:p>
            <a:r>
              <a:rPr sz="1050" b="0">
                <a:solidFill>
                  <a:srgbClr val="222222"/>
                </a:solidFill>
                <a:latin typeface="Arial"/>
                <a:ea typeface="Meiryo UI"/>
                <a:cs typeface="Meiryo UI"/>
              </a:rPr>
              <a:t>オンライン版の対proxy性能: FW/ゲージCore判定 precision 1.0（proxy基準）、能動誤報0件（3種の活動基準すべて）。FWエンジニアリング上位50件は proxy FW 14台を全カバー(recall 1.0)。状態の持ち越しにより、30日窓単体比で無応答検出 22→41台(+29)。</a:t>
            </a:r>
          </a:p>
        </p:txBody>
      </p:sp>
      <p:sp>
        <p:nvSpPr>
          <p:cNvPr id="11" name="Rounded Rectangle 10"/>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精密検査(全履歴)と日常見守り(30日運用)の二本立て。約半数は『データ不足で保留』と正直に言う設計 — 誤指示より保留が安全。</a:t>
            </a:r>
          </a:p>
        </p:txBody>
      </p:sp>
      <p:sp>
        <p:nvSpPr>
          <p:cNvPr id="12" name="TextBox 11"/>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3" name="TextBox 12"/>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判定法が機能する根拠 — 5本柱の独立検証</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§4 根拠</a:t>
            </a:r>
          </a:p>
        </p:txBody>
      </p:sp>
      <p:graphicFrame>
        <p:nvGraphicFramePr>
          <p:cNvPr id="5" name="Table 4"/>
          <p:cNvGraphicFramePr>
            <a:graphicFrameLocks noGrp="1"/>
          </p:cNvGraphicFramePr>
          <p:nvPr/>
        </p:nvGraphicFramePr>
        <p:xfrm>
          <a:off x="365760" y="1005840"/>
          <a:ext cx="11430000" cy="3291840"/>
        </p:xfrm>
        <a:graphic>
          <a:graphicData uri="http://schemas.openxmlformats.org/drawingml/2006/table">
            <a:tbl>
              <a:tblPr firstRow="1" bandRow="1">
                <a:tableStyleId>{5C22544A-7EE6-4342-B048-85BDC9FD1C3A}</a:tableStyleId>
              </a:tblPr>
              <a:tblGrid>
                <a:gridCol w="914400"/>
                <a:gridCol w="2377440"/>
                <a:gridCol w="4297680"/>
                <a:gridCol w="3840480"/>
              </a:tblGrid>
              <a:tr h="548640">
                <a:tc>
                  <a:txBody>
                    <a:bodyPr/>
                    <a:lstStyle/>
                    <a:p>
                      <a:r>
                        <a:rPr sz="1100" b="1">
                          <a:solidFill>
                            <a:srgbClr val="FFFFFF"/>
                          </a:solidFill>
                          <a:latin typeface="Arial"/>
                          <a:ea typeface="Meiryo UI"/>
                          <a:cs typeface="Meiryo UI"/>
                        </a:rPr>
                        <a:t>根拠</a:t>
                      </a:r>
                    </a:p>
                  </a:txBody>
                  <a:tcPr>
                    <a:solidFill>
                      <a:srgbClr val="1E0113"/>
                    </a:solidFill>
                  </a:tcPr>
                </a:tc>
                <a:tc>
                  <a:txBody>
                    <a:bodyPr/>
                    <a:lstStyle/>
                    <a:p>
                      <a:r>
                        <a:rPr sz="1100" b="1">
                          <a:solidFill>
                            <a:srgbClr val="FFFFFF"/>
                          </a:solidFill>
                          <a:latin typeface="Arial"/>
                          <a:ea typeface="Meiryo UI"/>
                          <a:cs typeface="Meiryo UI"/>
                        </a:rPr>
                        <a:t>検証</a:t>
                      </a:r>
                    </a:p>
                  </a:txBody>
                  <a:tcPr>
                    <a:solidFill>
                      <a:srgbClr val="1E0113"/>
                    </a:solidFill>
                  </a:tcPr>
                </a:tc>
                <a:tc>
                  <a:txBody>
                    <a:bodyPr/>
                    <a:lstStyle/>
                    <a:p>
                      <a:r>
                        <a:rPr sz="1100" b="1">
                          <a:solidFill>
                            <a:srgbClr val="FFFFFF"/>
                          </a:solidFill>
                          <a:latin typeface="Arial"/>
                          <a:ea typeface="Meiryo UI"/>
                          <a:cs typeface="Meiryo UI"/>
                        </a:rPr>
                        <a:t>主張</a:t>
                      </a:r>
                    </a:p>
                  </a:txBody>
                  <a:tcPr>
                    <a:solidFill>
                      <a:srgbClr val="1E0113"/>
                    </a:solidFill>
                  </a:tcPr>
                </a:tc>
                <a:tc>
                  <a:txBody>
                    <a:bodyPr/>
                    <a:lstStyle/>
                    <a:p>
                      <a:r>
                        <a:rPr sz="1100" b="1">
                          <a:solidFill>
                            <a:srgbClr val="FFFFFF"/>
                          </a:solidFill>
                          <a:latin typeface="Arial"/>
                          <a:ea typeface="Meiryo UI"/>
                          <a:cs typeface="Meiryo UI"/>
                        </a:rPr>
                        <a:t>ひとことで（非エンジニア向け）</a:t>
                      </a:r>
                    </a:p>
                  </a:txBody>
                  <a:tcPr>
                    <a:solidFill>
                      <a:srgbClr val="1E0113"/>
                    </a:solidFill>
                  </a:tcPr>
                </a:tc>
              </a:tr>
              <a:tr h="548640">
                <a:tc>
                  <a:txBody>
                    <a:bodyPr/>
                    <a:lstStyle/>
                    <a:p>
                      <a:r>
                        <a:rPr sz="1050" b="1">
                          <a:solidFill>
                            <a:srgbClr val="376B3A"/>
                          </a:solidFill>
                          <a:latin typeface="Arial"/>
                          <a:ea typeface="Meiryo UI"/>
                          <a:cs typeface="Meiryo UI"/>
                        </a:rPr>
                        <a:t>① A2</a:t>
                      </a:r>
                    </a:p>
                  </a:txBody>
                  <a:tcPr>
                    <a:solidFill>
                      <a:srgbClr val="EEF2F7"/>
                    </a:solidFill>
                  </a:tcPr>
                </a:tc>
                <a:tc>
                  <a:txBody>
                    <a:bodyPr/>
                    <a:lstStyle/>
                    <a:p>
                      <a:r>
                        <a:rPr sz="1050" b="0">
                          <a:solidFill>
                            <a:srgbClr val="222222"/>
                          </a:solidFill>
                          <a:latin typeface="Arial"/>
                          <a:ea typeface="Meiryo UI"/>
                          <a:cs typeface="Meiryo UI"/>
                        </a:rPr>
                        <a:t>負の対照（ニセ機会5種）</a:t>
                      </a:r>
                    </a:p>
                  </a:txBody>
                  <a:tcPr>
                    <a:solidFill>
                      <a:srgbClr val="EEF2F7"/>
                    </a:solidFill>
                  </a:tcPr>
                </a:tc>
                <a:tc>
                  <a:txBody>
                    <a:bodyPr/>
                    <a:lstStyle/>
                    <a:p>
                      <a:r>
                        <a:rPr sz="1050" b="0">
                          <a:solidFill>
                            <a:srgbClr val="222222"/>
                          </a:solidFill>
                          <a:latin typeface="Arial"/>
                          <a:ea typeface="Meiryo UI"/>
                          <a:cs typeface="Meiryo UI"/>
                        </a:rPr>
                        <a:t>応答は真の機会に特異(真0.39が5/5対照のヌル外)</a:t>
                      </a:r>
                    </a:p>
                  </a:txBody>
                  <a:tcPr>
                    <a:solidFill>
                      <a:srgbClr val="EEF2F7"/>
                    </a:solidFill>
                  </a:tcPr>
                </a:tc>
                <a:tc>
                  <a:txBody>
                    <a:bodyPr/>
                    <a:lstStyle/>
                    <a:p>
                      <a:r>
                        <a:rPr sz="1050" b="0">
                          <a:solidFill>
                            <a:srgbClr val="222222"/>
                          </a:solidFill>
                          <a:latin typeface="Arial"/>
                          <a:ea typeface="Meiryo UI"/>
                          <a:cs typeface="Meiryo UI"/>
                        </a:rPr>
                        <a:t>プラセボでは効かず、本物でだけ効く</a:t>
                      </a:r>
                    </a:p>
                  </a:txBody>
                  <a:tcPr>
                    <a:solidFill>
                      <a:srgbClr val="EEF2F7"/>
                    </a:solidFill>
                  </a:tcPr>
                </a:tc>
              </a:tr>
              <a:tr h="548640">
                <a:tc>
                  <a:txBody>
                    <a:bodyPr/>
                    <a:lstStyle/>
                    <a:p>
                      <a:r>
                        <a:rPr sz="1050" b="1">
                          <a:solidFill>
                            <a:srgbClr val="376B3A"/>
                          </a:solidFill>
                          <a:latin typeface="Arial"/>
                          <a:ea typeface="Meiryo UI"/>
                          <a:cs typeface="Meiryo UI"/>
                        </a:rPr>
                        <a:t>② A3</a:t>
                      </a:r>
                    </a:p>
                  </a:txBody>
                  <a:tcPr>
                    <a:solidFill>
                      <a:srgbClr val="FFFFFF"/>
                    </a:solidFill>
                  </a:tcPr>
                </a:tc>
                <a:tc>
                  <a:txBody>
                    <a:bodyPr/>
                    <a:lstStyle/>
                    <a:p>
                      <a:r>
                        <a:rPr sz="1050" b="0">
                          <a:solidFill>
                            <a:srgbClr val="222222"/>
                          </a:solidFill>
                          <a:latin typeface="Arial"/>
                          <a:ea typeface="Meiryo UI"/>
                          <a:cs typeface="Meiryo UI"/>
                        </a:rPr>
                        <a:t>応答起点の比較</a:t>
                      </a:r>
                    </a:p>
                  </a:txBody>
                  <a:tcPr>
                    <a:solidFill>
                      <a:srgbClr val="FFFFFF"/>
                    </a:solidFill>
                  </a:tcPr>
                </a:tc>
                <a:tc>
                  <a:txBody>
                    <a:bodyPr/>
                    <a:lstStyle/>
                    <a:p>
                      <a:r>
                        <a:rPr sz="1050" b="0">
                          <a:solidFill>
                            <a:srgbClr val="222222"/>
                          </a:solidFill>
                          <a:latin typeface="Arial"/>
                          <a:ea typeface="Meiryo UI"/>
                          <a:cs typeface="Meiryo UI"/>
                        </a:rPr>
                        <a:t>END起点の因果汚染0 vs START 0.56</a:t>
                      </a:r>
                    </a:p>
                  </a:txBody>
                  <a:tcPr>
                    <a:solidFill>
                      <a:srgbClr val="FFFFFF"/>
                    </a:solidFill>
                  </a:tcPr>
                </a:tc>
                <a:tc>
                  <a:txBody>
                    <a:bodyPr/>
                    <a:lstStyle/>
                    <a:p>
                      <a:r>
                        <a:rPr sz="1050" b="0">
                          <a:solidFill>
                            <a:srgbClr val="222222"/>
                          </a:solidFill>
                          <a:latin typeface="Arial"/>
                          <a:ea typeface="Meiryo UI"/>
                          <a:cs typeface="Meiryo UI"/>
                        </a:rPr>
                        <a:t>採点はテスト後から＝カンニング防止</a:t>
                      </a:r>
                    </a:p>
                  </a:txBody>
                  <a:tcPr>
                    <a:solidFill>
                      <a:srgbClr val="FFFFFF"/>
                    </a:solidFill>
                  </a:tcPr>
                </a:tc>
              </a:tr>
              <a:tr h="548640">
                <a:tc>
                  <a:txBody>
                    <a:bodyPr/>
                    <a:lstStyle/>
                    <a:p>
                      <a:r>
                        <a:rPr sz="1050" b="1">
                          <a:solidFill>
                            <a:srgbClr val="376B3A"/>
                          </a:solidFill>
                          <a:latin typeface="Arial"/>
                          <a:ea typeface="Meiryo UI"/>
                          <a:cs typeface="Meiryo UI"/>
                        </a:rPr>
                        <a:t>③ B</a:t>
                      </a:r>
                    </a:p>
                  </a:txBody>
                  <a:tcPr>
                    <a:solidFill>
                      <a:srgbClr val="EEF2F7"/>
                    </a:solidFill>
                  </a:tcPr>
                </a:tc>
                <a:tc>
                  <a:txBody>
                    <a:bodyPr/>
                    <a:lstStyle/>
                    <a:p>
                      <a:r>
                        <a:rPr sz="1050" b="0">
                          <a:solidFill>
                            <a:srgbClr val="222222"/>
                          </a:solidFill>
                          <a:latin typeface="Arial"/>
                          <a:ea typeface="Meiryo UI"/>
                          <a:cs typeface="Meiryo UI"/>
                        </a:rPr>
                        <a:t>応答ハザード（生存解析）</a:t>
                      </a:r>
                    </a:p>
                  </a:txBody>
                  <a:tcPr>
                    <a:solidFill>
                      <a:srgbClr val="EEF2F7"/>
                    </a:solidFill>
                  </a:tcPr>
                </a:tc>
                <a:tc>
                  <a:txBody>
                    <a:bodyPr/>
                    <a:lstStyle/>
                    <a:p>
                      <a:r>
                        <a:rPr sz="1050" b="0">
                          <a:solidFill>
                            <a:srgbClr val="222222"/>
                          </a:solidFill>
                          <a:latin typeface="Arial"/>
                          <a:ea typeface="Meiryo UI"/>
                          <a:cs typeface="Meiryo UI"/>
                        </a:rPr>
                        <a:t>真の機会後ほど速く応答(72h 0.39 vs 0.29)</a:t>
                      </a:r>
                    </a:p>
                  </a:txBody>
                  <a:tcPr>
                    <a:solidFill>
                      <a:srgbClr val="EEF2F7"/>
                    </a:solidFill>
                  </a:tcPr>
                </a:tc>
                <a:tc>
                  <a:txBody>
                    <a:bodyPr/>
                    <a:lstStyle/>
                    <a:p>
                      <a:r>
                        <a:rPr sz="1050" b="0">
                          <a:solidFill>
                            <a:srgbClr val="222222"/>
                          </a:solidFill>
                          <a:latin typeface="Arial"/>
                          <a:ea typeface="Meiryo UI"/>
                          <a:cs typeface="Meiryo UI"/>
                        </a:rPr>
                        <a:t>本物の機会の後ほど早く計り直しが起きる</a:t>
                      </a:r>
                    </a:p>
                  </a:txBody>
                  <a:tcPr>
                    <a:solidFill>
                      <a:srgbClr val="EEF2F7"/>
                    </a:solidFill>
                  </a:tcPr>
                </a:tc>
              </a:tr>
              <a:tr h="548640">
                <a:tc>
                  <a:txBody>
                    <a:bodyPr/>
                    <a:lstStyle/>
                    <a:p>
                      <a:r>
                        <a:rPr sz="1050" b="1">
                          <a:solidFill>
                            <a:srgbClr val="376B3A"/>
                          </a:solidFill>
                          <a:latin typeface="Arial"/>
                          <a:ea typeface="Meiryo UI"/>
                          <a:cs typeface="Meiryo UI"/>
                        </a:rPr>
                        <a:t>④ E</a:t>
                      </a:r>
                    </a:p>
                  </a:txBody>
                  <a:tcPr>
                    <a:solidFill>
                      <a:srgbClr val="FFFFFF"/>
                    </a:solidFill>
                  </a:tcPr>
                </a:tc>
                <a:tc>
                  <a:txBody>
                    <a:bodyPr/>
                    <a:lstStyle/>
                    <a:p>
                      <a:r>
                        <a:rPr sz="1050" b="0">
                          <a:solidFill>
                            <a:srgbClr val="222222"/>
                          </a:solidFill>
                          <a:latin typeface="Arial"/>
                          <a:ea typeface="Meiryo UI"/>
                          <a:cs typeface="Meiryo UI"/>
                        </a:rPr>
                        <a:t>欠測・打ち切り注入</a:t>
                      </a:r>
                    </a:p>
                  </a:txBody>
                  <a:tcPr>
                    <a:solidFill>
                      <a:srgbClr val="FFFFFF"/>
                    </a:solidFill>
                  </a:tcPr>
                </a:tc>
                <a:tc>
                  <a:txBody>
                    <a:bodyPr/>
                    <a:lstStyle/>
                    <a:p>
                      <a:r>
                        <a:rPr sz="1050" b="0">
                          <a:solidFill>
                            <a:srgbClr val="222222"/>
                          </a:solidFill>
                          <a:latin typeface="Arial"/>
                          <a:ea typeface="Meiryo UI"/>
                          <a:cs typeface="Meiryo UI"/>
                        </a:rPr>
                        <a:t>誤『無応答』を naive 643→提案 4.1 に抑制</a:t>
                      </a:r>
                    </a:p>
                  </a:txBody>
                  <a:tcPr>
                    <a:solidFill>
                      <a:srgbClr val="FFFFFF"/>
                    </a:solidFill>
                  </a:tcPr>
                </a:tc>
                <a:tc>
                  <a:txBody>
                    <a:bodyPr/>
                    <a:lstStyle/>
                    <a:p>
                      <a:r>
                        <a:rPr sz="1050" b="0">
                          <a:solidFill>
                            <a:srgbClr val="222222"/>
                          </a:solidFill>
                          <a:latin typeface="Arial"/>
                          <a:ea typeface="Meiryo UI"/>
                          <a:cs typeface="Meiryo UI"/>
                        </a:rPr>
                        <a:t>データの穴を冤罪にしない</a:t>
                      </a:r>
                    </a:p>
                  </a:txBody>
                  <a:tcPr>
                    <a:solidFill>
                      <a:srgbClr val="FFFFFF"/>
                    </a:solidFill>
                  </a:tcPr>
                </a:tc>
              </a:tr>
              <a:tr h="548640">
                <a:tc>
                  <a:txBody>
                    <a:bodyPr/>
                    <a:lstStyle/>
                    <a:p>
                      <a:r>
                        <a:rPr sz="1050" b="1">
                          <a:solidFill>
                            <a:srgbClr val="376B3A"/>
                          </a:solidFill>
                          <a:latin typeface="Arial"/>
                          <a:ea typeface="Meiryo UI"/>
                          <a:cs typeface="Meiryo UI"/>
                        </a:rPr>
                        <a:t>⑤ D</a:t>
                      </a:r>
                    </a:p>
                  </a:txBody>
                  <a:tcPr>
                    <a:solidFill>
                      <a:srgbClr val="EEF2F7"/>
                    </a:solidFill>
                  </a:tcPr>
                </a:tc>
                <a:tc>
                  <a:txBody>
                    <a:bodyPr/>
                    <a:lstStyle/>
                    <a:p>
                      <a:r>
                        <a:rPr sz="1050" b="0">
                          <a:solidFill>
                            <a:srgbClr val="222222"/>
                          </a:solidFill>
                          <a:latin typeface="Arial"/>
                          <a:ea typeface="Meiryo UI"/>
                          <a:cs typeface="Meiryo UI"/>
                        </a:rPr>
                        <a:t>保持グリッド 7〜90日</a:t>
                      </a:r>
                    </a:p>
                  </a:txBody>
                  <a:tcPr>
                    <a:solidFill>
                      <a:srgbClr val="EEF2F7"/>
                    </a:solidFill>
                  </a:tcPr>
                </a:tc>
                <a:tc>
                  <a:txBody>
                    <a:bodyPr/>
                    <a:lstStyle/>
                    <a:p>
                      <a:r>
                        <a:rPr sz="1050" b="0">
                          <a:solidFill>
                            <a:srgbClr val="222222"/>
                          </a:solidFill>
                          <a:latin typeface="Arial"/>
                          <a:ea typeface="Meiryo UI"/>
                          <a:cs typeface="Meiryo UI"/>
                        </a:rPr>
                        <a:t>30日保持で全期間と一致(recall 1/重複0)・容量4%</a:t>
                      </a:r>
                    </a:p>
                  </a:txBody>
                  <a:tcPr>
                    <a:solidFill>
                      <a:srgbClr val="EEF2F7"/>
                    </a:solidFill>
                  </a:tcPr>
                </a:tc>
                <a:tc>
                  <a:txBody>
                    <a:bodyPr/>
                    <a:lstStyle/>
                    <a:p>
                      <a:r>
                        <a:rPr sz="1050" b="0">
                          <a:solidFill>
                            <a:srgbClr val="222222"/>
                          </a:solidFill>
                          <a:latin typeface="Arial"/>
                          <a:ea typeface="Meiryo UI"/>
                          <a:cs typeface="Meiryo UI"/>
                        </a:rPr>
                        <a:t>30日分のメモで全履歴と同じ結論</a:t>
                      </a:r>
                    </a:p>
                  </a:txBody>
                  <a:tcPr>
                    <a:solidFill>
                      <a:srgbClr val="EEF2F7"/>
                    </a:solidFill>
                  </a:tcPr>
                </a:tc>
              </a:tr>
            </a:tbl>
          </a:graphicData>
        </a:graphic>
      </p:graphicFrame>
      <p:sp>
        <p:nvSpPr>
          <p:cNvPr id="6" name="TextBox 5"/>
          <p:cNvSpPr txBox="1"/>
          <p:nvPr/>
        </p:nvSpPr>
        <p:spPr>
          <a:xfrm>
            <a:off x="411480" y="4206240"/>
            <a:ext cx="11365865" cy="1463040"/>
          </a:xfrm>
          <a:prstGeom prst="rect">
            <a:avLst/>
          </a:prstGeom>
          <a:noFill/>
        </p:spPr>
        <p:txBody>
          <a:bodyPr wrap="square">
            <a:spAutoFit/>
          </a:bodyPr>
          <a:lstStyle/>
          <a:p>
            <a:pPr>
              <a:spcAft>
                <a:spcPts val="400"/>
              </a:spcAft>
            </a:pPr>
            <a:r>
              <a:rPr sz="1150" b="0">
                <a:solidFill>
                  <a:srgbClr val="222222"/>
                </a:solidFill>
                <a:latin typeface="Arial"/>
                <a:ea typeface="Meiryo UI"/>
                <a:cs typeface="Meiryo UI"/>
              </a:rPr>
              <a:t>•  いずれも proxy ラベルに依存しない独立エンドポイントで評価（9項目すべて supported、patent_technical_effects_v4.csv）</a:t>
            </a:r>
          </a:p>
          <a:p>
            <a:pPr>
              <a:spcAft>
                <a:spcPts val="400"/>
              </a:spcAft>
            </a:pPr>
            <a:r>
              <a:rPr sz="1150" b="0">
                <a:solidFill>
                  <a:srgbClr val="222222"/>
                </a:solidFill>
                <a:latin typeface="Arial"/>
                <a:ea typeface="Meiryo UI"/>
                <a:cs typeface="Meiryo UI"/>
              </a:rPr>
              <a:t>•  信頼区間はユーザー単位bootstrap（同一ユーザの複数機会を独立扱いしない）</a:t>
            </a:r>
          </a:p>
          <a:p>
            <a:pPr>
              <a:spcAft>
                <a:spcPts val="400"/>
              </a:spcAft>
            </a:pPr>
            <a:r>
              <a:rPr sz="1150" b="0">
                <a:solidFill>
                  <a:srgbClr val="222222"/>
                </a:solidFill>
                <a:latin typeface="Arial"/>
                <a:ea typeface="Meiryo UI"/>
                <a:cs typeface="Meiryo UI"/>
              </a:rPr>
              <a:t>•  ベースライン再現ゲート16/16一致・成果物40件にSHA-256・決定的シード（再現性）</a:t>
            </a:r>
          </a:p>
        </p:txBody>
      </p:sp>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次の5枚で1本ずつ図解する。各図は【何のグラフ/軸/主張/読み方】の4ブロック構成。</a:t>
            </a:r>
          </a:p>
        </p:txBody>
      </p:sp>
      <p:sp>
        <p:nvSpPr>
          <p:cNvPr id="8" name="TextBox 7"/>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根拠① 応答は『真の機会』に特異（負の対照検定 A2）</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§4 根拠</a:t>
            </a:r>
          </a:p>
        </p:txBody>
      </p:sp>
      <p:pic>
        <p:nvPicPr>
          <p:cNvPr id="5" name="Picture 4" descr="negative_control_true_vs_null.png"/>
          <p:cNvPicPr>
            <a:picLocks noChangeAspect="1"/>
          </p:cNvPicPr>
          <p:nvPr/>
        </p:nvPicPr>
        <p:blipFill>
          <a:blip r:embed="rId2"/>
          <a:stretch>
            <a:fillRect/>
          </a:stretch>
        </p:blipFill>
        <p:spPr>
          <a:xfrm>
            <a:off x="365760" y="987552"/>
            <a:ext cx="6492240" cy="3700323"/>
          </a:xfrm>
          <a:prstGeom prst="rect">
            <a:avLst/>
          </a:prstGeom>
        </p:spPr>
      </p:pic>
      <p:sp>
        <p:nvSpPr>
          <p:cNvPr id="6" name="TextBox 5"/>
          <p:cNvSpPr txBox="1"/>
          <p:nvPr/>
        </p:nvSpPr>
        <p:spPr>
          <a:xfrm>
            <a:off x="365760" y="4706163"/>
            <a:ext cx="6492240" cy="274320"/>
          </a:xfrm>
          <a:prstGeom prst="rect">
            <a:avLst/>
          </a:prstGeom>
          <a:noFill/>
        </p:spPr>
        <p:txBody>
          <a:bodyPr wrap="square">
            <a:spAutoFit/>
          </a:bodyPr>
          <a:lstStyle/>
          <a:p>
            <a:r>
              <a:rPr sz="850" b="0">
                <a:solidFill>
                  <a:srgbClr val="555555"/>
                </a:solidFill>
                <a:latin typeface="Arial"/>
                <a:ea typeface="Meiryo UI"/>
                <a:cs typeface="Meiryo UI"/>
              </a:rPr>
              <a:t>図: negative_control_true_vs_null.png（dpi=300・匿名化済み）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Arial"/>
                <a:ea typeface="Meiryo UI"/>
                <a:cs typeface="Meiryo UI"/>
              </a:rPr>
              <a:t>【何のグラフか】</a:t>
            </a:r>
          </a:p>
          <a:p>
            <a:r>
              <a:rPr sz="1100" b="0">
                <a:solidFill>
                  <a:srgbClr val="222222"/>
                </a:solidFill>
                <a:latin typeface="Arial"/>
                <a:ea typeface="Meiryo UI"/>
                <a:cs typeface="Meiryo UI"/>
              </a:rPr>
              <a:t>『機会ENDの後に応答が増える』が偶然でないかを、END時刻を人工的にズラした5種類のニセ機会(ネガティブコントロール)と比較した検定。</a:t>
            </a:r>
          </a:p>
          <a:p>
            <a:pPr>
              <a:spcBef>
                <a:spcPts val="500"/>
              </a:spcBef>
            </a:pPr>
            <a:r>
              <a:rPr sz="1200" b="1">
                <a:solidFill>
                  <a:srgbClr val="1F375B"/>
                </a:solidFill>
                <a:latin typeface="Arial"/>
                <a:ea typeface="Meiryo UI"/>
                <a:cs typeface="Meiryo UI"/>
              </a:rPr>
              <a:t>【軸・変数の定義】</a:t>
            </a:r>
          </a:p>
          <a:p>
            <a:r>
              <a:rPr sz="1100" b="0">
                <a:solidFill>
                  <a:srgbClr val="222222"/>
                </a:solidFill>
                <a:latin typeface="Arial"/>
                <a:ea typeface="Meiryo UI"/>
                <a:cs typeface="Meiryo UI"/>
              </a:rPr>
              <a:t>縦軸=END後72h以内に有効ステップが起きた確率。青棒=各ニセ機会の応答率(黒ヒゲ=95%区間)。赤の水平線=実データ(約0.39)。</a:t>
            </a:r>
          </a:p>
          <a:p>
            <a:pPr>
              <a:spcBef>
                <a:spcPts val="500"/>
              </a:spcBef>
            </a:pPr>
            <a:r>
              <a:rPr sz="1200" b="1">
                <a:solidFill>
                  <a:srgbClr val="2CA02C"/>
                </a:solidFill>
                <a:latin typeface="Arial"/>
                <a:ea typeface="Meiryo UI"/>
                <a:cs typeface="Meiryo UI"/>
              </a:rPr>
              <a:t>【主張（言いたいこと）】</a:t>
            </a:r>
          </a:p>
          <a:p>
            <a:r>
              <a:rPr sz="1100" b="0">
                <a:solidFill>
                  <a:srgbClr val="222222"/>
                </a:solidFill>
                <a:latin typeface="Arial"/>
                <a:ea typeface="Meiryo UI"/>
                <a:cs typeface="Meiryo UI"/>
              </a:rPr>
              <a:t>実データ 0.39 は、どのニセ機会(0.25〜0.31)よりも95%区間の上端を超えて高い（5/5 対照でヌル外、bootstrap方向一致 4/5）。応答は『真の機会END時刻』に特異で、時間経過・活動量・ユーザ差では説明できない。</a:t>
            </a:r>
          </a:p>
          <a:p>
            <a:pPr>
              <a:spcBef>
                <a:spcPts val="500"/>
              </a:spcBef>
            </a:pPr>
            <a:r>
              <a:rPr sz="1200" b="1">
                <a:solidFill>
                  <a:srgbClr val="B05A00"/>
                </a:solidFill>
                <a:latin typeface="Arial"/>
                <a:ea typeface="Meiryo UI"/>
                <a:cs typeface="Meiryo UI"/>
              </a:rPr>
              <a:t>【読み方・解釈】</a:t>
            </a:r>
          </a:p>
          <a:p>
            <a:r>
              <a:rPr sz="1100" b="0">
                <a:solidFill>
                  <a:srgbClr val="222222"/>
                </a:solidFill>
                <a:latin typeface="Arial"/>
                <a:ea typeface="Meiryo UI"/>
                <a:cs typeface="Meiryo UI"/>
              </a:rPr>
              <a:t>赤線が全ての青棒(ヒゲ含む)より上にあることを確認する。棒の高さ・真値の数値は図に印字されていないため軸目盛りから読む。対象: 2298機会 / 289ユーザー。</a:t>
            </a:r>
          </a:p>
        </p:txBody>
      </p:sp>
      <p:sp>
        <p:nvSpPr>
          <p:cNvPr id="8" name="Rounded Rectangle 7"/>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薬の治験のプラセボと同じ発想。ニセの機会5種類では応答が増えず、本物の機会でだけ増えた(5戦5勝)。判定の土台が成立。</a:t>
            </a:r>
          </a:p>
        </p:txBody>
      </p:sp>
      <p:sp>
        <p:nvSpPr>
          <p:cNvPr id="9" name="TextBox 8"/>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根拠② 応答の起点はEND(再充電完了)が正しい（A3）</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§4 根拠</a:t>
            </a:r>
          </a:p>
        </p:txBody>
      </p:sp>
      <p:pic>
        <p:nvPicPr>
          <p:cNvPr id="5" name="Picture 4" descr="response_anchor_contamination.png"/>
          <p:cNvPicPr>
            <a:picLocks noChangeAspect="1"/>
          </p:cNvPicPr>
          <p:nvPr/>
        </p:nvPicPr>
        <p:blipFill>
          <a:blip r:embed="rId2"/>
          <a:stretch>
            <a:fillRect/>
          </a:stretch>
        </p:blipFill>
        <p:spPr>
          <a:xfrm>
            <a:off x="365760" y="987552"/>
            <a:ext cx="6492240" cy="3942683"/>
          </a:xfrm>
          <a:prstGeom prst="rect">
            <a:avLst/>
          </a:prstGeom>
        </p:spPr>
      </p:pic>
      <p:sp>
        <p:nvSpPr>
          <p:cNvPr id="6" name="TextBox 5"/>
          <p:cNvSpPr txBox="1"/>
          <p:nvPr/>
        </p:nvSpPr>
        <p:spPr>
          <a:xfrm>
            <a:off x="365760" y="4948523"/>
            <a:ext cx="6492240" cy="274320"/>
          </a:xfrm>
          <a:prstGeom prst="rect">
            <a:avLst/>
          </a:prstGeom>
          <a:noFill/>
        </p:spPr>
        <p:txBody>
          <a:bodyPr wrap="square">
            <a:spAutoFit/>
          </a:bodyPr>
          <a:lstStyle/>
          <a:p>
            <a:r>
              <a:rPr sz="850" b="0">
                <a:solidFill>
                  <a:srgbClr val="555555"/>
                </a:solidFill>
                <a:latin typeface="Arial"/>
                <a:ea typeface="Meiryo UI"/>
                <a:cs typeface="Meiryo UI"/>
              </a:rPr>
              <a:t>図: response_anchor_contamination.png（dpi=300・匿名化済み）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Arial"/>
                <a:ea typeface="Meiryo UI"/>
                <a:cs typeface="Meiryo UI"/>
              </a:rPr>
              <a:t>【何のグラフか】</a:t>
            </a:r>
          </a:p>
          <a:p>
            <a:r>
              <a:rPr sz="1100" b="0">
                <a:solidFill>
                  <a:srgbClr val="222222"/>
                </a:solidFill>
                <a:latin typeface="Arial"/>
                <a:ea typeface="Meiryo UI"/>
                <a:cs typeface="Meiryo UI"/>
              </a:rPr>
              <a:t>応答を測る『起点』を START/LOW/END のどこに置くべきかの比較。誤った起点だと『再充電が完了する前のFCC変化』まで応答に誤計上する(=因果汚染)。</a:t>
            </a:r>
          </a:p>
          <a:p>
            <a:pPr>
              <a:spcBef>
                <a:spcPts val="500"/>
              </a:spcBef>
            </a:pPr>
            <a:r>
              <a:rPr sz="1200" b="1">
                <a:solidFill>
                  <a:srgbClr val="1F375B"/>
                </a:solidFill>
                <a:latin typeface="Arial"/>
                <a:ea typeface="Meiryo UI"/>
                <a:cs typeface="Meiryo UI"/>
              </a:rPr>
              <a:t>【軸・変数の定義】</a:t>
            </a:r>
          </a:p>
          <a:p>
            <a:r>
              <a:rPr sz="1100" b="0">
                <a:solidFill>
                  <a:srgbClr val="222222"/>
                </a:solidFill>
                <a:latin typeface="Arial"/>
                <a:ea typeface="Meiryo UI"/>
                <a:cs typeface="Meiryo UI"/>
              </a:rPr>
              <a:t>横軸=起点3種(start/low/end)。赤棒=因果汚染率(完了前の変化を誤計上した割合)、紫棒=重複帰属率(同じ変化を複数機会に数えた割合)。</a:t>
            </a:r>
          </a:p>
          <a:p>
            <a:pPr>
              <a:spcBef>
                <a:spcPts val="500"/>
              </a:spcBef>
            </a:pPr>
            <a:r>
              <a:rPr sz="1200" b="1">
                <a:solidFill>
                  <a:srgbClr val="2CA02C"/>
                </a:solidFill>
                <a:latin typeface="Arial"/>
                <a:ea typeface="Meiryo UI"/>
                <a:cs typeface="Meiryo UI"/>
              </a:rPr>
              <a:t>【主張（言いたいこと）】</a:t>
            </a:r>
          </a:p>
          <a:p>
            <a:r>
              <a:rPr sz="1100" b="0">
                <a:solidFill>
                  <a:srgbClr val="222222"/>
                </a:solidFill>
                <a:latin typeface="Arial"/>
                <a:ea typeface="Meiryo UI"/>
                <a:cs typeface="Meiryo UI"/>
              </a:rPr>
              <a:t>START起点は 0.56(56%)が汚染、LOWは 0.27、END起点は汚染0（endの赤棒が無い=ゼロの意味）。※END=0は定義から従う構造的性質(設計の正しさの確認)。</a:t>
            </a:r>
          </a:p>
          <a:p>
            <a:pPr>
              <a:spcBef>
                <a:spcPts val="500"/>
              </a:spcBef>
            </a:pPr>
            <a:r>
              <a:rPr sz="1200" b="1">
                <a:solidFill>
                  <a:srgbClr val="B05A00"/>
                </a:solidFill>
                <a:latin typeface="Arial"/>
                <a:ea typeface="Meiryo UI"/>
                <a:cs typeface="Meiryo UI"/>
              </a:rPr>
              <a:t>【読み方・解釈】</a:t>
            </a:r>
          </a:p>
          <a:p>
            <a:r>
              <a:rPr sz="1100" b="0">
                <a:solidFill>
                  <a:srgbClr val="222222"/>
                </a:solidFill>
                <a:latin typeface="Arial"/>
                <a:ea typeface="Meiryo UI"/>
                <a:cs typeface="Meiryo UI"/>
              </a:rPr>
              <a:t>赤棒が低いほど良い。紫(重複)は起点によらず約22%で残るため、これは別の仕組み(episode_id+seen_ids、候補③)で防ぐ。production(any-change)とのEND一致率 0.93。</a:t>
            </a:r>
          </a:p>
        </p:txBody>
      </p:sp>
      <p:sp>
        <p:nvSpPr>
          <p:cNvPr id="8" name="Rounded Rectangle 7"/>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採点は試験終了後に始める、というルール。STARTから数えると半分以上が『試験中の答案』を誤って採点していることになる。</a:t>
            </a:r>
          </a:p>
        </p:txBody>
      </p:sp>
      <p:sp>
        <p:nvSpPr>
          <p:cNvPr id="9" name="TextBox 8"/>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根拠③ 真の機会の後ほど速く応答する（応答ハザード B）</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§4 根拠</a:t>
            </a:r>
          </a:p>
        </p:txBody>
      </p:sp>
      <p:pic>
        <p:nvPicPr>
          <p:cNvPr id="5" name="Picture 4" descr="response_hazard_true_vs_pseudo.png"/>
          <p:cNvPicPr>
            <a:picLocks noChangeAspect="1"/>
          </p:cNvPicPr>
          <p:nvPr/>
        </p:nvPicPr>
        <p:blipFill>
          <a:blip r:embed="rId2"/>
          <a:stretch>
            <a:fillRect/>
          </a:stretch>
        </p:blipFill>
        <p:spPr>
          <a:xfrm>
            <a:off x="365760" y="987552"/>
            <a:ext cx="6492240" cy="3942683"/>
          </a:xfrm>
          <a:prstGeom prst="rect">
            <a:avLst/>
          </a:prstGeom>
        </p:spPr>
      </p:pic>
      <p:sp>
        <p:nvSpPr>
          <p:cNvPr id="6" name="TextBox 5"/>
          <p:cNvSpPr txBox="1"/>
          <p:nvPr/>
        </p:nvSpPr>
        <p:spPr>
          <a:xfrm>
            <a:off x="365760" y="4948523"/>
            <a:ext cx="6492240" cy="274320"/>
          </a:xfrm>
          <a:prstGeom prst="rect">
            <a:avLst/>
          </a:prstGeom>
          <a:noFill/>
        </p:spPr>
        <p:txBody>
          <a:bodyPr wrap="square">
            <a:spAutoFit/>
          </a:bodyPr>
          <a:lstStyle/>
          <a:p>
            <a:r>
              <a:rPr sz="850" b="0">
                <a:solidFill>
                  <a:srgbClr val="555555"/>
                </a:solidFill>
                <a:latin typeface="Arial"/>
                <a:ea typeface="Meiryo UI"/>
                <a:cs typeface="Meiryo UI"/>
              </a:rPr>
              <a:t>図: response_hazard_true_vs_pseudo.png（dpi=300・匿名化済み）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Arial"/>
                <a:ea typeface="Meiryo UI"/>
                <a:cs typeface="Meiryo UI"/>
              </a:rPr>
              <a:t>【何のグラフか】</a:t>
            </a:r>
          </a:p>
          <a:p>
            <a:r>
              <a:rPr sz="1100" b="0">
                <a:solidFill>
                  <a:srgbClr val="222222"/>
                </a:solidFill>
                <a:latin typeface="Arial"/>
                <a:ea typeface="Meiryo UI"/>
                <a:cs typeface="Meiryo UI"/>
              </a:rPr>
              <a:t>機会ENDからの経過時間に対する累積応答率(生存解析のCIF)。真の機会 vs 観測条件を揃えたニセ時点(matched pseudo)の比較。</a:t>
            </a:r>
          </a:p>
          <a:p>
            <a:pPr>
              <a:spcBef>
                <a:spcPts val="500"/>
              </a:spcBef>
            </a:pPr>
            <a:r>
              <a:rPr sz="1200" b="1">
                <a:solidFill>
                  <a:srgbClr val="1F375B"/>
                </a:solidFill>
                <a:latin typeface="Arial"/>
                <a:ea typeface="Meiryo UI"/>
                <a:cs typeface="Meiryo UI"/>
              </a:rPr>
              <a:t>【軸・変数の定義】</a:t>
            </a:r>
          </a:p>
          <a:p>
            <a:r>
              <a:rPr sz="1100" b="0">
                <a:solidFill>
                  <a:srgbClr val="222222"/>
                </a:solidFill>
                <a:latin typeface="Arial"/>
                <a:ea typeface="Meiryo UI"/>
                <a:cs typeface="Meiryo UI"/>
              </a:rPr>
              <a:t>横軸=END後の経過時間(0〜168h)。縦軸=その時刻までに有効応答(≥50mWh)した累積割合。青=真の機会、橙=pseudo。</a:t>
            </a:r>
          </a:p>
          <a:p>
            <a:pPr>
              <a:spcBef>
                <a:spcPts val="500"/>
              </a:spcBef>
            </a:pPr>
            <a:r>
              <a:rPr sz="1200" b="1">
                <a:solidFill>
                  <a:srgbClr val="2CA02C"/>
                </a:solidFill>
                <a:latin typeface="Arial"/>
                <a:ea typeface="Meiryo UI"/>
                <a:cs typeface="Meiryo UI"/>
              </a:rPr>
              <a:t>【主張（言いたいこと）】</a:t>
            </a:r>
          </a:p>
          <a:p>
            <a:r>
              <a:rPr sz="1100" b="0">
                <a:solidFill>
                  <a:srgbClr val="222222"/>
                </a:solidFill>
                <a:latin typeface="Arial"/>
                <a:ea typeface="Meiryo UI"/>
                <a:cs typeface="Meiryo UI"/>
              </a:rPr>
              <a:t>真の曲線が常に上: 72hで 0.39 vs 0.29(差 +0.10)。有効応答の中央値 49h → 72h窓は『待ちすぎず・切り捨てすぎない』妥当な締め切り。</a:t>
            </a:r>
          </a:p>
          <a:p>
            <a:pPr>
              <a:spcBef>
                <a:spcPts val="500"/>
              </a:spcBef>
            </a:pPr>
            <a:r>
              <a:rPr sz="1200" b="1">
                <a:solidFill>
                  <a:srgbClr val="B05A00"/>
                </a:solidFill>
                <a:latin typeface="Arial"/>
                <a:ea typeface="Meiryo UI"/>
                <a:cs typeface="Meiryo UI"/>
              </a:rPr>
              <a:t>【読み方・解釈】</a:t>
            </a:r>
          </a:p>
          <a:p>
            <a:r>
              <a:rPr sz="1100" b="0">
                <a:solidFill>
                  <a:srgbClr val="222222"/>
                </a:solidFill>
                <a:latin typeface="Arial"/>
                <a:ea typeface="Meiryo UI"/>
                <a:cs typeface="Meiryo UI"/>
              </a:rPr>
              <a:t>立ち上がりの傾きに注目: 差は最初の約30時間で開き、その後約15ポイント差がほぼ一定に保たれる。応答が無いまま時間だけが経つ個体=更新停止候補、という読み方の裏付け。</a:t>
            </a:r>
          </a:p>
        </p:txBody>
      </p:sp>
      <p:sp>
        <p:nvSpPr>
          <p:cNvPr id="8" name="Rounded Rectangle 7"/>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本物の機会の直後は、無関係な時点よりも明らかに早く・多く『計り直し』が起きる。だから機会の直後だけを見張ればよい。</a:t>
            </a:r>
          </a:p>
        </p:txBody>
      </p:sp>
      <p:sp>
        <p:nvSpPr>
          <p:cNvPr id="9" name="TextBox 8"/>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根拠④ 欠測・打ち切りでも誤判定しない（欠測ストレス E）</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§4 根拠</a:t>
            </a:r>
          </a:p>
        </p:txBody>
      </p:sp>
      <p:pic>
        <p:nvPicPr>
          <p:cNvPr id="5" name="Picture 4" descr="missingness_false_escalation.png"/>
          <p:cNvPicPr>
            <a:picLocks noChangeAspect="1"/>
          </p:cNvPicPr>
          <p:nvPr/>
        </p:nvPicPr>
        <p:blipFill>
          <a:blip r:embed="rId2"/>
          <a:stretch>
            <a:fillRect/>
          </a:stretch>
        </p:blipFill>
        <p:spPr>
          <a:xfrm>
            <a:off x="365760" y="987552"/>
            <a:ext cx="6067523" cy="4526280"/>
          </a:xfrm>
          <a:prstGeom prst="rect">
            <a:avLst/>
          </a:prstGeom>
        </p:spPr>
      </p:pic>
      <p:sp>
        <p:nvSpPr>
          <p:cNvPr id="6" name="TextBox 5"/>
          <p:cNvSpPr txBox="1"/>
          <p:nvPr/>
        </p:nvSpPr>
        <p:spPr>
          <a:xfrm>
            <a:off x="365760" y="5532120"/>
            <a:ext cx="6492240" cy="274320"/>
          </a:xfrm>
          <a:prstGeom prst="rect">
            <a:avLst/>
          </a:prstGeom>
          <a:noFill/>
        </p:spPr>
        <p:txBody>
          <a:bodyPr wrap="square">
            <a:spAutoFit/>
          </a:bodyPr>
          <a:lstStyle/>
          <a:p>
            <a:r>
              <a:rPr sz="850" b="0">
                <a:solidFill>
                  <a:srgbClr val="555555"/>
                </a:solidFill>
                <a:latin typeface="Arial"/>
                <a:ea typeface="Meiryo UI"/>
                <a:cs typeface="Meiryo UI"/>
              </a:rPr>
              <a:t>図: missingness_false_escalation.png（dpi=300・匿名化済み）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Arial"/>
                <a:ea typeface="Meiryo UI"/>
                <a:cs typeface="Meiryo UI"/>
              </a:rPr>
              <a:t>【何のグラフか】</a:t>
            </a:r>
          </a:p>
          <a:p>
            <a:r>
              <a:rPr sz="1100" b="0">
                <a:solidFill>
                  <a:srgbClr val="222222"/>
                </a:solidFill>
                <a:latin typeface="Arial"/>
                <a:ea typeface="Meiryo UI"/>
                <a:cs typeface="Meiryo UI"/>
              </a:rPr>
              <a:t>欠測・連続ギャップ・末尾打ち切り・睡眠ギャップなど18種類の欠測パターンを人工注入し、各検出器が『誤って無応答と確定』した件数を比較したストレステスト。</a:t>
            </a:r>
          </a:p>
          <a:p>
            <a:pPr>
              <a:spcBef>
                <a:spcPts val="500"/>
              </a:spcBef>
            </a:pPr>
            <a:r>
              <a:rPr sz="1200" b="1">
                <a:solidFill>
                  <a:srgbClr val="1F375B"/>
                </a:solidFill>
                <a:latin typeface="Arial"/>
                <a:ea typeface="Meiryo UI"/>
                <a:cs typeface="Meiryo UI"/>
              </a:rPr>
              <a:t>【軸・変数の定義】</a:t>
            </a:r>
          </a:p>
          <a:p>
            <a:r>
              <a:rPr sz="1100" b="0">
                <a:solidFill>
                  <a:srgbClr val="222222"/>
                </a:solidFill>
                <a:latin typeface="Arial"/>
                <a:ea typeface="Meiryo UI"/>
                <a:cs typeface="Meiryo UI"/>
              </a:rPr>
              <a:t>縦軸=注入パターン(17行: MCAR 5〜50% / ギャップ3〜48h×位置 / 打ち切り等)。横軸=誤確定無応答の平均件数。緑=naive(素朴)、橙=graded(段階品質のみ)、青=binary gate、赤=proposed(提案)。</a:t>
            </a:r>
          </a:p>
          <a:p>
            <a:pPr>
              <a:spcBef>
                <a:spcPts val="500"/>
              </a:spcBef>
            </a:pPr>
            <a:r>
              <a:rPr sz="1200" b="1">
                <a:solidFill>
                  <a:srgbClr val="2CA02C"/>
                </a:solidFill>
                <a:latin typeface="Arial"/>
                <a:ea typeface="Meiryo UI"/>
                <a:cs typeface="Meiryo UI"/>
              </a:rPr>
              <a:t>【主張（言いたいこと）】</a:t>
            </a:r>
          </a:p>
          <a:p>
            <a:r>
              <a:rPr sz="1100" b="0">
                <a:solidFill>
                  <a:srgbClr val="222222"/>
                </a:solidFill>
                <a:latin typeface="Arial"/>
                <a:ea typeface="Meiryo UI"/>
                <a:cs typeface="Meiryo UI"/>
              </a:rPr>
              <a:t>naiveは全パターンで550〜670件を誤確定(平均 643)。提案(段階品質+censor考慮)は平均 4.1 件(約99%減)、かつ機会の回収率 0.97 を維持(除外しすぎない)。</a:t>
            </a:r>
          </a:p>
          <a:p>
            <a:pPr>
              <a:spcBef>
                <a:spcPts val="500"/>
              </a:spcBef>
            </a:pPr>
            <a:r>
              <a:rPr sz="1200" b="1">
                <a:solidFill>
                  <a:srgbClr val="B05A00"/>
                </a:solidFill>
                <a:latin typeface="Arial"/>
                <a:ea typeface="Meiryo UI"/>
                <a:cs typeface="Meiryo UI"/>
              </a:rPr>
              <a:t>【読み方・解釈】</a:t>
            </a:r>
          </a:p>
          <a:p>
            <a:r>
              <a:rPr sz="1100" b="0">
                <a:solidFill>
                  <a:srgbClr val="222222"/>
                </a:solidFill>
                <a:latin typeface="Arial"/>
                <a:ea typeface="Meiryo UI"/>
                <a:cs typeface="Meiryo UI"/>
              </a:rPr>
              <a:t>棒が短いほど良い。提案(赤)の棒はほぼ見えない=誤判定ほぼゼロの意味。binary gateは誤確定こそ少ないが機会を除外しすぎて見逃しが増える(付録の補足図参照)。凡例ボックスが上2行の緑棒の右端に重なる点に注意。</a:t>
            </a:r>
          </a:p>
        </p:txBody>
      </p:sp>
      <p:sp>
        <p:nvSpPr>
          <p:cNvPr id="8" name="Rounded Rectangle 7"/>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『データの穴』を無視も冤罪もせず、判定保留(censored)として脇に置く。だから穴だらけの実運用データでも騙されない。</a:t>
            </a:r>
          </a:p>
        </p:txBody>
      </p:sp>
      <p:sp>
        <p:nvSpPr>
          <p:cNvPr id="9" name="TextBox 8"/>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根拠⑤ 30日保持でも全期間と同じ判定（保持不変 D）</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§4 根拠</a:t>
            </a:r>
          </a:p>
        </p:txBody>
      </p:sp>
      <p:pic>
        <p:nvPicPr>
          <p:cNvPr id="5" name="Picture 4" descr="retention_invariance_heatmap.png"/>
          <p:cNvPicPr>
            <a:picLocks noChangeAspect="1"/>
          </p:cNvPicPr>
          <p:nvPr/>
        </p:nvPicPr>
        <p:blipFill>
          <a:blip r:embed="rId2"/>
          <a:stretch>
            <a:fillRect/>
          </a:stretch>
        </p:blipFill>
        <p:spPr>
          <a:xfrm>
            <a:off x="365760" y="987552"/>
            <a:ext cx="6492240" cy="2537016"/>
          </a:xfrm>
          <a:prstGeom prst="rect">
            <a:avLst/>
          </a:prstGeom>
        </p:spPr>
      </p:pic>
      <p:sp>
        <p:nvSpPr>
          <p:cNvPr id="6" name="TextBox 5"/>
          <p:cNvSpPr txBox="1"/>
          <p:nvPr/>
        </p:nvSpPr>
        <p:spPr>
          <a:xfrm>
            <a:off x="365760" y="3542856"/>
            <a:ext cx="6492240" cy="274320"/>
          </a:xfrm>
          <a:prstGeom prst="rect">
            <a:avLst/>
          </a:prstGeom>
          <a:noFill/>
        </p:spPr>
        <p:txBody>
          <a:bodyPr wrap="square">
            <a:spAutoFit/>
          </a:bodyPr>
          <a:lstStyle/>
          <a:p>
            <a:r>
              <a:rPr sz="850" b="0">
                <a:solidFill>
                  <a:srgbClr val="555555"/>
                </a:solidFill>
                <a:latin typeface="Arial"/>
                <a:ea typeface="Meiryo UI"/>
                <a:cs typeface="Meiryo UI"/>
              </a:rPr>
              <a:t>図: retention_invariance_heatmap.png（dpi=300・匿名化済み）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Arial"/>
                <a:ea typeface="Meiryo UI"/>
                <a:cs typeface="Meiryo UI"/>
              </a:rPr>
              <a:t>【何のグラフか】</a:t>
            </a:r>
          </a:p>
          <a:p>
            <a:r>
              <a:rPr sz="1100" b="0">
                <a:solidFill>
                  <a:srgbClr val="222222"/>
                </a:solidFill>
                <a:latin typeface="Arial"/>
                <a:ea typeface="Meiryo UI"/>
                <a:cs typeface="Meiryo UI"/>
              </a:rPr>
              <a:t>生データの保持期間を7〜90日に制限したとき、全期間データを使った場合と同じ応答判定になるか(一致率)のマップ。</a:t>
            </a:r>
          </a:p>
          <a:p>
            <a:pPr>
              <a:spcBef>
                <a:spcPts val="500"/>
              </a:spcBef>
            </a:pPr>
            <a:r>
              <a:rPr sz="1200" b="1">
                <a:solidFill>
                  <a:srgbClr val="1F375B"/>
                </a:solidFill>
                <a:latin typeface="Arial"/>
                <a:ea typeface="Meiryo UI"/>
                <a:cs typeface="Meiryo UI"/>
              </a:rPr>
              <a:t>【軸・変数の定義】</a:t>
            </a:r>
          </a:p>
          <a:p>
            <a:r>
              <a:rPr sz="1100" b="0">
                <a:solidFill>
                  <a:srgbClr val="222222"/>
                </a:solidFill>
                <a:latin typeface="Arial"/>
                <a:ea typeface="Meiryo UI"/>
                <a:cs typeface="Meiryo UI"/>
              </a:rPr>
              <a:t>行=方式(上=stateful:台帳あり / 下=stateless:台帳なし)。列=保持日数(7/14/21/30/45/60/90)。セルの数値=全履歴版との応答ステータス一致率(1.00=完全一致)。緑が濃いほど高い。</a:t>
            </a:r>
          </a:p>
          <a:p>
            <a:pPr>
              <a:spcBef>
                <a:spcPts val="500"/>
              </a:spcBef>
            </a:pPr>
            <a:r>
              <a:rPr sz="1200" b="1">
                <a:solidFill>
                  <a:srgbClr val="2CA02C"/>
                </a:solidFill>
                <a:latin typeface="Arial"/>
                <a:ea typeface="Meiryo UI"/>
                <a:cs typeface="Meiryo UI"/>
              </a:rPr>
              <a:t>【主張（言いたいこと）】</a:t>
            </a:r>
          </a:p>
          <a:p>
            <a:r>
              <a:rPr sz="1100" b="0">
                <a:solidFill>
                  <a:srgbClr val="222222"/>
                </a:solidFill>
                <a:latin typeface="Arial"/>
                <a:ea typeface="Meiryo UI"/>
                <a:cs typeface="Meiryo UI"/>
              </a:rPr>
              <a:t>statefulは全列 1.00(保持7日でも完全一致)。statelessは7日保持で 0.62 まで劣化。別途の同一エンジン検証で stateful は recall 1・重複 0・無応答数の誤差MAE≈0.02、必要ストレージは全生データ比 4.2%。</a:t>
            </a:r>
          </a:p>
          <a:p>
            <a:pPr>
              <a:spcBef>
                <a:spcPts val="500"/>
              </a:spcBef>
            </a:pPr>
            <a:r>
              <a:rPr sz="1200" b="1">
                <a:solidFill>
                  <a:srgbClr val="B05A00"/>
                </a:solidFill>
                <a:latin typeface="Arial"/>
                <a:ea typeface="Meiryo UI"/>
                <a:cs typeface="Meiryo UI"/>
              </a:rPr>
              <a:t>【読み方・解釈】</a:t>
            </a:r>
          </a:p>
          <a:p>
            <a:r>
              <a:rPr sz="1100" b="0">
                <a:solidFill>
                  <a:srgbClr val="222222"/>
                </a:solidFill>
                <a:latin typeface="Arial"/>
                <a:ea typeface="Meiryo UI"/>
                <a:cs typeface="Meiryo UI"/>
              </a:rPr>
              <a:t>上段が全部緑=『台帳(最小状態)を持てば生データを捨てても結論が変わらない』。下段との差が台帳の価値。グリッドは全1176構成(保持×応答窓×stride×整列)で検証。</a:t>
            </a:r>
          </a:p>
        </p:txBody>
      </p:sp>
      <p:sp>
        <p:nvSpPr>
          <p:cNvPr id="8" name="Rounded Rectangle 7"/>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レシート(生データ)は30日で捨てても、家計簿(台帳)に転記してあれば集計は狂わない。家計簿の厚さは元の約4%。</a:t>
            </a:r>
          </a:p>
        </p:txBody>
      </p:sp>
      <p:sp>
        <p:nvSpPr>
          <p:cNvPr id="9" name="TextBox 8"/>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過程で生まれた特許候補アイデア（位置づけ）</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6A3D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§5 Part2</a:t>
            </a:r>
          </a:p>
        </p:txBody>
      </p:sp>
      <p:sp>
        <p:nvSpPr>
          <p:cNvPr id="5" name="TextBox 4"/>
          <p:cNvSpPr txBox="1"/>
          <p:nvPr/>
        </p:nvSpPr>
        <p:spPr>
          <a:xfrm>
            <a:off x="548640" y="960120"/>
            <a:ext cx="11064240" cy="1554480"/>
          </a:xfrm>
          <a:prstGeom prst="rect">
            <a:avLst/>
          </a:prstGeom>
          <a:noFill/>
        </p:spPr>
        <p:txBody>
          <a:bodyPr wrap="square">
            <a:spAutoFit/>
          </a:bodyPr>
          <a:lstStyle/>
          <a:p>
            <a:r>
              <a:rPr sz="1350" b="1">
                <a:solidFill>
                  <a:srgbClr val="1F375B"/>
                </a:solidFill>
                <a:latin typeface="Arial"/>
                <a:ea typeface="Meiryo UI"/>
                <a:cs typeface="Meiryo UI"/>
              </a:rPr>
              <a:t>本技術(FCC更新停止者の判定)は単一目的の一連の手法。その実現過程で、単独でも特許になりうる中核アイデアが生まれた。</a:t>
            </a:r>
          </a:p>
          <a:p>
            <a:r>
              <a:rPr sz="1200" b="0">
                <a:solidFill>
                  <a:srgbClr val="555555"/>
                </a:solidFill>
                <a:latin typeface="Arial"/>
                <a:ea typeface="Meiryo UI"/>
                <a:cs typeface="Meiryo UI"/>
              </a:rPr>
              <a:t>細分化しすぎると評価しづらいため、ここでは3つ(+将来2つ)に集約して提示する。どこをどの粒度で特許化するかの最終判断は社内reviewerに委ねる。各候補に技術エビデンス強度と新規性リスクを併記し判断材料を提供。</a:t>
            </a:r>
          </a:p>
        </p:txBody>
      </p:sp>
      <p:graphicFrame>
        <p:nvGraphicFramePr>
          <p:cNvPr id="6" name="Table 5"/>
          <p:cNvGraphicFramePr>
            <a:graphicFrameLocks noGrp="1"/>
          </p:cNvGraphicFramePr>
          <p:nvPr/>
        </p:nvGraphicFramePr>
        <p:xfrm>
          <a:off x="457200" y="2651760"/>
          <a:ext cx="11247120" cy="2852928"/>
        </p:xfrm>
        <a:graphic>
          <a:graphicData uri="http://schemas.openxmlformats.org/drawingml/2006/table">
            <a:tbl>
              <a:tblPr firstRow="1" bandRow="1">
                <a:tableStyleId>{5C22544A-7EE6-4342-B048-85BDC9FD1C3A}</a:tableStyleId>
              </a:tblPr>
              <a:tblGrid>
                <a:gridCol w="4937760"/>
                <a:gridCol w="1828800"/>
                <a:gridCol w="2194560"/>
                <a:gridCol w="2286000"/>
              </a:tblGrid>
              <a:tr h="475488">
                <a:tc>
                  <a:txBody>
                    <a:bodyPr/>
                    <a:lstStyle/>
                    <a:p>
                      <a:r>
                        <a:rPr sz="1100" b="1">
                          <a:solidFill>
                            <a:srgbClr val="FFFFFF"/>
                          </a:solidFill>
                          <a:latin typeface="Arial"/>
                          <a:ea typeface="Meiryo UI"/>
                          <a:cs typeface="Meiryo UI"/>
                        </a:rPr>
                        <a:t>特許候補（集約後）</a:t>
                      </a:r>
                    </a:p>
                  </a:txBody>
                  <a:tcPr>
                    <a:solidFill>
                      <a:srgbClr val="1E0113"/>
                    </a:solidFill>
                  </a:tcPr>
                </a:tc>
                <a:tc>
                  <a:txBody>
                    <a:bodyPr/>
                    <a:lstStyle/>
                    <a:p>
                      <a:r>
                        <a:rPr sz="1100" b="1">
                          <a:solidFill>
                            <a:srgbClr val="FFFFFF"/>
                          </a:solidFill>
                          <a:latin typeface="Arial"/>
                          <a:ea typeface="Meiryo UI"/>
                          <a:cs typeface="Meiryo UI"/>
                        </a:rPr>
                        <a:t>対応する手法段</a:t>
                      </a:r>
                    </a:p>
                  </a:txBody>
                  <a:tcPr>
                    <a:solidFill>
                      <a:srgbClr val="1E0113"/>
                    </a:solidFill>
                  </a:tcPr>
                </a:tc>
                <a:tc>
                  <a:txBody>
                    <a:bodyPr/>
                    <a:lstStyle/>
                    <a:p>
                      <a:r>
                        <a:rPr sz="1100" b="1">
                          <a:solidFill>
                            <a:srgbClr val="FFFFFF"/>
                          </a:solidFill>
                          <a:latin typeface="Arial"/>
                          <a:ea typeface="Meiryo UI"/>
                          <a:cs typeface="Meiryo UI"/>
                        </a:rPr>
                        <a:t>技術エビデンス</a:t>
                      </a:r>
                    </a:p>
                  </a:txBody>
                  <a:tcPr>
                    <a:solidFill>
                      <a:srgbClr val="1E0113"/>
                    </a:solidFill>
                  </a:tcPr>
                </a:tc>
                <a:tc>
                  <a:txBody>
                    <a:bodyPr/>
                    <a:lstStyle/>
                    <a:p>
                      <a:r>
                        <a:rPr sz="1100" b="1">
                          <a:solidFill>
                            <a:srgbClr val="FFFFFF"/>
                          </a:solidFill>
                          <a:latin typeface="Arial"/>
                          <a:ea typeface="Meiryo UI"/>
                          <a:cs typeface="Meiryo UI"/>
                        </a:rPr>
                        <a:t>新規性リスク(UNVERIFIED)</a:t>
                      </a:r>
                    </a:p>
                  </a:txBody>
                  <a:tcPr>
                    <a:solidFill>
                      <a:srgbClr val="1E0113"/>
                    </a:solidFill>
                  </a:tcPr>
                </a:tc>
              </a:tr>
              <a:tr h="475488">
                <a:tc>
                  <a:txBody>
                    <a:bodyPr/>
                    <a:lstStyle/>
                    <a:p>
                      <a:r>
                        <a:rPr sz="1050" b="0">
                          <a:solidFill>
                            <a:srgbClr val="222222"/>
                          </a:solidFill>
                          <a:latin typeface="Arial"/>
                          <a:ea typeface="Meiryo UI"/>
                          <a:cs typeface="Meiryo UI"/>
                        </a:rPr>
                        <a:t>① 機会条件付き無応答監査（中核判定法）</a:t>
                      </a:r>
                    </a:p>
                  </a:txBody>
                  <a:tcPr>
                    <a:solidFill>
                      <a:srgbClr val="EEF2F7"/>
                    </a:solidFill>
                  </a:tcPr>
                </a:tc>
                <a:tc>
                  <a:txBody>
                    <a:bodyPr/>
                    <a:lstStyle/>
                    <a:p>
                      <a:r>
                        <a:rPr sz="1050" b="0">
                          <a:solidFill>
                            <a:srgbClr val="222222"/>
                          </a:solidFill>
                          <a:latin typeface="Arial"/>
                          <a:ea typeface="Meiryo UI"/>
                          <a:cs typeface="Meiryo UI"/>
                        </a:rPr>
                        <a:t>①+③+④</a:t>
                      </a:r>
                    </a:p>
                  </a:txBody>
                  <a:tcPr>
                    <a:solidFill>
                      <a:srgbClr val="EEF2F7"/>
                    </a:solidFill>
                  </a:tcPr>
                </a:tc>
                <a:tc>
                  <a:txBody>
                    <a:bodyPr/>
                    <a:lstStyle/>
                    <a:p>
                      <a:r>
                        <a:rPr sz="1050" b="1">
                          <a:solidFill>
                            <a:srgbClr val="2CA02C"/>
                          </a:solidFill>
                          <a:latin typeface="Arial"/>
                          <a:ea typeface="Meiryo UI"/>
                          <a:cs typeface="Meiryo UI"/>
                        </a:rPr>
                        <a:t>STRONG</a:t>
                      </a:r>
                    </a:p>
                  </a:txBody>
                  <a:tcPr>
                    <a:solidFill>
                      <a:srgbClr val="EEF2F7"/>
                    </a:solidFill>
                  </a:tcPr>
                </a:tc>
                <a:tc>
                  <a:txBody>
                    <a:bodyPr/>
                    <a:lstStyle/>
                    <a:p>
                      <a:r>
                        <a:rPr sz="1050" b="1">
                          <a:solidFill>
                            <a:srgbClr val="1F77B4"/>
                          </a:solidFill>
                          <a:latin typeface="Arial"/>
                          <a:ea typeface="Meiryo UI"/>
                          <a:cs typeface="Meiryo UI"/>
                        </a:rPr>
                        <a:t>MEDIUM-HIGH</a:t>
                      </a:r>
                    </a:p>
                  </a:txBody>
                  <a:tcPr>
                    <a:solidFill>
                      <a:srgbClr val="EEF2F7"/>
                    </a:solidFill>
                  </a:tcPr>
                </a:tc>
              </a:tr>
              <a:tr h="475488">
                <a:tc>
                  <a:txBody>
                    <a:bodyPr/>
                    <a:lstStyle/>
                    <a:p>
                      <a:r>
                        <a:rPr sz="1050" b="0">
                          <a:solidFill>
                            <a:srgbClr val="222222"/>
                          </a:solidFill>
                          <a:latin typeface="Arial"/>
                          <a:ea typeface="Meiryo UI"/>
                          <a:cs typeface="Meiryo UI"/>
                        </a:rPr>
                        <a:t>② デュアルトラック非対称リセット状態機械</a:t>
                      </a:r>
                    </a:p>
                  </a:txBody>
                  <a:tcPr>
                    <a:solidFill>
                      <a:srgbClr val="FFFFFF"/>
                    </a:solidFill>
                  </a:tcPr>
                </a:tc>
                <a:tc>
                  <a:txBody>
                    <a:bodyPr/>
                    <a:lstStyle/>
                    <a:p>
                      <a:r>
                        <a:rPr sz="1050" b="0">
                          <a:solidFill>
                            <a:srgbClr val="222222"/>
                          </a:solidFill>
                          <a:latin typeface="Arial"/>
                          <a:ea typeface="Meiryo UI"/>
                          <a:cs typeface="Meiryo UI"/>
                        </a:rPr>
                        <a:t>②(微小変化)</a:t>
                      </a:r>
                    </a:p>
                  </a:txBody>
                  <a:tcPr>
                    <a:solidFill>
                      <a:srgbClr val="FFFFFF"/>
                    </a:solidFill>
                  </a:tcPr>
                </a:tc>
                <a:tc>
                  <a:txBody>
                    <a:bodyPr/>
                    <a:lstStyle/>
                    <a:p>
                      <a:r>
                        <a:rPr sz="1050" b="1">
                          <a:solidFill>
                            <a:srgbClr val="2CA02C"/>
                          </a:solidFill>
                          <a:latin typeface="Arial"/>
                          <a:ea typeface="Meiryo UI"/>
                          <a:cs typeface="Meiryo UI"/>
                        </a:rPr>
                        <a:t>STRONG</a:t>
                      </a:r>
                    </a:p>
                  </a:txBody>
                  <a:tcPr>
                    <a:solidFill>
                      <a:srgbClr val="FFFFFF"/>
                    </a:solidFill>
                  </a:tcPr>
                </a:tc>
                <a:tc>
                  <a:txBody>
                    <a:bodyPr/>
                    <a:lstStyle/>
                    <a:p>
                      <a:r>
                        <a:rPr sz="1050" b="1">
                          <a:solidFill>
                            <a:srgbClr val="C0392B"/>
                          </a:solidFill>
                          <a:latin typeface="Arial"/>
                          <a:ea typeface="Meiryo UI"/>
                          <a:cs typeface="Meiryo UI"/>
                        </a:rPr>
                        <a:t>HIGH（着想日依存）</a:t>
                      </a:r>
                    </a:p>
                  </a:txBody>
                  <a:tcPr>
                    <a:solidFill>
                      <a:srgbClr val="FFFFFF"/>
                    </a:solidFill>
                  </a:tcPr>
                </a:tc>
              </a:tr>
              <a:tr h="475488">
                <a:tc>
                  <a:txBody>
                    <a:bodyPr/>
                    <a:lstStyle/>
                    <a:p>
                      <a:r>
                        <a:rPr sz="1050" b="0">
                          <a:solidFill>
                            <a:srgbClr val="222222"/>
                          </a:solidFill>
                          <a:latin typeface="Arial"/>
                          <a:ea typeface="Meiryo UI"/>
                          <a:cs typeface="Meiryo UI"/>
                        </a:rPr>
                        <a:t>③ 有界保持の因果証拠台帳（最小状態）</a:t>
                      </a:r>
                    </a:p>
                  </a:txBody>
                  <a:tcPr>
                    <a:solidFill>
                      <a:srgbClr val="EEF2F7"/>
                    </a:solidFill>
                  </a:tcPr>
                </a:tc>
                <a:tc>
                  <a:txBody>
                    <a:bodyPr/>
                    <a:lstStyle/>
                    <a:p>
                      <a:r>
                        <a:rPr sz="1050" b="0">
                          <a:solidFill>
                            <a:srgbClr val="222222"/>
                          </a:solidFill>
                          <a:latin typeface="Arial"/>
                          <a:ea typeface="Meiryo UI"/>
                          <a:cs typeface="Meiryo UI"/>
                        </a:rPr>
                        <a:t>⑤(保持制約)</a:t>
                      </a:r>
                    </a:p>
                  </a:txBody>
                  <a:tcPr>
                    <a:solidFill>
                      <a:srgbClr val="EEF2F7"/>
                    </a:solidFill>
                  </a:tcPr>
                </a:tc>
                <a:tc>
                  <a:txBody>
                    <a:bodyPr/>
                    <a:lstStyle/>
                    <a:p>
                      <a:r>
                        <a:rPr sz="1050" b="1">
                          <a:solidFill>
                            <a:srgbClr val="2CA02C"/>
                          </a:solidFill>
                          <a:latin typeface="Arial"/>
                          <a:ea typeface="Meiryo UI"/>
                          <a:cs typeface="Meiryo UI"/>
                        </a:rPr>
                        <a:t>STRONG</a:t>
                      </a:r>
                    </a:p>
                  </a:txBody>
                  <a:tcPr>
                    <a:solidFill>
                      <a:srgbClr val="EEF2F7"/>
                    </a:solidFill>
                  </a:tcPr>
                </a:tc>
                <a:tc>
                  <a:txBody>
                    <a:bodyPr/>
                    <a:lstStyle/>
                    <a:p>
                      <a:r>
                        <a:rPr sz="1050" b="1">
                          <a:solidFill>
                            <a:srgbClr val="1F77B4"/>
                          </a:solidFill>
                          <a:latin typeface="Arial"/>
                          <a:ea typeface="Meiryo UI"/>
                          <a:cs typeface="Meiryo UI"/>
                        </a:rPr>
                        <a:t>MEDIUM-HIGH</a:t>
                      </a:r>
                    </a:p>
                  </a:txBody>
                  <a:tcPr>
                    <a:solidFill>
                      <a:srgbClr val="EEF2F7"/>
                    </a:solidFill>
                  </a:tcPr>
                </a:tc>
              </a:tr>
              <a:tr h="475488">
                <a:tc>
                  <a:txBody>
                    <a:bodyPr/>
                    <a:lstStyle/>
                    <a:p>
                      <a:r>
                        <a:rPr sz="1050" b="0">
                          <a:solidFill>
                            <a:srgbClr val="222222"/>
                          </a:solidFill>
                          <a:latin typeface="Arial"/>
                          <a:ea typeface="Meiryo UI"/>
                          <a:cs typeface="Meiryo UI"/>
                        </a:rPr>
                        <a:t>(将来④) 診断依存クローズドループ介入検証</a:t>
                      </a:r>
                    </a:p>
                  </a:txBody>
                  <a:tcPr>
                    <a:solidFill>
                      <a:srgbClr val="FFFFFF"/>
                    </a:solidFill>
                  </a:tcPr>
                </a:tc>
                <a:tc>
                  <a:txBody>
                    <a:bodyPr/>
                    <a:lstStyle/>
                    <a:p>
                      <a:r>
                        <a:rPr sz="1050" b="0">
                          <a:solidFill>
                            <a:srgbClr val="222222"/>
                          </a:solidFill>
                          <a:latin typeface="Arial"/>
                          <a:ea typeface="Meiryo UI"/>
                          <a:cs typeface="Meiryo UI"/>
                        </a:rPr>
                        <a:t>介入後検証</a:t>
                      </a:r>
                    </a:p>
                  </a:txBody>
                  <a:tcPr>
                    <a:solidFill>
                      <a:srgbClr val="FFFFFF"/>
                    </a:solidFill>
                  </a:tcPr>
                </a:tc>
                <a:tc>
                  <a:txBody>
                    <a:bodyPr/>
                    <a:lstStyle/>
                    <a:p>
                      <a:r>
                        <a:rPr sz="1050" b="1">
                          <a:solidFill>
                            <a:srgbClr val="555555"/>
                          </a:solidFill>
                          <a:latin typeface="Arial"/>
                          <a:ea typeface="Meiryo UI"/>
                          <a:cs typeface="Meiryo UI"/>
                        </a:rPr>
                        <a:t>PROSPECTIVE</a:t>
                      </a:r>
                    </a:p>
                  </a:txBody>
                  <a:tcPr>
                    <a:solidFill>
                      <a:srgbClr val="FFFFFF"/>
                    </a:solidFill>
                  </a:tcPr>
                </a:tc>
                <a:tc>
                  <a:txBody>
                    <a:bodyPr/>
                    <a:lstStyle/>
                    <a:p>
                      <a:r>
                        <a:rPr sz="1050" b="1">
                          <a:solidFill>
                            <a:srgbClr val="555555"/>
                          </a:solidFill>
                          <a:latin typeface="Arial"/>
                          <a:ea typeface="Meiryo UI"/>
                          <a:cs typeface="Meiryo UI"/>
                        </a:rPr>
                        <a:t>—</a:t>
                      </a:r>
                    </a:p>
                  </a:txBody>
                  <a:tcPr>
                    <a:solidFill>
                      <a:srgbClr val="FFFFFF"/>
                    </a:solidFill>
                  </a:tcPr>
                </a:tc>
              </a:tr>
              <a:tr h="475488">
                <a:tc>
                  <a:txBody>
                    <a:bodyPr/>
                    <a:lstStyle/>
                    <a:p>
                      <a:r>
                        <a:rPr sz="1050" b="0">
                          <a:solidFill>
                            <a:srgbClr val="222222"/>
                          </a:solidFill>
                          <a:latin typeface="Arial"/>
                          <a:ea typeface="Meiryo UI"/>
                          <a:cs typeface="Meiryo UI"/>
                        </a:rPr>
                        <a:t>(将来⑤) 機種非依存スクリーニング+version局在</a:t>
                      </a:r>
                    </a:p>
                  </a:txBody>
                  <a:tcPr>
                    <a:solidFill>
                      <a:srgbClr val="EEF2F7"/>
                    </a:solidFill>
                  </a:tcPr>
                </a:tc>
                <a:tc>
                  <a:txBody>
                    <a:bodyPr/>
                    <a:lstStyle/>
                    <a:p>
                      <a:r>
                        <a:rPr sz="1050" b="0">
                          <a:solidFill>
                            <a:srgbClr val="222222"/>
                          </a:solidFill>
                          <a:latin typeface="Arial"/>
                          <a:ea typeface="Meiryo UI"/>
                          <a:cs typeface="Meiryo UI"/>
                        </a:rPr>
                        <a:t>原因局在</a:t>
                      </a:r>
                    </a:p>
                  </a:txBody>
                  <a:tcPr>
                    <a:solidFill>
                      <a:srgbClr val="EEF2F7"/>
                    </a:solidFill>
                  </a:tcPr>
                </a:tc>
                <a:tc>
                  <a:txBody>
                    <a:bodyPr/>
                    <a:lstStyle/>
                    <a:p>
                      <a:r>
                        <a:rPr sz="1050" b="1">
                          <a:solidFill>
                            <a:srgbClr val="555555"/>
                          </a:solidFill>
                          <a:latin typeface="Arial"/>
                          <a:ea typeface="Meiryo UI"/>
                          <a:cs typeface="Meiryo UI"/>
                        </a:rPr>
                        <a:t>MEDIUM/PROSPECTIVE</a:t>
                      </a:r>
                    </a:p>
                  </a:txBody>
                  <a:tcPr>
                    <a:solidFill>
                      <a:srgbClr val="EEF2F7"/>
                    </a:solidFill>
                  </a:tcPr>
                </a:tc>
                <a:tc>
                  <a:txBody>
                    <a:bodyPr/>
                    <a:lstStyle/>
                    <a:p>
                      <a:r>
                        <a:rPr sz="1050" b="1">
                          <a:solidFill>
                            <a:srgbClr val="1F77B4"/>
                          </a:solidFill>
                          <a:latin typeface="Arial"/>
                          <a:ea typeface="Meiryo UI"/>
                          <a:cs typeface="Meiryo UI"/>
                        </a:rPr>
                        <a:t>MEDIUM</a:t>
                      </a:r>
                    </a:p>
                  </a:txBody>
                  <a:tcPr>
                    <a:solidFill>
                      <a:srgbClr val="EEF2F7"/>
                    </a:solidFill>
                  </a:tcPr>
                </a:tc>
              </a:tr>
            </a:tbl>
          </a:graphicData>
        </a:graphic>
      </p:graphicFrame>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『技術エビデンスが強い』と『特許が取れる』は別物。強い証拠(左)と、先行技術に潰されるリスク(右)を分けて見るのがこの表の読み方。</a:t>
            </a:r>
          </a:p>
        </p:txBody>
      </p:sp>
      <p:sp>
        <p:nvSpPr>
          <p:cNvPr id="8" name="TextBox 7"/>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特許候補① 機会条件付き無応答監査（中核判定法）</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2E6E6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§5 候補①（IC1+IC6相当）</a:t>
            </a:r>
          </a:p>
        </p:txBody>
      </p:sp>
      <p:sp>
        <p:nvSpPr>
          <p:cNvPr id="5" name="TextBox 4"/>
          <p:cNvSpPr txBox="1"/>
          <p:nvPr/>
        </p:nvSpPr>
        <p:spPr>
          <a:xfrm>
            <a:off x="457200" y="859536"/>
            <a:ext cx="11274425" cy="365760"/>
          </a:xfrm>
          <a:prstGeom prst="rect">
            <a:avLst/>
          </a:prstGeom>
          <a:noFill/>
        </p:spPr>
        <p:txBody>
          <a:bodyPr wrap="square">
            <a:spAutoFit/>
          </a:bodyPr>
          <a:lstStyle/>
          <a:p>
            <a:r>
              <a:rPr sz="1200" b="1">
                <a:solidFill>
                  <a:srgbClr val="1F375B"/>
                </a:solidFill>
                <a:latin typeface="Arial"/>
                <a:ea typeface="Meiryo UI"/>
                <a:cs typeface="Meiryo UI"/>
              </a:rPr>
              <a:t>技術エビデンス強度: </a:t>
            </a:r>
            <a:r>
              <a:rPr sz="1200" b="1">
                <a:solidFill>
                  <a:srgbClr val="2CA02C"/>
                </a:solidFill>
                <a:latin typeface="Arial"/>
                <a:ea typeface="Meiryo UI"/>
                <a:cs typeface="Meiryo UI"/>
              </a:rPr>
              <a:t>STRONG    </a:t>
            </a:r>
            <a:r>
              <a:rPr sz="1200" b="1">
                <a:solidFill>
                  <a:srgbClr val="1F375B"/>
                </a:solidFill>
                <a:latin typeface="Arial"/>
                <a:ea typeface="Meiryo UI"/>
                <a:cs typeface="Meiryo UI"/>
              </a:rPr>
              <a:t>先行技術リスク(UNVERIFIED): </a:t>
            </a:r>
            <a:r>
              <a:rPr sz="1200" b="1">
                <a:solidFill>
                  <a:srgbClr val="C0392B"/>
                </a:solidFill>
                <a:latin typeface="Arial"/>
                <a:ea typeface="Meiryo UI"/>
                <a:cs typeface="Meiryo UI"/>
              </a:rPr>
              <a:t>MEDIUM-HIGH</a:t>
            </a:r>
          </a:p>
        </p:txBody>
      </p:sp>
      <p:sp>
        <p:nvSpPr>
          <p:cNvPr id="6" name="TextBox 5"/>
          <p:cNvSpPr txBox="1"/>
          <p:nvPr/>
        </p:nvSpPr>
        <p:spPr>
          <a:xfrm>
            <a:off x="457200" y="1243584"/>
            <a:ext cx="11274425" cy="4572000"/>
          </a:xfrm>
          <a:prstGeom prst="rect">
            <a:avLst/>
          </a:prstGeom>
          <a:noFill/>
        </p:spPr>
        <p:txBody>
          <a:bodyPr wrap="square">
            <a:spAutoFit/>
          </a:bodyPr>
          <a:lstStyle/>
          <a:p>
            <a:pPr>
              <a:spcBef>
                <a:spcPts val="400"/>
              </a:spcBef>
            </a:pPr>
            <a:r>
              <a:rPr sz="1300" b="1">
                <a:solidFill>
                  <a:srgbClr val="1F375B"/>
                </a:solidFill>
                <a:latin typeface="Arial"/>
                <a:ea typeface="Meiryo UI"/>
                <a:cs typeface="Meiryo UI"/>
              </a:rPr>
              <a:t>背景</a:t>
            </a:r>
          </a:p>
          <a:p>
            <a:r>
              <a:rPr sz="1180" b="0">
                <a:latin typeface="Arial"/>
                <a:ea typeface="Meiryo UI"/>
                <a:cs typeface="Meiryo UI"/>
              </a:rPr>
              <a:t>FCC再学習は『深い充放電(学習機会)』でしか起きない。だが機会の有無と応答の有無は静的検査では分離できない。</a:t>
            </a:r>
          </a:p>
          <a:p>
            <a:pPr>
              <a:spcBef>
                <a:spcPts val="400"/>
              </a:spcBef>
            </a:pPr>
            <a:r>
              <a:rPr sz="1300" b="1">
                <a:solidFill>
                  <a:srgbClr val="1F375B"/>
                </a:solidFill>
                <a:latin typeface="Arial"/>
                <a:ea typeface="Meiryo UI"/>
                <a:cs typeface="Meiryo UI"/>
              </a:rPr>
              <a:t>問題</a:t>
            </a:r>
          </a:p>
          <a:p>
            <a:r>
              <a:rPr sz="1180" b="0">
                <a:latin typeface="Arial"/>
                <a:ea typeface="Meiryo UI"/>
                <a:cs typeface="Meiryo UI"/>
              </a:rPr>
              <a:t>FCC凍結が『機会が無いだけ(正常/再較正)』なのか『機会はあるのに応答しない(FW/HW疑い)』なのか判別できない。</a:t>
            </a:r>
          </a:p>
          <a:p>
            <a:pPr>
              <a:spcBef>
                <a:spcPts val="400"/>
              </a:spcBef>
            </a:pPr>
            <a:r>
              <a:rPr sz="1300" b="1">
                <a:solidFill>
                  <a:srgbClr val="1F375B"/>
                </a:solidFill>
                <a:latin typeface="Arial"/>
                <a:ea typeface="Meiryo UI"/>
                <a:cs typeface="Meiryo UI"/>
              </a:rPr>
              <a:t>課題</a:t>
            </a:r>
          </a:p>
          <a:p>
            <a:r>
              <a:rPr sz="1180" b="0">
                <a:latin typeface="Arial"/>
                <a:ea typeface="Meiryo UI"/>
                <a:cs typeface="Meiryo UI"/>
              </a:rPr>
              <a:t>テレメトリだけで、機会の有無と応答の有無を因果的に分離し、欠測・打ち切りに騙されずに判定する。</a:t>
            </a:r>
          </a:p>
          <a:p>
            <a:pPr>
              <a:spcBef>
                <a:spcPts val="400"/>
              </a:spcBef>
            </a:pPr>
            <a:r>
              <a:rPr sz="1300" b="1">
                <a:solidFill>
                  <a:srgbClr val="1F375B"/>
                </a:solidFill>
                <a:latin typeface="Arial"/>
                <a:ea typeface="Meiryo UI"/>
                <a:cs typeface="Meiryo UI"/>
              </a:rPr>
              <a:t>解決法</a:t>
            </a:r>
          </a:p>
          <a:p>
            <a:r>
              <a:rPr sz="1180" b="0">
                <a:latin typeface="Arial"/>
                <a:ea typeface="Meiryo UI"/>
                <a:cs typeface="Meiryo UI"/>
              </a:rPr>
              <a:t>RSOC high→low→high 機会を抽出 → END起点72h窓で有効ステップを responded/no_response/censored に分類 → 段階品質ティアとcensor除外で欠測を無応答に数えない → 機会反復×無応答=FW候補 / 機会皆無=ゲージ再較正候補に二分岐。</a:t>
            </a:r>
          </a:p>
          <a:p>
            <a:pPr>
              <a:spcBef>
                <a:spcPts val="400"/>
              </a:spcBef>
            </a:pPr>
            <a:r>
              <a:rPr sz="1300" b="1">
                <a:solidFill>
                  <a:srgbClr val="1F375B"/>
                </a:solidFill>
                <a:latin typeface="Arial"/>
                <a:ea typeface="Meiryo UI"/>
                <a:cs typeface="Meiryo UI"/>
              </a:rPr>
              <a:t>特許性 / 新規性</a:t>
            </a:r>
          </a:p>
          <a:p>
            <a:r>
              <a:rPr sz="1180" b="0">
                <a:latin typeface="Arial"/>
                <a:ea typeface="Meiryo UI"/>
                <a:cs typeface="Meiryo UI"/>
              </a:rPr>
              <a:t>A2で機会-応答の特異性、A3でEND起点の因果汚染0、Eで欠測耐性を実証(根拠①②④)。【リスク】『非発生イベント監視』は広い先行技術(UNVERIFIED)→ 狭め/中位スコープ(80/20/80帯・72h窓・50mWh・censor除外を明示)での出願を推奨。</a:t>
            </a:r>
          </a:p>
        </p:txBody>
      </p:sp>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『テスト(機会)を受けたのに白紙(無応答)』の個体だけを、欠測に騙されずに自動抽出する仕組み。判定技術の中核。</a:t>
            </a:r>
          </a:p>
        </p:txBody>
      </p:sp>
      <p:sp>
        <p:nvSpPr>
          <p:cNvPr id="8" name="TextBox 7"/>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特許候補① 必要な特徴量（と作成方法）</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§5 候補①</a:t>
            </a:r>
          </a:p>
        </p:txBody>
      </p:sp>
      <p:graphicFrame>
        <p:nvGraphicFramePr>
          <p:cNvPr id="5" name="Table 4"/>
          <p:cNvGraphicFramePr>
            <a:graphicFrameLocks noGrp="1"/>
          </p:cNvGraphicFramePr>
          <p:nvPr/>
        </p:nvGraphicFramePr>
        <p:xfrm>
          <a:off x="365760" y="932688"/>
          <a:ext cx="11430000" cy="3218688"/>
        </p:xfrm>
        <a:graphic>
          <a:graphicData uri="http://schemas.openxmlformats.org/drawingml/2006/table">
            <a:tbl>
              <a:tblPr firstRow="1" bandRow="1">
                <a:tableStyleId>{5C22544A-7EE6-4342-B048-85BDC9FD1C3A}</a:tableStyleId>
              </a:tblPr>
              <a:tblGrid>
                <a:gridCol w="3108960"/>
                <a:gridCol w="1234440"/>
                <a:gridCol w="7086600"/>
              </a:tblGrid>
              <a:tr h="402336">
                <a:tc>
                  <a:txBody>
                    <a:bodyPr/>
                    <a:lstStyle/>
                    <a:p>
                      <a:r>
                        <a:rPr sz="1100" b="1">
                          <a:solidFill>
                            <a:srgbClr val="FFFFFF"/>
                          </a:solidFill>
                          <a:latin typeface="Arial"/>
                          <a:ea typeface="Meiryo UI"/>
                          <a:cs typeface="Meiryo UI"/>
                        </a:rPr>
                        <a:t>変数 / 特徴量</a:t>
                      </a:r>
                    </a:p>
                  </a:txBody>
                  <a:tcPr>
                    <a:solidFill>
                      <a:srgbClr val="1E0113"/>
                    </a:solidFill>
                  </a:tcPr>
                </a:tc>
                <a:tc>
                  <a:txBody>
                    <a:bodyPr/>
                    <a:lstStyle/>
                    <a:p>
                      <a:r>
                        <a:rPr sz="1100" b="1">
                          <a:solidFill>
                            <a:srgbClr val="FFFFFF"/>
                          </a:solidFill>
                          <a:latin typeface="Arial"/>
                          <a:ea typeface="Meiryo UI"/>
                          <a:cs typeface="Meiryo UI"/>
                        </a:rPr>
                        <a:t>種別</a:t>
                      </a:r>
                    </a:p>
                  </a:txBody>
                  <a:tcPr>
                    <a:solidFill>
                      <a:srgbClr val="1E0113"/>
                    </a:solidFill>
                  </a:tcPr>
                </a:tc>
                <a:tc>
                  <a:txBody>
                    <a:bodyPr/>
                    <a:lstStyle/>
                    <a:p>
                      <a:r>
                        <a:rPr sz="1100" b="1">
                          <a:solidFill>
                            <a:srgbClr val="FFFFFF"/>
                          </a:solidFill>
                          <a:latin typeface="Arial"/>
                          <a:ea typeface="Meiryo UI"/>
                          <a:cs typeface="Meiryo UI"/>
                        </a:rPr>
                        <a:t>作成方法（特徴量エンジニアリング）</a:t>
                      </a:r>
                    </a:p>
                  </a:txBody>
                  <a:tcPr>
                    <a:solidFill>
                      <a:srgbClr val="1E0113"/>
                    </a:solidFill>
                  </a:tcPr>
                </a:tc>
              </a:tr>
              <a:tr h="402336">
                <a:tc>
                  <a:txBody>
                    <a:bodyPr/>
                    <a:lstStyle/>
                    <a:p>
                      <a:r>
                        <a:rPr sz="1000" b="0">
                          <a:solidFill>
                            <a:srgbClr val="222222"/>
                          </a:solidFill>
                          <a:latin typeface="Arial"/>
                          <a:ea typeface="Meiryo UI"/>
                          <a:cs typeface="Meiryo UI"/>
                        </a:rPr>
                        <a:t>RSOC / FCC / cycleCount / timestamp</a:t>
                      </a:r>
                    </a:p>
                  </a:txBody>
                  <a:tcPr>
                    <a:solidFill>
                      <a:srgbClr val="EEF2F7"/>
                    </a:solidFill>
                  </a:tcPr>
                </a:tc>
                <a:tc>
                  <a:txBody>
                    <a:bodyPr/>
                    <a:lstStyle/>
                    <a:p>
                      <a:r>
                        <a:rPr sz="1000" b="1">
                          <a:solidFill>
                            <a:srgbClr val="555555"/>
                          </a:solidFill>
                          <a:latin typeface="Arial"/>
                          <a:ea typeface="Meiryo UI"/>
                          <a:cs typeface="Meiryo UI"/>
                        </a:rPr>
                        <a:t>raw</a:t>
                      </a:r>
                    </a:p>
                  </a:txBody>
                  <a:tcPr>
                    <a:solidFill>
                      <a:srgbClr val="EEF2F7"/>
                    </a:solidFill>
                  </a:tcPr>
                </a:tc>
                <a:tc>
                  <a:txBody>
                    <a:bodyPr/>
                    <a:lstStyle/>
                    <a:p>
                      <a:r>
                        <a:rPr sz="1000" b="0">
                          <a:solidFill>
                            <a:srgbClr val="222222"/>
                          </a:solidFill>
                          <a:latin typeface="Arial"/>
                          <a:ea typeface="Meiryo UI"/>
                          <a:cs typeface="Meiryo UI"/>
                        </a:rPr>
                        <a:t>テレメトリ生データ（PWMログ、30分間隔）。識別子は使わない</a:t>
                      </a:r>
                    </a:p>
                  </a:txBody>
                  <a:tcPr>
                    <a:solidFill>
                      <a:srgbClr val="EEF2F7"/>
                    </a:solidFill>
                  </a:tcPr>
                </a:tc>
              </a:tr>
              <a:tr h="402336">
                <a:tc>
                  <a:txBody>
                    <a:bodyPr/>
                    <a:lstStyle/>
                    <a:p>
                      <a:r>
                        <a:rPr sz="1000" b="0">
                          <a:solidFill>
                            <a:srgbClr val="222222"/>
                          </a:solidFill>
                          <a:latin typeface="Arial"/>
                          <a:ea typeface="Meiryo UI"/>
                          <a:cs typeface="Meiryo UI"/>
                        </a:rPr>
                        <a:t>学習機会 episode (start/low/end)</a:t>
                      </a:r>
                    </a:p>
                  </a:txBody>
                  <a:tcPr>
                    <a:solidFill>
                      <a:srgbClr val="FFFFFF"/>
                    </a:solidFill>
                  </a:tcPr>
                </a:tc>
                <a:tc>
                  <a:txBody>
                    <a:bodyPr/>
                    <a:lstStyle/>
                    <a:p>
                      <a:r>
                        <a:rPr sz="1000" b="1">
                          <a:solidFill>
                            <a:srgbClr val="2CA02C"/>
                          </a:solidFill>
                          <a:latin typeface="Arial"/>
                          <a:ea typeface="Meiryo UI"/>
                          <a:cs typeface="Meiryo UI"/>
                        </a:rPr>
                        <a:t>派生</a:t>
                      </a:r>
                    </a:p>
                  </a:txBody>
                  <a:tcPr>
                    <a:solidFill>
                      <a:srgbClr val="FFFFFF"/>
                    </a:solidFill>
                  </a:tcPr>
                </a:tc>
                <a:tc>
                  <a:txBody>
                    <a:bodyPr/>
                    <a:lstStyle/>
                    <a:p>
                      <a:r>
                        <a:rPr sz="1000" b="0">
                          <a:solidFill>
                            <a:srgbClr val="222222"/>
                          </a:solidFill>
                          <a:latin typeface="Arial"/>
                          <a:ea typeface="Meiryo UI"/>
                          <a:cs typeface="Meiryo UI"/>
                        </a:rPr>
                        <a:t>RSOC high→low→high 状態機械(80/20/80等): extract_high_low_high_episodes</a:t>
                      </a:r>
                    </a:p>
                  </a:txBody>
                  <a:tcPr>
                    <a:solidFill>
                      <a:srgbClr val="FFFFFF"/>
                    </a:solidFill>
                  </a:tcPr>
                </a:tc>
              </a:tr>
              <a:tr h="402336">
                <a:tc>
                  <a:txBody>
                    <a:bodyPr/>
                    <a:lstStyle/>
                    <a:p>
                      <a:r>
                        <a:rPr sz="1000" b="0">
                          <a:solidFill>
                            <a:srgbClr val="222222"/>
                          </a:solidFill>
                          <a:latin typeface="Arial"/>
                          <a:ea typeface="Meiryo UI"/>
                          <a:cs typeface="Meiryo UI"/>
                        </a:rPr>
                        <a:t>有効FCCステップ(≥50mWh)</a:t>
                      </a:r>
                    </a:p>
                  </a:txBody>
                  <a:tcPr>
                    <a:solidFill>
                      <a:srgbClr val="EEF2F7"/>
                    </a:solidFill>
                  </a:tcPr>
                </a:tc>
                <a:tc>
                  <a:txBody>
                    <a:bodyPr/>
                    <a:lstStyle/>
                    <a:p>
                      <a:r>
                        <a:rPr sz="1000" b="1">
                          <a:solidFill>
                            <a:srgbClr val="2CA02C"/>
                          </a:solidFill>
                          <a:latin typeface="Arial"/>
                          <a:ea typeface="Meiryo UI"/>
                          <a:cs typeface="Meiryo UI"/>
                        </a:rPr>
                        <a:t>派生</a:t>
                      </a:r>
                    </a:p>
                  </a:txBody>
                  <a:tcPr>
                    <a:solidFill>
                      <a:srgbClr val="EEF2F7"/>
                    </a:solidFill>
                  </a:tcPr>
                </a:tc>
                <a:tc>
                  <a:txBody>
                    <a:bodyPr/>
                    <a:lstStyle/>
                    <a:p>
                      <a:r>
                        <a:rPr sz="1000" b="0">
                          <a:solidFill>
                            <a:srgbClr val="222222"/>
                          </a:solidFill>
                          <a:latin typeface="Arial"/>
                          <a:ea typeface="Meiryo UI"/>
                          <a:cs typeface="Meiryo UI"/>
                        </a:rPr>
                        <a:t>時刻順FCC差分の絶対値≥50mWh: fcc_step_indicator(FCC,50)</a:t>
                      </a:r>
                    </a:p>
                  </a:txBody>
                  <a:tcPr>
                    <a:solidFill>
                      <a:srgbClr val="EEF2F7"/>
                    </a:solidFill>
                  </a:tcPr>
                </a:tc>
              </a:tr>
              <a:tr h="402336">
                <a:tc>
                  <a:txBody>
                    <a:bodyPr/>
                    <a:lstStyle/>
                    <a:p>
                      <a:r>
                        <a:rPr sz="1000" b="0">
                          <a:solidFill>
                            <a:srgbClr val="222222"/>
                          </a:solidFill>
                          <a:latin typeface="Arial"/>
                          <a:ea typeface="Meiryo UI"/>
                          <a:cs typeface="Meiryo UI"/>
                        </a:rPr>
                        <a:t>応答ステータス response_status_72h</a:t>
                      </a:r>
                    </a:p>
                  </a:txBody>
                  <a:tcPr>
                    <a:solidFill>
                      <a:srgbClr val="FFFFFF"/>
                    </a:solidFill>
                  </a:tcPr>
                </a:tc>
                <a:tc>
                  <a:txBody>
                    <a:bodyPr/>
                    <a:lstStyle/>
                    <a:p>
                      <a:r>
                        <a:rPr sz="1000" b="1">
                          <a:solidFill>
                            <a:srgbClr val="2CA02C"/>
                          </a:solidFill>
                          <a:latin typeface="Arial"/>
                          <a:ea typeface="Meiryo UI"/>
                          <a:cs typeface="Meiryo UI"/>
                        </a:rPr>
                        <a:t>派生</a:t>
                      </a:r>
                    </a:p>
                  </a:txBody>
                  <a:tcPr>
                    <a:solidFill>
                      <a:srgbClr val="FFFFFF"/>
                    </a:solidFill>
                  </a:tcPr>
                </a:tc>
                <a:tc>
                  <a:txBody>
                    <a:bodyPr/>
                    <a:lstStyle/>
                    <a:p>
                      <a:r>
                        <a:rPr sz="1000" b="0">
                          <a:solidFill>
                            <a:srgbClr val="222222"/>
                          </a:solidFill>
                          <a:latin typeface="Arial"/>
                          <a:ea typeface="Meiryo UI"/>
                          <a:cs typeface="Meiryo UI"/>
                        </a:rPr>
                        <a:t>END起点[end,end+72h]の有効step有無+窓完全性で responded/no_response/censored</a:t>
                      </a:r>
                    </a:p>
                  </a:txBody>
                  <a:tcPr>
                    <a:solidFill>
                      <a:srgbClr val="FFFFFF"/>
                    </a:solidFill>
                  </a:tcPr>
                </a:tc>
              </a:tr>
              <a:tr h="402336">
                <a:tc>
                  <a:txBody>
                    <a:bodyPr/>
                    <a:lstStyle/>
                    <a:p>
                      <a:r>
                        <a:rPr sz="1000" b="0">
                          <a:solidFill>
                            <a:srgbClr val="222222"/>
                          </a:solidFill>
                          <a:latin typeface="Arial"/>
                          <a:ea typeface="Meiryo UI"/>
                          <a:cs typeface="Meiryo UI"/>
                        </a:rPr>
                        <a:t>段階品質ティア quality_tier</a:t>
                      </a:r>
                    </a:p>
                  </a:txBody>
                  <a:tcPr>
                    <a:solidFill>
                      <a:srgbClr val="EEF2F7"/>
                    </a:solidFill>
                  </a:tcPr>
                </a:tc>
                <a:tc>
                  <a:txBody>
                    <a:bodyPr/>
                    <a:lstStyle/>
                    <a:p>
                      <a:r>
                        <a:rPr sz="1000" b="1">
                          <a:solidFill>
                            <a:srgbClr val="2CA02C"/>
                          </a:solidFill>
                          <a:latin typeface="Arial"/>
                          <a:ea typeface="Meiryo UI"/>
                          <a:cs typeface="Meiryo UI"/>
                        </a:rPr>
                        <a:t>派生</a:t>
                      </a:r>
                    </a:p>
                  </a:txBody>
                  <a:tcPr>
                    <a:solidFill>
                      <a:srgbClr val="EEF2F7"/>
                    </a:solidFill>
                  </a:tcPr>
                </a:tc>
                <a:tc>
                  <a:txBody>
                    <a:bodyPr/>
                    <a:lstStyle/>
                    <a:p>
                      <a:r>
                        <a:rPr sz="1000" b="0">
                          <a:solidFill>
                            <a:srgbClr val="222222"/>
                          </a:solidFill>
                          <a:latin typeface="Arial"/>
                          <a:ea typeface="Meiryo UI"/>
                          <a:cs typeface="Meiryo UI"/>
                        </a:rPr>
                        <a:t>エピソード最大ギャップ→HIGH_OK/MEDIUM_GAP/LOW_LARGE_GAP: online_gap_quality</a:t>
                      </a:r>
                    </a:p>
                  </a:txBody>
                  <a:tcPr>
                    <a:solidFill>
                      <a:srgbClr val="EEF2F7"/>
                    </a:solidFill>
                  </a:tcPr>
                </a:tc>
              </a:tr>
              <a:tr h="402336">
                <a:tc>
                  <a:txBody>
                    <a:bodyPr/>
                    <a:lstStyle/>
                    <a:p>
                      <a:r>
                        <a:rPr sz="1000" b="0">
                          <a:solidFill>
                            <a:srgbClr val="222222"/>
                          </a:solidFill>
                          <a:latin typeface="Arial"/>
                          <a:ea typeface="Meiryo UI"/>
                          <a:cs typeface="Meiryo UI"/>
                        </a:rPr>
                        <a:t>二分岐スコア(FW/ゲージ)</a:t>
                      </a:r>
                    </a:p>
                  </a:txBody>
                  <a:tcPr>
                    <a:solidFill>
                      <a:srgbClr val="FFFFFF"/>
                    </a:solidFill>
                  </a:tcPr>
                </a:tc>
                <a:tc>
                  <a:txBody>
                    <a:bodyPr/>
                    <a:lstStyle/>
                    <a:p>
                      <a:r>
                        <a:rPr sz="1000" b="1">
                          <a:solidFill>
                            <a:srgbClr val="2CA02C"/>
                          </a:solidFill>
                          <a:latin typeface="Arial"/>
                          <a:ea typeface="Meiryo UI"/>
                          <a:cs typeface="Meiryo UI"/>
                        </a:rPr>
                        <a:t>派生</a:t>
                      </a:r>
                    </a:p>
                  </a:txBody>
                  <a:tcPr>
                    <a:solidFill>
                      <a:srgbClr val="FFFFFF"/>
                    </a:solidFill>
                  </a:tcPr>
                </a:tc>
                <a:tc>
                  <a:txBody>
                    <a:bodyPr/>
                    <a:lstStyle/>
                    <a:p>
                      <a:r>
                        <a:rPr sz="1000" b="0">
                          <a:solidFill>
                            <a:srgbClr val="222222"/>
                          </a:solidFill>
                          <a:latin typeface="Arial"/>
                          <a:ea typeface="Meiryo UI"/>
                          <a:cs typeface="Meiryo UI"/>
                        </a:rPr>
                        <a:t>機会反復×無応答 vs 機会皆無 のカウンタから振り分け</a:t>
                      </a:r>
                    </a:p>
                  </a:txBody>
                  <a:tcPr>
                    <a:solidFill>
                      <a:srgbClr val="FFFFFF"/>
                    </a:solidFill>
                  </a:tcPr>
                </a:tc>
              </a:tr>
              <a:tr h="402336">
                <a:tc>
                  <a:txBody>
                    <a:bodyPr/>
                    <a:lstStyle/>
                    <a:p>
                      <a:r>
                        <a:rPr sz="1000" b="0">
                          <a:solidFill>
                            <a:srgbClr val="222222"/>
                          </a:solidFill>
                          <a:latin typeface="Arial"/>
                          <a:ea typeface="Meiryo UI"/>
                          <a:cs typeface="Meiryo UI"/>
                        </a:rPr>
                        <a:t>(学習除外) 機種名/ベンダー/FRU</a:t>
                      </a:r>
                    </a:p>
                  </a:txBody>
                  <a:tcPr>
                    <a:solidFill>
                      <a:srgbClr val="EEF2F7"/>
                    </a:solidFill>
                  </a:tcPr>
                </a:tc>
                <a:tc>
                  <a:txBody>
                    <a:bodyPr/>
                    <a:lstStyle/>
                    <a:p>
                      <a:r>
                        <a:rPr sz="1000" b="1">
                          <a:solidFill>
                            <a:srgbClr val="555555"/>
                          </a:solidFill>
                          <a:latin typeface="Arial"/>
                          <a:ea typeface="Meiryo UI"/>
                          <a:cs typeface="Meiryo UI"/>
                        </a:rPr>
                        <a:t>—</a:t>
                      </a:r>
                    </a:p>
                  </a:txBody>
                  <a:tcPr>
                    <a:solidFill>
                      <a:srgbClr val="EEF2F7"/>
                    </a:solidFill>
                  </a:tcPr>
                </a:tc>
                <a:tc>
                  <a:txBody>
                    <a:bodyPr/>
                    <a:lstStyle/>
                    <a:p>
                      <a:r>
                        <a:rPr sz="1000" b="0">
                          <a:solidFill>
                            <a:srgbClr val="222222"/>
                          </a:solidFill>
                          <a:latin typeface="Arial"/>
                          <a:ea typeface="Meiryo UI"/>
                          <a:cs typeface="Meiryo UI"/>
                        </a:rPr>
                        <a:t>ハードウェア識別子は判定に一切使わない(機種非依存)</a:t>
                      </a:r>
                    </a:p>
                  </a:txBody>
                  <a:tcPr>
                    <a:solidFill>
                      <a:srgbClr val="EEF2F7"/>
                    </a:solidFill>
                  </a:tcPr>
                </a:tc>
              </a:tr>
            </a:tbl>
          </a:graphicData>
        </a:graphic>
      </p:graphicFrame>
      <p:sp>
        <p:nvSpPr>
          <p:cNvPr id="6" name="TextBox 5"/>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生データは4列だけ。あとは全て派生量 — 『何を数えるか』の設計そのものが発明。</a:t>
            </a:r>
          </a:p>
        </p:txBody>
      </p:sp>
      <p:sp>
        <p:nvSpPr>
          <p:cNvPr id="8" name="TextBox 7"/>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特許候補② デュアルトラック非対称リセット状態機械</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2E6E6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§5 候補②（IC2+C3相当）</a:t>
            </a:r>
          </a:p>
        </p:txBody>
      </p:sp>
      <p:sp>
        <p:nvSpPr>
          <p:cNvPr id="5" name="TextBox 4"/>
          <p:cNvSpPr txBox="1"/>
          <p:nvPr/>
        </p:nvSpPr>
        <p:spPr>
          <a:xfrm>
            <a:off x="457200" y="859536"/>
            <a:ext cx="11274425" cy="365760"/>
          </a:xfrm>
          <a:prstGeom prst="rect">
            <a:avLst/>
          </a:prstGeom>
          <a:noFill/>
        </p:spPr>
        <p:txBody>
          <a:bodyPr wrap="square">
            <a:spAutoFit/>
          </a:bodyPr>
          <a:lstStyle/>
          <a:p>
            <a:r>
              <a:rPr sz="1200" b="1">
                <a:solidFill>
                  <a:srgbClr val="1F375B"/>
                </a:solidFill>
                <a:latin typeface="Arial"/>
                <a:ea typeface="Meiryo UI"/>
                <a:cs typeface="Meiryo UI"/>
              </a:rPr>
              <a:t>技術エビデンス強度: </a:t>
            </a:r>
            <a:r>
              <a:rPr sz="1200" b="1">
                <a:solidFill>
                  <a:srgbClr val="2CA02C"/>
                </a:solidFill>
                <a:latin typeface="Arial"/>
                <a:ea typeface="Meiryo UI"/>
                <a:cs typeface="Meiryo UI"/>
              </a:rPr>
              <a:t>STRONG    </a:t>
            </a:r>
            <a:r>
              <a:rPr sz="1200" b="1">
                <a:solidFill>
                  <a:srgbClr val="1F375B"/>
                </a:solidFill>
                <a:latin typeface="Arial"/>
                <a:ea typeface="Meiryo UI"/>
                <a:cs typeface="Meiryo UI"/>
              </a:rPr>
              <a:t>先行技術リスク(UNVERIFIED): </a:t>
            </a:r>
            <a:r>
              <a:rPr sz="1200" b="1">
                <a:solidFill>
                  <a:srgbClr val="C0392B"/>
                </a:solidFill>
                <a:latin typeface="Arial"/>
                <a:ea typeface="Meiryo UI"/>
                <a:cs typeface="Meiryo UI"/>
              </a:rPr>
              <a:t>HIGH</a:t>
            </a:r>
          </a:p>
        </p:txBody>
      </p:sp>
      <p:sp>
        <p:nvSpPr>
          <p:cNvPr id="6" name="TextBox 5"/>
          <p:cNvSpPr txBox="1"/>
          <p:nvPr/>
        </p:nvSpPr>
        <p:spPr>
          <a:xfrm>
            <a:off x="457200" y="1243584"/>
            <a:ext cx="11274425" cy="4572000"/>
          </a:xfrm>
          <a:prstGeom prst="rect">
            <a:avLst/>
          </a:prstGeom>
          <a:noFill/>
        </p:spPr>
        <p:txBody>
          <a:bodyPr wrap="square">
            <a:spAutoFit/>
          </a:bodyPr>
          <a:lstStyle/>
          <a:p>
            <a:pPr>
              <a:spcBef>
                <a:spcPts val="400"/>
              </a:spcBef>
            </a:pPr>
            <a:r>
              <a:rPr sz="1300" b="1">
                <a:solidFill>
                  <a:srgbClr val="1F375B"/>
                </a:solidFill>
                <a:latin typeface="Arial"/>
                <a:ea typeface="Meiryo UI"/>
                <a:cs typeface="Meiryo UI"/>
              </a:rPr>
              <a:t>背景</a:t>
            </a:r>
          </a:p>
          <a:p>
            <a:r>
              <a:rPr sz="1180" b="0">
                <a:latin typeface="Arial"/>
                <a:ea typeface="Meiryo UI"/>
                <a:cs typeface="Meiryo UI"/>
              </a:rPr>
              <a:t>燃料計は整数mWh量子化(最小10mWh)。微小変化(micro)と意味ある再学習(effective≥50mWh)が混在する(二峰分布: モード 14 / 217mWh、micro率58.1%)。</a:t>
            </a:r>
          </a:p>
          <a:p>
            <a:pPr>
              <a:spcBef>
                <a:spcPts val="400"/>
              </a:spcBef>
            </a:pPr>
            <a:r>
              <a:rPr sz="1300" b="1">
                <a:solidFill>
                  <a:srgbClr val="1F375B"/>
                </a:solidFill>
                <a:latin typeface="Arial"/>
                <a:ea typeface="Meiryo UI"/>
                <a:cs typeface="Meiryo UI"/>
              </a:rPr>
              <a:t>問題</a:t>
            </a:r>
          </a:p>
          <a:p>
            <a:r>
              <a:rPr sz="1180" b="0">
                <a:latin typeface="Arial"/>
                <a:ea typeface="Meiryo UI"/>
                <a:cs typeface="Meiryo UI"/>
              </a:rPr>
              <a:t>状態を1系統で持つと、microステップが『まだ未解決の無応答証拠』をリセットして消してしまい、FW疑いを見逃す。</a:t>
            </a:r>
          </a:p>
          <a:p>
            <a:pPr>
              <a:spcBef>
                <a:spcPts val="400"/>
              </a:spcBef>
            </a:pPr>
            <a:r>
              <a:rPr sz="1300" b="1">
                <a:solidFill>
                  <a:srgbClr val="1F375B"/>
                </a:solidFill>
                <a:latin typeface="Arial"/>
                <a:ea typeface="Meiryo UI"/>
                <a:cs typeface="Meiryo UI"/>
              </a:rPr>
              <a:t>課題</a:t>
            </a:r>
          </a:p>
          <a:p>
            <a:r>
              <a:rPr sz="1180" b="0">
                <a:latin typeface="Arial"/>
                <a:ea typeface="Meiryo UI"/>
                <a:cs typeface="Meiryo UI"/>
              </a:rPr>
              <a:t>微小ゆらぎで証拠を失わず、かつ『ソフト較正で済む個体』と『ハードリセットが要る個体』を区別する(過剰なハード指示を避ける)。</a:t>
            </a:r>
          </a:p>
          <a:p>
            <a:pPr>
              <a:spcBef>
                <a:spcPts val="400"/>
              </a:spcBef>
            </a:pPr>
            <a:r>
              <a:rPr sz="1300" b="1">
                <a:solidFill>
                  <a:srgbClr val="1F375B"/>
                </a:solidFill>
                <a:latin typeface="Arial"/>
                <a:ea typeface="Meiryo UI"/>
                <a:cs typeface="Meiryo UI"/>
              </a:rPr>
              <a:t>解決法</a:t>
            </a:r>
          </a:p>
          <a:p>
            <a:r>
              <a:rPr sz="1180" b="0">
                <a:latin typeface="Arial"/>
                <a:ea typeface="Meiryo UI"/>
                <a:cs typeface="Meiryo UI"/>
              </a:rPr>
              <a:t>any系統(任意変化でリセット)とeffective系統(≥50mWhのみリセット)を分離。microはany系統だけリセットし、effective状態・未解決証拠は保持(非対称)。同時刻イベントは complete&lt;reset&lt;deadline の決定的順序で処理。</a:t>
            </a:r>
          </a:p>
          <a:p>
            <a:pPr>
              <a:spcBef>
                <a:spcPts val="400"/>
              </a:spcBef>
            </a:pPr>
            <a:r>
              <a:rPr sz="1300" b="1">
                <a:solidFill>
                  <a:srgbClr val="1F375B"/>
                </a:solidFill>
                <a:latin typeface="Arial"/>
                <a:ea typeface="Meiryo UI"/>
                <a:cs typeface="Meiryo UI"/>
              </a:rPr>
              <a:t>特許性 / 新規性</a:t>
            </a:r>
          </a:p>
          <a:p>
            <a:r>
              <a:rPr sz="1180" b="0">
                <a:latin typeface="Arial"/>
                <a:ea typeface="Meiryo UI"/>
                <a:cs typeface="Meiryo UI"/>
              </a:rPr>
              <a:t>C2アブレーション: 対称リセットは保留1802件+確定無応答462件を281ユーザーで消去、非対称は消去0。ハード指示 209→97件(112件をソフト較正へ)。【リスク高】本設計は既にproduction実装済み(v4は特徴付け/検証であり着想ではない)+deadband系は一般的先行技術→ 新規性は着想日依存(法的論点)。クレームは非対称リセット規則を明示。</a:t>
            </a:r>
          </a:p>
        </p:txBody>
      </p:sp>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小銭のゆらぎ(micro)で捜査ファイル(証拠)を閉じない、二重帳簿+非対称リセット。ただし着想日の確認が必須。</a:t>
            </a:r>
          </a:p>
        </p:txBody>
      </p:sp>
      <p:sp>
        <p:nvSpPr>
          <p:cNvPr id="8" name="TextBox 7"/>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仕組み図解B — dual-track 非対称リセットの動き</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2E6E6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§5 候補② ─ 図解</a:t>
            </a:r>
          </a:p>
        </p:txBody>
      </p:sp>
      <p:cxnSp>
        <p:nvCxnSpPr>
          <p:cNvPr id="5" name="Connector 4"/>
          <p:cNvCxnSpPr/>
          <p:nvPr/>
        </p:nvCxnSpPr>
        <p:spPr>
          <a:xfrm>
            <a:off x="548640" y="1874519"/>
            <a:ext cx="6126480" cy="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89320" y="1929383"/>
            <a:ext cx="914400" cy="274320"/>
          </a:xfrm>
          <a:prstGeom prst="rect">
            <a:avLst/>
          </a:prstGeom>
          <a:noFill/>
        </p:spPr>
        <p:txBody>
          <a:bodyPr wrap="square">
            <a:spAutoFit/>
          </a:bodyPr>
          <a:lstStyle/>
          <a:p>
            <a:r>
              <a:rPr sz="1000" b="0">
                <a:solidFill>
                  <a:srgbClr val="555555"/>
                </a:solidFill>
                <a:latin typeface="Arial"/>
                <a:ea typeface="Meiryo UI"/>
                <a:cs typeface="Meiryo UI"/>
              </a:rPr>
              <a:t>時間 →</a:t>
            </a:r>
          </a:p>
        </p:txBody>
      </p:sp>
      <p:cxnSp>
        <p:nvCxnSpPr>
          <p:cNvPr id="7" name="Connector 6"/>
          <p:cNvCxnSpPr/>
          <p:nvPr/>
        </p:nvCxnSpPr>
        <p:spPr>
          <a:xfrm>
            <a:off x="1554480" y="1618487"/>
            <a:ext cx="0" cy="256032"/>
          </a:xfrm>
          <a:prstGeom prst="line">
            <a:avLst/>
          </a:prstGeom>
          <a:ln w="38100">
            <a:solidFill>
              <a:srgbClr val="B05A0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51560" y="1179575"/>
            <a:ext cx="1371600" cy="411480"/>
          </a:xfrm>
          <a:prstGeom prst="rect">
            <a:avLst/>
          </a:prstGeom>
          <a:noFill/>
        </p:spPr>
        <p:txBody>
          <a:bodyPr wrap="square">
            <a:spAutoFit/>
          </a:bodyPr>
          <a:lstStyle/>
          <a:p>
            <a:pPr algn="ctr"/>
            <a:r>
              <a:rPr sz="900" b="1">
                <a:solidFill>
                  <a:srgbClr val="B05A00"/>
                </a:solidFill>
                <a:latin typeface="Arial"/>
                <a:ea typeface="Meiryo UI"/>
                <a:cs typeface="Meiryo UI"/>
              </a:rPr>
              <a:t>micro</a:t>
            </a:r>
            <a:br/>
            <a:r>
              <a:rPr sz="900" b="1">
                <a:solidFill>
                  <a:srgbClr val="B05A00"/>
                </a:solidFill>
                <a:latin typeface="Arial"/>
                <a:ea typeface="Meiryo UI"/>
                <a:cs typeface="Meiryo UI"/>
              </a:rPr>
              <a:t>+20mWh</a:t>
            </a:r>
          </a:p>
        </p:txBody>
      </p:sp>
      <p:cxnSp>
        <p:nvCxnSpPr>
          <p:cNvPr id="9" name="Connector 8"/>
          <p:cNvCxnSpPr/>
          <p:nvPr/>
        </p:nvCxnSpPr>
        <p:spPr>
          <a:xfrm>
            <a:off x="3291840" y="1417319"/>
            <a:ext cx="0" cy="457200"/>
          </a:xfrm>
          <a:prstGeom prst="line">
            <a:avLst/>
          </a:prstGeom>
          <a:ln w="38100">
            <a:solidFill>
              <a:srgbClr val="2CA02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788920" y="978407"/>
            <a:ext cx="1371600" cy="411480"/>
          </a:xfrm>
          <a:prstGeom prst="rect">
            <a:avLst/>
          </a:prstGeom>
          <a:noFill/>
        </p:spPr>
        <p:txBody>
          <a:bodyPr wrap="square">
            <a:spAutoFit/>
          </a:bodyPr>
          <a:lstStyle/>
          <a:p>
            <a:pPr algn="ctr"/>
            <a:r>
              <a:rPr sz="900" b="1">
                <a:solidFill>
                  <a:srgbClr val="2CA02C"/>
                </a:solidFill>
                <a:latin typeface="Arial"/>
                <a:ea typeface="Meiryo UI"/>
                <a:cs typeface="Meiryo UI"/>
              </a:rPr>
              <a:t>有効ステップ</a:t>
            </a:r>
            <a:br/>
            <a:r>
              <a:rPr sz="900" b="1">
                <a:solidFill>
                  <a:srgbClr val="2CA02C"/>
                </a:solidFill>
                <a:latin typeface="Arial"/>
                <a:ea typeface="Meiryo UI"/>
                <a:cs typeface="Meiryo UI"/>
              </a:rPr>
              <a:t>+300mWh</a:t>
            </a:r>
          </a:p>
        </p:txBody>
      </p:sp>
      <p:cxnSp>
        <p:nvCxnSpPr>
          <p:cNvPr id="11" name="Connector 10"/>
          <p:cNvCxnSpPr/>
          <p:nvPr/>
        </p:nvCxnSpPr>
        <p:spPr>
          <a:xfrm>
            <a:off x="5029200" y="1618487"/>
            <a:ext cx="0" cy="256032"/>
          </a:xfrm>
          <a:prstGeom prst="line">
            <a:avLst/>
          </a:prstGeom>
          <a:ln w="38100">
            <a:solidFill>
              <a:srgbClr val="B05A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526280" y="1179575"/>
            <a:ext cx="1371600" cy="411480"/>
          </a:xfrm>
          <a:prstGeom prst="rect">
            <a:avLst/>
          </a:prstGeom>
          <a:noFill/>
        </p:spPr>
        <p:txBody>
          <a:bodyPr wrap="square">
            <a:spAutoFit/>
          </a:bodyPr>
          <a:lstStyle/>
          <a:p>
            <a:pPr algn="ctr"/>
            <a:r>
              <a:rPr sz="900" b="1">
                <a:solidFill>
                  <a:srgbClr val="B05A00"/>
                </a:solidFill>
                <a:latin typeface="Arial"/>
                <a:ea typeface="Meiryo UI"/>
                <a:cs typeface="Meiryo UI"/>
              </a:rPr>
              <a:t>micro</a:t>
            </a:r>
            <a:br/>
            <a:r>
              <a:rPr sz="900" b="1">
                <a:solidFill>
                  <a:srgbClr val="B05A00"/>
                </a:solidFill>
                <a:latin typeface="Arial"/>
                <a:ea typeface="Meiryo UI"/>
                <a:cs typeface="Meiryo UI"/>
              </a:rPr>
              <a:t>−30mWh</a:t>
            </a:r>
          </a:p>
        </p:txBody>
      </p:sp>
      <p:sp>
        <p:nvSpPr>
          <p:cNvPr id="13" name="Rounded Rectangle 12"/>
          <p:cNvSpPr/>
          <p:nvPr/>
        </p:nvSpPr>
        <p:spPr>
          <a:xfrm>
            <a:off x="548640" y="2377440"/>
            <a:ext cx="6126480" cy="1051560"/>
          </a:xfrm>
          <a:prstGeom prst="roundRect">
            <a:avLst/>
          </a:prstGeom>
          <a:solidFill>
            <a:srgbClr val="E2ECF7"/>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1F375B"/>
                </a:solidFill>
                <a:latin typeface="Arial"/>
                <a:ea typeface="Meiryo UI"/>
                <a:cs typeface="Meiryo UI"/>
              </a:rPr>
              <a:t>any系統 — どんな変化でもリセット</a:t>
            </a:r>
          </a:p>
          <a:p>
            <a:pPr algn="ctr"/>
            <a:r>
              <a:rPr sz="950" b="0">
                <a:solidFill>
                  <a:srgbClr val="1F375B"/>
                </a:solidFill>
                <a:latin typeface="Arial"/>
                <a:ea typeface="Meiryo UI"/>
                <a:cs typeface="Meiryo UI"/>
              </a:rPr>
              <a:t>『最後に何か動いてから何日/何サイクル』を追跡（微小ゆらぎ検知・軽い較正促し用）</a:t>
            </a:r>
          </a:p>
        </p:txBody>
      </p:sp>
      <p:sp>
        <p:nvSpPr>
          <p:cNvPr id="14" name="TextBox 13"/>
          <p:cNvSpPr txBox="1"/>
          <p:nvPr/>
        </p:nvSpPr>
        <p:spPr>
          <a:xfrm>
            <a:off x="1325880" y="3081528"/>
            <a:ext cx="731520" cy="274320"/>
          </a:xfrm>
          <a:prstGeom prst="rect">
            <a:avLst/>
          </a:prstGeom>
          <a:noFill/>
        </p:spPr>
        <p:txBody>
          <a:bodyPr wrap="square">
            <a:spAutoFit/>
          </a:bodyPr>
          <a:lstStyle/>
          <a:p>
            <a:r>
              <a:rPr sz="900" b="1">
                <a:solidFill>
                  <a:srgbClr val="1F77B4"/>
                </a:solidFill>
                <a:latin typeface="Arial"/>
                <a:ea typeface="Meiryo UI"/>
                <a:cs typeface="Meiryo UI"/>
              </a:rPr>
              <a:t>↻リセット</a:t>
            </a:r>
          </a:p>
        </p:txBody>
      </p:sp>
      <p:sp>
        <p:nvSpPr>
          <p:cNvPr id="15" name="TextBox 14"/>
          <p:cNvSpPr txBox="1"/>
          <p:nvPr/>
        </p:nvSpPr>
        <p:spPr>
          <a:xfrm>
            <a:off x="3063240" y="3081528"/>
            <a:ext cx="731520" cy="274320"/>
          </a:xfrm>
          <a:prstGeom prst="rect">
            <a:avLst/>
          </a:prstGeom>
          <a:noFill/>
        </p:spPr>
        <p:txBody>
          <a:bodyPr wrap="square">
            <a:spAutoFit/>
          </a:bodyPr>
          <a:lstStyle/>
          <a:p>
            <a:r>
              <a:rPr sz="900" b="1">
                <a:solidFill>
                  <a:srgbClr val="1F77B4"/>
                </a:solidFill>
                <a:latin typeface="Arial"/>
                <a:ea typeface="Meiryo UI"/>
                <a:cs typeface="Meiryo UI"/>
              </a:rPr>
              <a:t>↻リセット</a:t>
            </a:r>
          </a:p>
        </p:txBody>
      </p:sp>
      <p:sp>
        <p:nvSpPr>
          <p:cNvPr id="16" name="TextBox 15"/>
          <p:cNvSpPr txBox="1"/>
          <p:nvPr/>
        </p:nvSpPr>
        <p:spPr>
          <a:xfrm>
            <a:off x="4800600" y="3081528"/>
            <a:ext cx="731520" cy="274320"/>
          </a:xfrm>
          <a:prstGeom prst="rect">
            <a:avLst/>
          </a:prstGeom>
          <a:noFill/>
        </p:spPr>
        <p:txBody>
          <a:bodyPr wrap="square">
            <a:spAutoFit/>
          </a:bodyPr>
          <a:lstStyle/>
          <a:p>
            <a:r>
              <a:rPr sz="900" b="1">
                <a:solidFill>
                  <a:srgbClr val="1F77B4"/>
                </a:solidFill>
                <a:latin typeface="Arial"/>
                <a:ea typeface="Meiryo UI"/>
                <a:cs typeface="Meiryo UI"/>
              </a:rPr>
              <a:t>↻リセット</a:t>
            </a:r>
          </a:p>
        </p:txBody>
      </p:sp>
      <p:sp>
        <p:nvSpPr>
          <p:cNvPr id="17" name="Rounded Rectangle 16"/>
          <p:cNvSpPr/>
          <p:nvPr/>
        </p:nvSpPr>
        <p:spPr>
          <a:xfrm>
            <a:off x="548640" y="3611880"/>
            <a:ext cx="6126480" cy="1188720"/>
          </a:xfrm>
          <a:prstGeom prst="roundRect">
            <a:avLst/>
          </a:prstGeom>
          <a:solidFill>
            <a:srgbClr val="E4F0E4"/>
          </a:solidFill>
          <a:ln>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376B3A"/>
                </a:solidFill>
                <a:latin typeface="Arial"/>
                <a:ea typeface="Meiryo UI"/>
                <a:cs typeface="Meiryo UI"/>
              </a:rPr>
              <a:t>effective系統 — ≥50mWhのみリセット</a:t>
            </a:r>
          </a:p>
          <a:p>
            <a:pPr algn="ctr"/>
            <a:r>
              <a:rPr sz="950" b="0">
                <a:solidFill>
                  <a:srgbClr val="376B3A"/>
                </a:solidFill>
                <a:latin typeface="Arial"/>
                <a:ea typeface="Meiryo UI"/>
                <a:cs typeface="Meiryo UI"/>
              </a:rPr>
              <a:t>未解決の無応答証拠・機会カウンタ・pending期限を保持（FW疑い判定用）</a:t>
            </a:r>
          </a:p>
        </p:txBody>
      </p:sp>
      <p:sp>
        <p:nvSpPr>
          <p:cNvPr id="18" name="TextBox 17"/>
          <p:cNvSpPr txBox="1"/>
          <p:nvPr/>
        </p:nvSpPr>
        <p:spPr>
          <a:xfrm>
            <a:off x="1051560" y="4434840"/>
            <a:ext cx="822960" cy="274320"/>
          </a:xfrm>
          <a:prstGeom prst="rect">
            <a:avLst/>
          </a:prstGeom>
          <a:noFill/>
        </p:spPr>
        <p:txBody>
          <a:bodyPr wrap="square">
            <a:spAutoFit/>
          </a:bodyPr>
          <a:lstStyle/>
          <a:p>
            <a:r>
              <a:rPr sz="950" b="1">
                <a:solidFill>
                  <a:srgbClr val="376B3A"/>
                </a:solidFill>
                <a:latin typeface="Arial"/>
                <a:ea typeface="Meiryo UI"/>
                <a:cs typeface="Meiryo UI"/>
              </a:rPr>
              <a:t>保持</a:t>
            </a:r>
          </a:p>
        </p:txBody>
      </p:sp>
      <p:sp>
        <p:nvSpPr>
          <p:cNvPr id="19" name="TextBox 18"/>
          <p:cNvSpPr txBox="1"/>
          <p:nvPr/>
        </p:nvSpPr>
        <p:spPr>
          <a:xfrm>
            <a:off x="3017520" y="4434840"/>
            <a:ext cx="822960" cy="274320"/>
          </a:xfrm>
          <a:prstGeom prst="rect">
            <a:avLst/>
          </a:prstGeom>
          <a:noFill/>
        </p:spPr>
        <p:txBody>
          <a:bodyPr wrap="square">
            <a:spAutoFit/>
          </a:bodyPr>
          <a:lstStyle/>
          <a:p>
            <a:r>
              <a:rPr sz="950" b="1">
                <a:solidFill>
                  <a:srgbClr val="2CA02C"/>
                </a:solidFill>
                <a:latin typeface="Arial"/>
                <a:ea typeface="Meiryo UI"/>
                <a:cs typeface="Meiryo UI"/>
              </a:rPr>
              <a:t>↻リセット</a:t>
            </a:r>
          </a:p>
        </p:txBody>
      </p:sp>
      <p:sp>
        <p:nvSpPr>
          <p:cNvPr id="20" name="TextBox 19"/>
          <p:cNvSpPr txBox="1"/>
          <p:nvPr/>
        </p:nvSpPr>
        <p:spPr>
          <a:xfrm>
            <a:off x="4709160" y="4434840"/>
            <a:ext cx="822960" cy="274320"/>
          </a:xfrm>
          <a:prstGeom prst="rect">
            <a:avLst/>
          </a:prstGeom>
          <a:noFill/>
        </p:spPr>
        <p:txBody>
          <a:bodyPr wrap="square">
            <a:spAutoFit/>
          </a:bodyPr>
          <a:lstStyle/>
          <a:p>
            <a:r>
              <a:rPr sz="950" b="1">
                <a:solidFill>
                  <a:srgbClr val="376B3A"/>
                </a:solidFill>
                <a:latin typeface="Arial"/>
                <a:ea typeface="Meiryo UI"/>
                <a:cs typeface="Meiryo UI"/>
              </a:rPr>
              <a:t>保持</a:t>
            </a:r>
          </a:p>
        </p:txBody>
      </p:sp>
      <p:sp>
        <p:nvSpPr>
          <p:cNvPr id="21" name="TextBox 20"/>
          <p:cNvSpPr txBox="1"/>
          <p:nvPr/>
        </p:nvSpPr>
        <p:spPr>
          <a:xfrm>
            <a:off x="594360" y="4956048"/>
            <a:ext cx="6035040" cy="640080"/>
          </a:xfrm>
          <a:prstGeom prst="rect">
            <a:avLst/>
          </a:prstGeom>
          <a:noFill/>
        </p:spPr>
        <p:txBody>
          <a:bodyPr wrap="square">
            <a:spAutoFit/>
          </a:bodyPr>
          <a:lstStyle/>
          <a:p>
            <a:r>
              <a:rPr sz="1050" b="1">
                <a:solidFill>
                  <a:srgbClr val="222222"/>
                </a:solidFill>
                <a:latin typeface="Arial"/>
                <a:ea typeface="Meiryo UI"/>
                <a:cs typeface="Meiryo UI"/>
              </a:rPr>
              <a:t>microイベント(橙)は any系統だけをリセットし、effective系統の証拠は保持 = 『非対称』。</a:t>
            </a:r>
          </a:p>
        </p:txBody>
      </p:sp>
      <p:sp>
        <p:nvSpPr>
          <p:cNvPr id="22" name="Rounded Rectangle 21"/>
          <p:cNvSpPr/>
          <p:nvPr/>
        </p:nvSpPr>
        <p:spPr>
          <a:xfrm>
            <a:off x="7040880" y="1234440"/>
            <a:ext cx="4800600" cy="1691640"/>
          </a:xfrm>
          <a:prstGeom prst="roundRect">
            <a:avLst/>
          </a:prstGeom>
          <a:solidFill>
            <a:srgbClr val="555555"/>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もし対称リセットだったら</a:t>
            </a:r>
          </a:p>
          <a:p>
            <a:pPr algn="ctr"/>
            <a:r>
              <a:rPr sz="1000" b="0">
                <a:solidFill>
                  <a:srgbClr val="FFFFFF"/>
                </a:solidFill>
                <a:latin typeface="Arial"/>
                <a:ea typeface="Meiryo UI"/>
                <a:cs typeface="Meiryo UI"/>
              </a:rPr>
              <a:t>microのたびに証拠が消える:</a:t>
            </a:r>
            <a:br/>
            <a:r>
              <a:rPr sz="1000" b="0">
                <a:solidFill>
                  <a:srgbClr val="FFFFFF"/>
                </a:solidFill>
                <a:latin typeface="Arial"/>
                <a:ea typeface="Meiryo UI"/>
                <a:cs typeface="Meiryo UI"/>
              </a:rPr>
              <a:t>保留中の機会 1802件 + 確定無応答 462件が</a:t>
            </a:r>
            <a:br/>
            <a:r>
              <a:rPr sz="1000" b="0">
                <a:solidFill>
                  <a:srgbClr val="FFFFFF"/>
                </a:solidFill>
                <a:latin typeface="Arial"/>
                <a:ea typeface="Meiryo UI"/>
                <a:cs typeface="Meiryo UI"/>
              </a:rPr>
              <a:t>281ユーザーで消失（C2アブレーション実測）</a:t>
            </a:r>
          </a:p>
        </p:txBody>
      </p:sp>
      <p:sp>
        <p:nvSpPr>
          <p:cNvPr id="23" name="Rounded Rectangle 22"/>
          <p:cNvSpPr/>
          <p:nvPr/>
        </p:nvSpPr>
        <p:spPr>
          <a:xfrm>
            <a:off x="7040880" y="3108960"/>
            <a:ext cx="4800600" cy="1691640"/>
          </a:xfrm>
          <a:prstGeom prst="roundRect">
            <a:avLst/>
          </a:prstGeom>
          <a:solidFill>
            <a:srgbClr val="2CA02C"/>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非対称リセット（提案・production実装）</a:t>
            </a:r>
          </a:p>
          <a:p>
            <a:pPr algn="ctr"/>
            <a:r>
              <a:rPr sz="1000" b="0">
                <a:solidFill>
                  <a:srgbClr val="FFFFFF"/>
                </a:solidFill>
                <a:latin typeface="Arial"/>
                <a:ea typeface="Meiryo UI"/>
                <a:cs typeface="Meiryo UI"/>
              </a:rPr>
              <a:t>消去 0件。有効のみ系統との比較でも確定無応答 +115件を温存。</a:t>
            </a:r>
            <a:br/>
            <a:r>
              <a:rPr sz="1000" b="0">
                <a:solidFill>
                  <a:srgbClr val="FFFFFF"/>
                </a:solidFill>
                <a:latin typeface="Arial"/>
                <a:ea typeface="Meiryo UI"/>
                <a:cs typeface="Meiryo UI"/>
              </a:rPr>
              <a:t>ハード指示 209→97件（112件は『軽い較正促し』に振替）</a:t>
            </a:r>
          </a:p>
        </p:txBody>
      </p:sp>
      <p:sp>
        <p:nvSpPr>
          <p:cNvPr id="24" name="TextBox 23"/>
          <p:cNvSpPr txBox="1"/>
          <p:nvPr/>
        </p:nvSpPr>
        <p:spPr>
          <a:xfrm>
            <a:off x="7040880" y="4983480"/>
            <a:ext cx="4800600" cy="777240"/>
          </a:xfrm>
          <a:prstGeom prst="rect">
            <a:avLst/>
          </a:prstGeom>
          <a:noFill/>
        </p:spPr>
        <p:txBody>
          <a:bodyPr wrap="square">
            <a:spAutoFit/>
          </a:bodyPr>
          <a:lstStyle/>
          <a:p>
            <a:r>
              <a:rPr sz="1050" b="0">
                <a:solidFill>
                  <a:srgbClr val="222222"/>
                </a:solidFill>
                <a:latin typeface="Arial"/>
                <a:ea typeface="Meiryo UI"/>
                <a:cs typeface="Meiryo UI"/>
              </a:rPr>
              <a:t>2つの帳簿を分けることで『完全凍結(両方止まる)』と『微小ゆらぎのみ(anyだけ動く)』を区別し、対処の強さを変えられる。</a:t>
            </a:r>
          </a:p>
        </p:txBody>
      </p:sp>
      <p:sp>
        <p:nvSpPr>
          <p:cNvPr id="25" name="Rounded Rectangle 24"/>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帳簿を2冊持ち、決定的証拠(≥50mWh)のときだけ両方をリセット。メモ書き(micro)では捜査ファイルを閉じない。</a:t>
            </a:r>
          </a:p>
        </p:txBody>
      </p:sp>
      <p:sp>
        <p:nvSpPr>
          <p:cNvPr id="26" name="TextBox 25"/>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27" name="TextBox 26"/>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候補②の根拠: 微小変化で証拠が消える vs 守る（C2）</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§5 候補②</a:t>
            </a:r>
          </a:p>
        </p:txBody>
      </p:sp>
      <p:pic>
        <p:nvPicPr>
          <p:cNvPr id="5" name="Picture 4" descr="dual_track_erased_evidence.png"/>
          <p:cNvPicPr>
            <a:picLocks noChangeAspect="1"/>
          </p:cNvPicPr>
          <p:nvPr/>
        </p:nvPicPr>
        <p:blipFill>
          <a:blip r:embed="rId2"/>
          <a:stretch>
            <a:fillRect/>
          </a:stretch>
        </p:blipFill>
        <p:spPr>
          <a:xfrm>
            <a:off x="365760" y="987552"/>
            <a:ext cx="6492240" cy="3644436"/>
          </a:xfrm>
          <a:prstGeom prst="rect">
            <a:avLst/>
          </a:prstGeom>
        </p:spPr>
      </p:pic>
      <p:sp>
        <p:nvSpPr>
          <p:cNvPr id="6" name="TextBox 5"/>
          <p:cNvSpPr txBox="1"/>
          <p:nvPr/>
        </p:nvSpPr>
        <p:spPr>
          <a:xfrm>
            <a:off x="365760" y="4650276"/>
            <a:ext cx="6492240" cy="274320"/>
          </a:xfrm>
          <a:prstGeom prst="rect">
            <a:avLst/>
          </a:prstGeom>
          <a:noFill/>
        </p:spPr>
        <p:txBody>
          <a:bodyPr wrap="square">
            <a:spAutoFit/>
          </a:bodyPr>
          <a:lstStyle/>
          <a:p>
            <a:r>
              <a:rPr sz="850" b="0">
                <a:solidFill>
                  <a:srgbClr val="555555"/>
                </a:solidFill>
                <a:latin typeface="Arial"/>
                <a:ea typeface="Meiryo UI"/>
                <a:cs typeface="Meiryo UI"/>
              </a:rPr>
              <a:t>図: dual_track_erased_evidence.png（dpi=300・匿名化済み）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Arial"/>
                <a:ea typeface="Meiryo UI"/>
                <a:cs typeface="Meiryo UI"/>
              </a:rPr>
              <a:t>【何のグラフか】</a:t>
            </a:r>
          </a:p>
          <a:p>
            <a:r>
              <a:rPr sz="1100" b="0">
                <a:solidFill>
                  <a:srgbClr val="222222"/>
                </a:solidFill>
                <a:latin typeface="Arial"/>
                <a:ea typeface="Meiryo UI"/>
                <a:cs typeface="Meiryo UI"/>
              </a:rPr>
              <a:t>同一イベント列を6つのリセット方式(D0〜D5)でリプレイし、microステップによって『消されてしまう』証拠の件数を比較した直接アブレーション。</a:t>
            </a:r>
          </a:p>
          <a:p>
            <a:pPr>
              <a:spcBef>
                <a:spcPts val="500"/>
              </a:spcBef>
            </a:pPr>
            <a:r>
              <a:rPr sz="1200" b="1">
                <a:solidFill>
                  <a:srgbClr val="1F375B"/>
                </a:solidFill>
                <a:latin typeface="Arial"/>
                <a:ea typeface="Meiryo UI"/>
                <a:cs typeface="Meiryo UI"/>
              </a:rPr>
              <a:t>【軸・変数の定義】</a:t>
            </a:r>
          </a:p>
          <a:p>
            <a:r>
              <a:rPr sz="1100" b="0">
                <a:solidFill>
                  <a:srgbClr val="222222"/>
                </a:solidFill>
                <a:latin typeface="Arial"/>
                <a:ea typeface="Meiryo UI"/>
                <a:cs typeface="Meiryo UI"/>
              </a:rPr>
              <a:t>横軸=リセット方式(D0 any単独/D1 effective単独/D2・D3 対称/D4 非対称=提案/D5 適応型)。縦軸=消去件数の積み上げ(橙=確定無応答の証拠、茶=保留中の機会)。</a:t>
            </a:r>
          </a:p>
          <a:p>
            <a:pPr>
              <a:spcBef>
                <a:spcPts val="500"/>
              </a:spcBef>
            </a:pPr>
            <a:r>
              <a:rPr sz="1200" b="1">
                <a:solidFill>
                  <a:srgbClr val="2CA02C"/>
                </a:solidFill>
                <a:latin typeface="Arial"/>
                <a:ea typeface="Meiryo UI"/>
                <a:cs typeface="Meiryo UI"/>
              </a:rPr>
              <a:t>【主張（言いたいこと）】</a:t>
            </a:r>
          </a:p>
          <a:p>
            <a:r>
              <a:rPr sz="1100" b="0">
                <a:solidFill>
                  <a:srgbClr val="222222"/>
                </a:solidFill>
                <a:latin typeface="Arial"/>
                <a:ea typeface="Meiryo UI"/>
                <a:cs typeface="Meiryo UI"/>
              </a:rPr>
              <a:t>対称リセット(D0/D2)は 無応答462件+保留1802件 ≈ 計2,264件を281ユーザーで消去。非対称(D4=提案)とD1/D3/D5は消去0(棒が無い=ゼロの意味)。</a:t>
            </a:r>
          </a:p>
          <a:p>
            <a:pPr>
              <a:spcBef>
                <a:spcPts val="500"/>
              </a:spcBef>
            </a:pPr>
            <a:r>
              <a:rPr sz="1200" b="1">
                <a:solidFill>
                  <a:srgbClr val="B05A00"/>
                </a:solidFill>
                <a:latin typeface="Arial"/>
                <a:ea typeface="Meiryo UI"/>
                <a:cs typeface="Meiryo UI"/>
              </a:rPr>
              <a:t>【読み方・解釈】</a:t>
            </a:r>
          </a:p>
          <a:p>
            <a:r>
              <a:rPr sz="1100" b="0">
                <a:solidFill>
                  <a:srgbClr val="222222"/>
                </a:solidFill>
                <a:latin typeface="Arial"/>
                <a:ea typeface="Meiryo UI"/>
                <a:cs typeface="Meiryo UI"/>
              </a:rPr>
              <a:t>棒が立っている方式=証拠を失う方式。数値は棒に印字されていないため軸から読む。『非対称リセットが証拠を守る』ことの最も直接的な実測証拠。</a:t>
            </a:r>
          </a:p>
        </p:txBody>
      </p:sp>
      <p:sp>
        <p:nvSpPr>
          <p:cNvPr id="8" name="Rounded Rectangle 7"/>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『何でも消しゴム』方式だと281人分の捜査記録が消える。非対称ならゼロ — 図の空白(棒なし)がその証拠。</a:t>
            </a:r>
          </a:p>
        </p:txBody>
      </p:sp>
      <p:sp>
        <p:nvSpPr>
          <p:cNvPr id="9" name="TextBox 8"/>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候補②の根拠: 有効閾値50mWhはデータの谷が裏付け（C3）</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§5 候補②</a:t>
            </a:r>
          </a:p>
        </p:txBody>
      </p:sp>
      <p:pic>
        <p:nvPicPr>
          <p:cNvPr id="5" name="Picture 4" descr="effective_threshold_mixture_fit.png"/>
          <p:cNvPicPr>
            <a:picLocks noChangeAspect="1"/>
          </p:cNvPicPr>
          <p:nvPr/>
        </p:nvPicPr>
        <p:blipFill>
          <a:blip r:embed="rId2"/>
          <a:stretch>
            <a:fillRect/>
          </a:stretch>
        </p:blipFill>
        <p:spPr>
          <a:xfrm>
            <a:off x="365760" y="987552"/>
            <a:ext cx="6492240" cy="3939302"/>
          </a:xfrm>
          <a:prstGeom prst="rect">
            <a:avLst/>
          </a:prstGeom>
        </p:spPr>
      </p:pic>
      <p:sp>
        <p:nvSpPr>
          <p:cNvPr id="6" name="TextBox 5"/>
          <p:cNvSpPr txBox="1"/>
          <p:nvPr/>
        </p:nvSpPr>
        <p:spPr>
          <a:xfrm>
            <a:off x="365760" y="4945142"/>
            <a:ext cx="6492240" cy="274320"/>
          </a:xfrm>
          <a:prstGeom prst="rect">
            <a:avLst/>
          </a:prstGeom>
          <a:noFill/>
        </p:spPr>
        <p:txBody>
          <a:bodyPr wrap="square">
            <a:spAutoFit/>
          </a:bodyPr>
          <a:lstStyle/>
          <a:p>
            <a:r>
              <a:rPr sz="850" b="0">
                <a:solidFill>
                  <a:srgbClr val="555555"/>
                </a:solidFill>
                <a:latin typeface="Arial"/>
                <a:ea typeface="Meiryo UI"/>
                <a:cs typeface="Meiryo UI"/>
              </a:rPr>
              <a:t>図: effective_threshold_mixture_fit.png（dpi=300・匿名化済み）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Arial"/>
                <a:ea typeface="Meiryo UI"/>
                <a:cs typeface="Meiryo UI"/>
              </a:rPr>
              <a:t>【何のグラフか】</a:t>
            </a:r>
          </a:p>
          <a:p>
            <a:r>
              <a:rPr sz="1100" b="0">
                <a:solidFill>
                  <a:srgbClr val="222222"/>
                </a:solidFill>
                <a:latin typeface="Arial"/>
                <a:ea typeface="Meiryo UI"/>
                <a:cs typeface="Meiryo UI"/>
              </a:rPr>
              <a:t>FCCステップ量(絶対値・対数軸)の分布と閾値候補の位置。微小ゆらぎと意味ある再学習を分ける境界の妥当性を確認する図。</a:t>
            </a:r>
          </a:p>
          <a:p>
            <a:pPr>
              <a:spcBef>
                <a:spcPts val="500"/>
              </a:spcBef>
            </a:pPr>
            <a:r>
              <a:rPr sz="1200" b="1">
                <a:solidFill>
                  <a:srgbClr val="1F375B"/>
                </a:solidFill>
                <a:latin typeface="Arial"/>
                <a:ea typeface="Meiryo UI"/>
                <a:cs typeface="Meiryo UI"/>
              </a:rPr>
              <a:t>【軸・変数の定義】</a:t>
            </a:r>
          </a:p>
          <a:p>
            <a:r>
              <a:rPr sz="1100" b="0">
                <a:solidFill>
                  <a:srgbClr val="222222"/>
                </a:solidFill>
                <a:latin typeface="Arial"/>
                <a:ea typeface="Meiryo UI"/>
                <a:cs typeface="Meiryo UI"/>
              </a:rPr>
              <a:t>横軸=log10|FCCステップ|(mWh)。1.0=10mWh、2.0=100mWh、3.0=1,000mWh。縦軸=密度。青破線=閾値候補(量子化10 / 谷11 / p50=30 / GMM谷35 / p75=200mWh)、黒実線=採用値50mWh。</a:t>
            </a:r>
          </a:p>
          <a:p>
            <a:pPr>
              <a:spcBef>
                <a:spcPts val="500"/>
              </a:spcBef>
            </a:pPr>
            <a:r>
              <a:rPr sz="1200" b="1">
                <a:solidFill>
                  <a:srgbClr val="2CA02C"/>
                </a:solidFill>
                <a:latin typeface="Arial"/>
                <a:ea typeface="Meiryo UI"/>
                <a:cs typeface="Meiryo UI"/>
              </a:rPr>
              <a:t>【主張（言いたいこと）】</a:t>
            </a:r>
          </a:p>
          <a:p>
            <a:r>
              <a:rPr sz="1100" b="0">
                <a:solidFill>
                  <a:srgbClr val="222222"/>
                </a:solidFill>
                <a:latin typeface="Arial"/>
                <a:ea typeface="Meiryo UI"/>
                <a:cs typeface="Meiryo UI"/>
              </a:rPr>
              <a:t>分布は二峰: 左に量子化刻み由来の鋭い山(micro、モード≈14mWh)、右に実質更新の山(effective、モード≈217mWh)。GMM谷=35.2mWh(bootstrap CI [26.3, 54.1])で、50mWhは谷の上・CI内。micro率58.1%。</a:t>
            </a:r>
          </a:p>
          <a:p>
            <a:pPr>
              <a:spcBef>
                <a:spcPts val="500"/>
              </a:spcBef>
            </a:pPr>
            <a:r>
              <a:rPr sz="1200" b="1">
                <a:solidFill>
                  <a:srgbClr val="B05A00"/>
                </a:solidFill>
                <a:latin typeface="Arial"/>
                <a:ea typeface="Meiryo UI"/>
                <a:cs typeface="Meiryo UI"/>
              </a:rPr>
              <a:t>【読み方・解釈】</a:t>
            </a:r>
          </a:p>
          <a:p>
            <a:r>
              <a:rPr sz="1100" b="0">
                <a:solidFill>
                  <a:srgbClr val="222222"/>
                </a:solidFill>
                <a:latin typeface="Arial"/>
                <a:ea typeface="Meiryo UI"/>
                <a:cs typeface="Meiryo UI"/>
              </a:rPr>
              <a:t>左の山=ほぼ意味のない微小変化、右の山=本物の容量変化、黒線がその谷間。※50mWhは『データから発見した最適値』ではなく事前指定の設計値で、データは『矛盾しない』ことの独立裏付け(青破線5本は同色で区別しづらい点に注意)。広い発明概念は適応閾値(付録C)。</a:t>
            </a:r>
          </a:p>
        </p:txBody>
      </p:sp>
      <p:sp>
        <p:nvSpPr>
          <p:cNvPr id="8" name="Rounded Rectangle 7"/>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さざ波と本物の段差は、大きさの分布がきれいに2つの山に分かれる。境界線はその谷間に引いてある。</a:t>
            </a:r>
          </a:p>
        </p:txBody>
      </p:sp>
      <p:sp>
        <p:nvSpPr>
          <p:cNvPr id="9" name="TextBox 8"/>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特許候補② 必要な特徴量（と作成方法）</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§5 候補②</a:t>
            </a:r>
          </a:p>
        </p:txBody>
      </p:sp>
      <p:graphicFrame>
        <p:nvGraphicFramePr>
          <p:cNvPr id="5" name="Table 4"/>
          <p:cNvGraphicFramePr>
            <a:graphicFrameLocks noGrp="1"/>
          </p:cNvGraphicFramePr>
          <p:nvPr/>
        </p:nvGraphicFramePr>
        <p:xfrm>
          <a:off x="365760" y="932688"/>
          <a:ext cx="11430000" cy="3218688"/>
        </p:xfrm>
        <a:graphic>
          <a:graphicData uri="http://schemas.openxmlformats.org/drawingml/2006/table">
            <a:tbl>
              <a:tblPr firstRow="1" bandRow="1">
                <a:tableStyleId>{5C22544A-7EE6-4342-B048-85BDC9FD1C3A}</a:tableStyleId>
              </a:tblPr>
              <a:tblGrid>
                <a:gridCol w="3108960"/>
                <a:gridCol w="1234440"/>
                <a:gridCol w="7086600"/>
              </a:tblGrid>
              <a:tr h="402336">
                <a:tc>
                  <a:txBody>
                    <a:bodyPr/>
                    <a:lstStyle/>
                    <a:p>
                      <a:r>
                        <a:rPr sz="1100" b="1">
                          <a:solidFill>
                            <a:srgbClr val="FFFFFF"/>
                          </a:solidFill>
                          <a:latin typeface="Arial"/>
                          <a:ea typeface="Meiryo UI"/>
                          <a:cs typeface="Meiryo UI"/>
                        </a:rPr>
                        <a:t>変数 / 特徴量</a:t>
                      </a:r>
                    </a:p>
                  </a:txBody>
                  <a:tcPr>
                    <a:solidFill>
                      <a:srgbClr val="1E0113"/>
                    </a:solidFill>
                  </a:tcPr>
                </a:tc>
                <a:tc>
                  <a:txBody>
                    <a:bodyPr/>
                    <a:lstStyle/>
                    <a:p>
                      <a:r>
                        <a:rPr sz="1100" b="1">
                          <a:solidFill>
                            <a:srgbClr val="FFFFFF"/>
                          </a:solidFill>
                          <a:latin typeface="Arial"/>
                          <a:ea typeface="Meiryo UI"/>
                          <a:cs typeface="Meiryo UI"/>
                        </a:rPr>
                        <a:t>種別</a:t>
                      </a:r>
                    </a:p>
                  </a:txBody>
                  <a:tcPr>
                    <a:solidFill>
                      <a:srgbClr val="1E0113"/>
                    </a:solidFill>
                  </a:tcPr>
                </a:tc>
                <a:tc>
                  <a:txBody>
                    <a:bodyPr/>
                    <a:lstStyle/>
                    <a:p>
                      <a:r>
                        <a:rPr sz="1100" b="1">
                          <a:solidFill>
                            <a:srgbClr val="FFFFFF"/>
                          </a:solidFill>
                          <a:latin typeface="Arial"/>
                          <a:ea typeface="Meiryo UI"/>
                          <a:cs typeface="Meiryo UI"/>
                        </a:rPr>
                        <a:t>作成方法（特徴量エンジニアリング）</a:t>
                      </a:r>
                    </a:p>
                  </a:txBody>
                  <a:tcPr>
                    <a:solidFill>
                      <a:srgbClr val="1E0113"/>
                    </a:solidFill>
                  </a:tcPr>
                </a:tc>
              </a:tr>
              <a:tr h="402336">
                <a:tc>
                  <a:txBody>
                    <a:bodyPr/>
                    <a:lstStyle/>
                    <a:p>
                      <a:r>
                        <a:rPr sz="1000" b="0">
                          <a:solidFill>
                            <a:srgbClr val="222222"/>
                          </a:solidFill>
                          <a:latin typeface="Arial"/>
                          <a:ea typeface="Meiryo UI"/>
                          <a:cs typeface="Meiryo UI"/>
                        </a:rPr>
                        <a:t>FCCステップ(符号付き/絶対値)</a:t>
                      </a:r>
                    </a:p>
                  </a:txBody>
                  <a:tcPr>
                    <a:solidFill>
                      <a:srgbClr val="EEF2F7"/>
                    </a:solidFill>
                  </a:tcPr>
                </a:tc>
                <a:tc>
                  <a:txBody>
                    <a:bodyPr/>
                    <a:lstStyle/>
                    <a:p>
                      <a:r>
                        <a:rPr sz="1000" b="1">
                          <a:solidFill>
                            <a:srgbClr val="2CA02C"/>
                          </a:solidFill>
                          <a:latin typeface="Arial"/>
                          <a:ea typeface="Meiryo UI"/>
                          <a:cs typeface="Meiryo UI"/>
                        </a:rPr>
                        <a:t>派生</a:t>
                      </a:r>
                    </a:p>
                  </a:txBody>
                  <a:tcPr>
                    <a:solidFill>
                      <a:srgbClr val="EEF2F7"/>
                    </a:solidFill>
                  </a:tcPr>
                </a:tc>
                <a:tc>
                  <a:txBody>
                    <a:bodyPr/>
                    <a:lstStyle/>
                    <a:p>
                      <a:r>
                        <a:rPr sz="1000" b="0">
                          <a:solidFill>
                            <a:srgbClr val="222222"/>
                          </a:solidFill>
                          <a:latin typeface="Arial"/>
                          <a:ea typeface="Meiryo UI"/>
                          <a:cs typeface="Meiryo UI"/>
                        </a:rPr>
                        <a:t>時刻順FCC差分の非ゼロ値: patent_dual_track.fcc_steps</a:t>
                      </a:r>
                    </a:p>
                  </a:txBody>
                  <a:tcPr>
                    <a:solidFill>
                      <a:srgbClr val="EEF2F7"/>
                    </a:solidFill>
                  </a:tcPr>
                </a:tc>
              </a:tr>
              <a:tr h="402336">
                <a:tc>
                  <a:txBody>
                    <a:bodyPr/>
                    <a:lstStyle/>
                    <a:p>
                      <a:r>
                        <a:rPr sz="1000" b="0">
                          <a:solidFill>
                            <a:srgbClr val="222222"/>
                          </a:solidFill>
                          <a:latin typeface="Arial"/>
                          <a:ea typeface="Meiryo UI"/>
                          <a:cs typeface="Meiryo UI"/>
                        </a:rPr>
                        <a:t>is_effective / is_micro</a:t>
                      </a:r>
                    </a:p>
                  </a:txBody>
                  <a:tcPr>
                    <a:solidFill>
                      <a:srgbClr val="FFFFFF"/>
                    </a:solidFill>
                  </a:tcPr>
                </a:tc>
                <a:tc>
                  <a:txBody>
                    <a:bodyPr/>
                    <a:lstStyle/>
                    <a:p>
                      <a:r>
                        <a:rPr sz="1000" b="1">
                          <a:solidFill>
                            <a:srgbClr val="2CA02C"/>
                          </a:solidFill>
                          <a:latin typeface="Arial"/>
                          <a:ea typeface="Meiryo UI"/>
                          <a:cs typeface="Meiryo UI"/>
                        </a:rPr>
                        <a:t>派生</a:t>
                      </a:r>
                    </a:p>
                  </a:txBody>
                  <a:tcPr>
                    <a:solidFill>
                      <a:srgbClr val="FFFFFF"/>
                    </a:solidFill>
                  </a:tcPr>
                </a:tc>
                <a:tc>
                  <a:txBody>
                    <a:bodyPr/>
                    <a:lstStyle/>
                    <a:p>
                      <a:r>
                        <a:rPr sz="1000" b="0">
                          <a:solidFill>
                            <a:srgbClr val="222222"/>
                          </a:solidFill>
                          <a:latin typeface="Arial"/>
                          <a:ea typeface="Meiryo UI"/>
                          <a:cs typeface="Meiryo UI"/>
                        </a:rPr>
                        <a:t>絶対値 ≥ / &lt; 50mWh(有効閾値): step_threshold_mwh</a:t>
                      </a:r>
                    </a:p>
                  </a:txBody>
                  <a:tcPr>
                    <a:solidFill>
                      <a:srgbClr val="FFFFFF"/>
                    </a:solidFill>
                  </a:tcPr>
                </a:tc>
              </a:tr>
              <a:tr h="402336">
                <a:tc>
                  <a:txBody>
                    <a:bodyPr/>
                    <a:lstStyle/>
                    <a:p>
                      <a:r>
                        <a:rPr sz="1000" b="0">
                          <a:solidFill>
                            <a:srgbClr val="222222"/>
                          </a:solidFill>
                          <a:latin typeface="Arial"/>
                          <a:ea typeface="Meiryo UI"/>
                          <a:cs typeface="Meiryo UI"/>
                        </a:rPr>
                        <a:t>量子化単位 quantization_unit</a:t>
                      </a:r>
                    </a:p>
                  </a:txBody>
                  <a:tcPr>
                    <a:solidFill>
                      <a:srgbClr val="EEF2F7"/>
                    </a:solidFill>
                  </a:tcPr>
                </a:tc>
                <a:tc>
                  <a:txBody>
                    <a:bodyPr/>
                    <a:lstStyle/>
                    <a:p>
                      <a:r>
                        <a:rPr sz="1000" b="1">
                          <a:solidFill>
                            <a:srgbClr val="2CA02C"/>
                          </a:solidFill>
                          <a:latin typeface="Arial"/>
                          <a:ea typeface="Meiryo UI"/>
                          <a:cs typeface="Meiryo UI"/>
                        </a:rPr>
                        <a:t>派生</a:t>
                      </a:r>
                    </a:p>
                  </a:txBody>
                  <a:tcPr>
                    <a:solidFill>
                      <a:srgbClr val="EEF2F7"/>
                    </a:solidFill>
                  </a:tcPr>
                </a:tc>
                <a:tc>
                  <a:txBody>
                    <a:bodyPr/>
                    <a:lstStyle/>
                    <a:p>
                      <a:r>
                        <a:rPr sz="1000" b="0">
                          <a:solidFill>
                            <a:srgbClr val="222222"/>
                          </a:solidFill>
                          <a:latin typeface="Arial"/>
                          <a:ea typeface="Meiryo UI"/>
                          <a:cs typeface="Meiryo UI"/>
                        </a:rPr>
                        <a:t>観測された最小の正の|step|(=10mWh)</a:t>
                      </a:r>
                    </a:p>
                  </a:txBody>
                  <a:tcPr>
                    <a:solidFill>
                      <a:srgbClr val="EEF2F7"/>
                    </a:solidFill>
                  </a:tcPr>
                </a:tc>
              </a:tr>
              <a:tr h="402336">
                <a:tc>
                  <a:txBody>
                    <a:bodyPr/>
                    <a:lstStyle/>
                    <a:p>
                      <a:r>
                        <a:rPr sz="1000" b="0">
                          <a:solidFill>
                            <a:srgbClr val="222222"/>
                          </a:solidFill>
                          <a:latin typeface="Arial"/>
                          <a:ea typeface="Meiryo UI"/>
                          <a:cs typeface="Meiryo UI"/>
                        </a:rPr>
                        <a:t>any/effective 状態・未解決証拠カウンタ</a:t>
                      </a:r>
                    </a:p>
                  </a:txBody>
                  <a:tcPr>
                    <a:solidFill>
                      <a:srgbClr val="FFFFFF"/>
                    </a:solidFill>
                  </a:tcPr>
                </a:tc>
                <a:tc>
                  <a:txBody>
                    <a:bodyPr/>
                    <a:lstStyle/>
                    <a:p>
                      <a:r>
                        <a:rPr sz="1000" b="1">
                          <a:solidFill>
                            <a:srgbClr val="2CA02C"/>
                          </a:solidFill>
                          <a:latin typeface="Arial"/>
                          <a:ea typeface="Meiryo UI"/>
                          <a:cs typeface="Meiryo UI"/>
                        </a:rPr>
                        <a:t>派生</a:t>
                      </a:r>
                    </a:p>
                  </a:txBody>
                  <a:tcPr>
                    <a:solidFill>
                      <a:srgbClr val="FFFFFF"/>
                    </a:solidFill>
                  </a:tcPr>
                </a:tc>
                <a:tc>
                  <a:txBody>
                    <a:bodyPr/>
                    <a:lstStyle/>
                    <a:p>
                      <a:r>
                        <a:rPr sz="1000" b="0">
                          <a:solidFill>
                            <a:srgbClr val="222222"/>
                          </a:solidFill>
                          <a:latin typeface="Arial"/>
                          <a:ea typeface="Meiryo UI"/>
                          <a:cs typeface="Meiryo UI"/>
                        </a:rPr>
                        <a:t>イベント列の状態機械リプレイ(micro/effで非対称リセット): online_step_state</a:t>
                      </a:r>
                    </a:p>
                  </a:txBody>
                  <a:tcPr>
                    <a:solidFill>
                      <a:srgbClr val="FFFFFF"/>
                    </a:solidFill>
                  </a:tcPr>
                </a:tc>
              </a:tr>
              <a:tr h="402336">
                <a:tc>
                  <a:txBody>
                    <a:bodyPr/>
                    <a:lstStyle/>
                    <a:p>
                      <a:r>
                        <a:rPr sz="1000" b="0">
                          <a:solidFill>
                            <a:srgbClr val="222222"/>
                          </a:solidFill>
                          <a:latin typeface="Arial"/>
                          <a:ea typeface="Meiryo UI"/>
                          <a:cs typeface="Meiryo UI"/>
                        </a:rPr>
                        <a:t>混合分布 micro/effective モード・谷</a:t>
                      </a:r>
                    </a:p>
                  </a:txBody>
                  <a:tcPr>
                    <a:solidFill>
                      <a:srgbClr val="EEF2F7"/>
                    </a:solidFill>
                  </a:tcPr>
                </a:tc>
                <a:tc>
                  <a:txBody>
                    <a:bodyPr/>
                    <a:lstStyle/>
                    <a:p>
                      <a:r>
                        <a:rPr sz="1000" b="1">
                          <a:solidFill>
                            <a:srgbClr val="2CA02C"/>
                          </a:solidFill>
                          <a:latin typeface="Arial"/>
                          <a:ea typeface="Meiryo UI"/>
                          <a:cs typeface="Meiryo UI"/>
                        </a:rPr>
                        <a:t>派生</a:t>
                      </a:r>
                    </a:p>
                  </a:txBody>
                  <a:tcPr>
                    <a:solidFill>
                      <a:srgbClr val="EEF2F7"/>
                    </a:solidFill>
                  </a:tcPr>
                </a:tc>
                <a:tc>
                  <a:txBody>
                    <a:bodyPr/>
                    <a:lstStyle/>
                    <a:p>
                      <a:r>
                        <a:rPr sz="1000" b="0">
                          <a:solidFill>
                            <a:srgbClr val="222222"/>
                          </a:solidFill>
                          <a:latin typeface="Arial"/>
                          <a:ea typeface="Meiryo UI"/>
                          <a:cs typeface="Meiryo UI"/>
                        </a:rPr>
                        <a:t>log10(|step|)に2成分Gaussian Mixtureを適合: patent_effective_threshold</a:t>
                      </a:r>
                    </a:p>
                  </a:txBody>
                  <a:tcPr>
                    <a:solidFill>
                      <a:srgbClr val="EEF2F7"/>
                    </a:solidFill>
                  </a:tcPr>
                </a:tc>
              </a:tr>
              <a:tr h="402336">
                <a:tc>
                  <a:txBody>
                    <a:bodyPr/>
                    <a:lstStyle/>
                    <a:p>
                      <a:r>
                        <a:rPr sz="1000" b="0">
                          <a:solidFill>
                            <a:srgbClr val="222222"/>
                          </a:solidFill>
                          <a:latin typeface="Arial"/>
                          <a:ea typeface="Meiryo UI"/>
                          <a:cs typeface="Meiryo UI"/>
                        </a:rPr>
                        <a:t>持続/反転(persistence/reversal)</a:t>
                      </a:r>
                    </a:p>
                  </a:txBody>
                  <a:tcPr>
                    <a:solidFill>
                      <a:srgbClr val="FFFFFF"/>
                    </a:solidFill>
                  </a:tcPr>
                </a:tc>
                <a:tc>
                  <a:txBody>
                    <a:bodyPr/>
                    <a:lstStyle/>
                    <a:p>
                      <a:r>
                        <a:rPr sz="1000" b="1">
                          <a:solidFill>
                            <a:srgbClr val="2CA02C"/>
                          </a:solidFill>
                          <a:latin typeface="Arial"/>
                          <a:ea typeface="Meiryo UI"/>
                          <a:cs typeface="Meiryo UI"/>
                        </a:rPr>
                        <a:t>派生</a:t>
                      </a:r>
                    </a:p>
                  </a:txBody>
                  <a:tcPr>
                    <a:solidFill>
                      <a:srgbClr val="FFFFFF"/>
                    </a:solidFill>
                  </a:tcPr>
                </a:tc>
                <a:tc>
                  <a:txBody>
                    <a:bodyPr/>
                    <a:lstStyle/>
                    <a:p>
                      <a:r>
                        <a:rPr sz="1000" b="0">
                          <a:solidFill>
                            <a:srgbClr val="222222"/>
                          </a:solidFill>
                          <a:latin typeface="Arial"/>
                          <a:ea typeface="Meiryo UI"/>
                          <a:cs typeface="Meiryo UI"/>
                        </a:rPr>
                        <a:t>各stepの次step時刻差・符号反転(24h反転率: micro 0.14 &lt; eff 0.36)</a:t>
                      </a:r>
                    </a:p>
                  </a:txBody>
                  <a:tcPr>
                    <a:solidFill>
                      <a:srgbClr val="FFFFFF"/>
                    </a:solidFill>
                  </a:tcPr>
                </a:tc>
              </a:tr>
              <a:tr h="402336">
                <a:tc>
                  <a:txBody>
                    <a:bodyPr/>
                    <a:lstStyle/>
                    <a:p>
                      <a:r>
                        <a:rPr sz="1000" b="0">
                          <a:solidFill>
                            <a:srgbClr val="222222"/>
                          </a:solidFill>
                          <a:latin typeface="Arial"/>
                          <a:ea typeface="Meiryo UI"/>
                          <a:cs typeface="Meiryo UI"/>
                        </a:rPr>
                        <a:t>適応閾値(代替実施形態)</a:t>
                      </a:r>
                    </a:p>
                  </a:txBody>
                  <a:tcPr>
                    <a:solidFill>
                      <a:srgbClr val="EEF2F7"/>
                    </a:solidFill>
                  </a:tcPr>
                </a:tc>
                <a:tc>
                  <a:txBody>
                    <a:bodyPr/>
                    <a:lstStyle/>
                    <a:p>
                      <a:r>
                        <a:rPr sz="1000" b="1">
                          <a:solidFill>
                            <a:srgbClr val="2CA02C"/>
                          </a:solidFill>
                          <a:latin typeface="Arial"/>
                          <a:ea typeface="Meiryo UI"/>
                          <a:cs typeface="Meiryo UI"/>
                        </a:rPr>
                        <a:t>派生</a:t>
                      </a:r>
                    </a:p>
                  </a:txBody>
                  <a:tcPr>
                    <a:solidFill>
                      <a:srgbClr val="EEF2F7"/>
                    </a:solidFill>
                  </a:tcPr>
                </a:tc>
                <a:tc>
                  <a:txBody>
                    <a:bodyPr/>
                    <a:lstStyle/>
                    <a:p>
                      <a:r>
                        <a:rPr sz="1000" b="0">
                          <a:solidFill>
                            <a:srgbClr val="222222"/>
                          </a:solidFill>
                          <a:latin typeface="Arial"/>
                          <a:ea typeface="Meiryo UI"/>
                          <a:cs typeface="Meiryo UI"/>
                        </a:rPr>
                        <a:t>max(k·quantization, α·DesignCapacity, noise percentile)</a:t>
                      </a:r>
                    </a:p>
                  </a:txBody>
                  <a:tcPr>
                    <a:solidFill>
                      <a:srgbClr val="EEF2F7"/>
                    </a:solidFill>
                  </a:tcPr>
                </a:tc>
              </a:tr>
            </a:tbl>
          </a:graphicData>
        </a:graphic>
      </p:graphicFrame>
      <p:sp>
        <p:nvSpPr>
          <p:cNvPr id="6" name="TextBox 5"/>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鍵は『しきい値の数字』ではなく『2系統を非対称に扱う規則』。閾値自体は代替実施形態で広くカバーする。</a:t>
            </a:r>
          </a:p>
        </p:txBody>
      </p:sp>
      <p:sp>
        <p:nvSpPr>
          <p:cNvPr id="8" name="TextBox 7"/>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特許候補③ 有界保持下の因果証拠台帳（最小十分状態）</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2E6E6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§5 候補③（IC5相当）</a:t>
            </a:r>
          </a:p>
        </p:txBody>
      </p:sp>
      <p:sp>
        <p:nvSpPr>
          <p:cNvPr id="5" name="TextBox 4"/>
          <p:cNvSpPr txBox="1"/>
          <p:nvPr/>
        </p:nvSpPr>
        <p:spPr>
          <a:xfrm>
            <a:off x="457200" y="859536"/>
            <a:ext cx="11274425" cy="365760"/>
          </a:xfrm>
          <a:prstGeom prst="rect">
            <a:avLst/>
          </a:prstGeom>
          <a:noFill/>
        </p:spPr>
        <p:txBody>
          <a:bodyPr wrap="square">
            <a:spAutoFit/>
          </a:bodyPr>
          <a:lstStyle/>
          <a:p>
            <a:r>
              <a:rPr sz="1200" b="1">
                <a:solidFill>
                  <a:srgbClr val="1F375B"/>
                </a:solidFill>
                <a:latin typeface="Arial"/>
                <a:ea typeface="Meiryo UI"/>
                <a:cs typeface="Meiryo UI"/>
              </a:rPr>
              <a:t>技術エビデンス強度: </a:t>
            </a:r>
            <a:r>
              <a:rPr sz="1200" b="1">
                <a:solidFill>
                  <a:srgbClr val="2CA02C"/>
                </a:solidFill>
                <a:latin typeface="Arial"/>
                <a:ea typeface="Meiryo UI"/>
                <a:cs typeface="Meiryo UI"/>
              </a:rPr>
              <a:t>STRONG    </a:t>
            </a:r>
            <a:r>
              <a:rPr sz="1200" b="1">
                <a:solidFill>
                  <a:srgbClr val="1F375B"/>
                </a:solidFill>
                <a:latin typeface="Arial"/>
                <a:ea typeface="Meiryo UI"/>
                <a:cs typeface="Meiryo UI"/>
              </a:rPr>
              <a:t>先行技術リスク(UNVERIFIED): </a:t>
            </a:r>
            <a:r>
              <a:rPr sz="1200" b="1">
                <a:solidFill>
                  <a:srgbClr val="C0392B"/>
                </a:solidFill>
                <a:latin typeface="Arial"/>
                <a:ea typeface="Meiryo UI"/>
                <a:cs typeface="Meiryo UI"/>
              </a:rPr>
              <a:t>MEDIUM-HIGH</a:t>
            </a:r>
          </a:p>
        </p:txBody>
      </p:sp>
      <p:sp>
        <p:nvSpPr>
          <p:cNvPr id="6" name="TextBox 5"/>
          <p:cNvSpPr txBox="1"/>
          <p:nvPr/>
        </p:nvSpPr>
        <p:spPr>
          <a:xfrm>
            <a:off x="457200" y="1243584"/>
            <a:ext cx="11274425" cy="4572000"/>
          </a:xfrm>
          <a:prstGeom prst="rect">
            <a:avLst/>
          </a:prstGeom>
          <a:noFill/>
        </p:spPr>
        <p:txBody>
          <a:bodyPr wrap="square">
            <a:spAutoFit/>
          </a:bodyPr>
          <a:lstStyle/>
          <a:p>
            <a:pPr>
              <a:spcBef>
                <a:spcPts val="400"/>
              </a:spcBef>
            </a:pPr>
            <a:r>
              <a:rPr sz="1300" b="1">
                <a:solidFill>
                  <a:srgbClr val="1F375B"/>
                </a:solidFill>
                <a:latin typeface="Arial"/>
                <a:ea typeface="Meiryo UI"/>
                <a:cs typeface="Meiryo UI"/>
              </a:rPr>
              <a:t>背景</a:t>
            </a:r>
          </a:p>
          <a:p>
            <a:r>
              <a:rPr sz="1180" b="0">
                <a:latin typeface="Arial"/>
                <a:ea typeface="Meiryo UI"/>
                <a:cs typeface="Meiryo UI"/>
              </a:rPr>
              <a:t>フリート監視では生テレメトリの保持期間が有界(例: 直近30日のみ)。それより古い生データは消える。</a:t>
            </a:r>
          </a:p>
          <a:p>
            <a:pPr>
              <a:spcBef>
                <a:spcPts val="400"/>
              </a:spcBef>
            </a:pPr>
            <a:r>
              <a:rPr sz="1300" b="1">
                <a:solidFill>
                  <a:srgbClr val="1F375B"/>
                </a:solidFill>
                <a:latin typeface="Arial"/>
                <a:ea typeface="Meiryo UI"/>
                <a:cs typeface="Meiryo UI"/>
              </a:rPr>
              <a:t>問題</a:t>
            </a:r>
          </a:p>
          <a:p>
            <a:r>
              <a:rPr sz="1180" b="0">
                <a:latin typeface="Arial"/>
                <a:ea typeface="Meiryo UI"/>
                <a:cs typeface="Meiryo UI"/>
              </a:rPr>
              <a:t>保持窓をまたぐ機会の証拠が、生データ破棄で失われる/二重に数えられる(台帳なしだと7日保持で一致率0.62、recall 0.81・重複率 2.1)。</a:t>
            </a:r>
          </a:p>
          <a:p>
            <a:pPr>
              <a:spcBef>
                <a:spcPts val="400"/>
              </a:spcBef>
            </a:pPr>
            <a:r>
              <a:rPr sz="1300" b="1">
                <a:solidFill>
                  <a:srgbClr val="1F375B"/>
                </a:solidFill>
                <a:latin typeface="Arial"/>
                <a:ea typeface="Meiryo UI"/>
                <a:cs typeface="Meiryo UI"/>
              </a:rPr>
              <a:t>課題</a:t>
            </a:r>
          </a:p>
          <a:p>
            <a:r>
              <a:rPr sz="1180" b="0">
                <a:latin typeface="Arial"/>
                <a:ea typeface="Meiryo UI"/>
                <a:cs typeface="Meiryo UI"/>
              </a:rPr>
              <a:t>有界保持でも『全期間版と等価』な判定を、できるだけ小さい永続状態で実現する。</a:t>
            </a:r>
          </a:p>
          <a:p>
            <a:pPr>
              <a:spcBef>
                <a:spcPts val="400"/>
              </a:spcBef>
            </a:pPr>
            <a:r>
              <a:rPr sz="1300" b="1">
                <a:solidFill>
                  <a:srgbClr val="1F375B"/>
                </a:solidFill>
                <a:latin typeface="Arial"/>
                <a:ea typeface="Meiryo UI"/>
                <a:cs typeface="Meiryo UI"/>
              </a:rPr>
              <a:t>解決法</a:t>
            </a:r>
          </a:p>
          <a:p>
            <a:r>
              <a:rPr sz="1180" b="0">
                <a:latin typeface="Arial"/>
                <a:ea typeface="Meiryo UI"/>
                <a:cs typeface="Meiryo UI"/>
              </a:rPr>
              <a:t>部分FSM・pending期限キュー・確定済みID集合(seen_ids)・直近any/effective変化・gap/censorカウンタ等を永続化し、解決済みイベントを時刻順(同時刻は complete&lt;reset&lt;deadline)にリプレイ。期限は窓を全部観測できたときのみ発火(未来リーク無し)。</a:t>
            </a:r>
          </a:p>
          <a:p>
            <a:pPr>
              <a:spcBef>
                <a:spcPts val="400"/>
              </a:spcBef>
            </a:pPr>
            <a:r>
              <a:rPr sz="1300" b="1">
                <a:solidFill>
                  <a:srgbClr val="1F375B"/>
                </a:solidFill>
                <a:latin typeface="Arial"/>
                <a:ea typeface="Meiryo UI"/>
                <a:cs typeface="Meiryo UI"/>
              </a:rPr>
              <a:t>特許性 / 新規性</a:t>
            </a:r>
          </a:p>
          <a:p>
            <a:r>
              <a:rPr sz="1180" b="0">
                <a:latin typeface="Arial"/>
                <a:ea typeface="Meiryo UI"/>
                <a:cs typeface="Meiryo UI"/>
              </a:rPr>
              <a:t>Dグリッド(1176構成)で recall=1.0・重複0・誤差MAE≈0.02 をストレージ比 4.2% で達成(根拠⑤)。最小状態アブレーションで全7要素が必要と実証。【リスク】streaming+cachingは既知の組合せ(自明性)→ アブレーションで必要性を示した『最小状態構造』をクレーム核に。</a:t>
            </a:r>
          </a:p>
        </p:txBody>
      </p:sp>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レシートは30日で捨てても、7項目の家計簿(台帳)があれば全履歴と同じ結論。『どの7項目か』を特定し必要性を実証したのが発明。</a:t>
            </a:r>
          </a:p>
        </p:txBody>
      </p:sp>
      <p:sp>
        <p:nvSpPr>
          <p:cNvPr id="8" name="TextBox 7"/>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仕組み図解C — 有界保持の因果証拠台帳</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2E6E6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§5 候補③ ─ 図解</a:t>
            </a:r>
          </a:p>
        </p:txBody>
      </p:sp>
      <p:sp>
        <p:nvSpPr>
          <p:cNvPr id="5" name="Rectangle 4"/>
          <p:cNvSpPr/>
          <p:nvPr/>
        </p:nvSpPr>
        <p:spPr>
          <a:xfrm>
            <a:off x="3931920" y="1234440"/>
            <a:ext cx="2377440" cy="914400"/>
          </a:xfrm>
          <a:prstGeom prst="rect">
            <a:avLst/>
          </a:prstGeom>
          <a:solidFill>
            <a:srgbClr val="E2ECF7"/>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48640" y="1737360"/>
            <a:ext cx="6126480" cy="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355080" y="1847088"/>
            <a:ext cx="822960" cy="274320"/>
          </a:xfrm>
          <a:prstGeom prst="rect">
            <a:avLst/>
          </a:prstGeom>
          <a:noFill/>
        </p:spPr>
        <p:txBody>
          <a:bodyPr wrap="square">
            <a:spAutoFit/>
          </a:bodyPr>
          <a:lstStyle/>
          <a:p>
            <a:r>
              <a:rPr sz="1000" b="0">
                <a:solidFill>
                  <a:srgbClr val="555555"/>
                </a:solidFill>
                <a:latin typeface="Arial"/>
                <a:ea typeface="Meiryo UI"/>
                <a:cs typeface="Meiryo UI"/>
              </a:rPr>
              <a:t>時間 →</a:t>
            </a:r>
          </a:p>
        </p:txBody>
      </p:sp>
      <p:sp>
        <p:nvSpPr>
          <p:cNvPr id="8" name="TextBox 7"/>
          <p:cNvSpPr txBox="1"/>
          <p:nvPr/>
        </p:nvSpPr>
        <p:spPr>
          <a:xfrm>
            <a:off x="4023360" y="1280160"/>
            <a:ext cx="2286000" cy="320040"/>
          </a:xfrm>
          <a:prstGeom prst="rect">
            <a:avLst/>
          </a:prstGeom>
          <a:noFill/>
        </p:spPr>
        <p:txBody>
          <a:bodyPr wrap="square">
            <a:spAutoFit/>
          </a:bodyPr>
          <a:lstStyle/>
          <a:p>
            <a:r>
              <a:rPr sz="950" b="1">
                <a:solidFill>
                  <a:srgbClr val="1F77B4"/>
                </a:solidFill>
                <a:latin typeface="Arial"/>
                <a:ea typeface="Meiryo UI"/>
                <a:cs typeface="Meiryo UI"/>
              </a:rPr>
              <a:t>生データ窓（直近30日のみ）</a:t>
            </a:r>
          </a:p>
        </p:txBody>
      </p:sp>
      <p:sp>
        <p:nvSpPr>
          <p:cNvPr id="9" name="TextBox 8"/>
          <p:cNvSpPr txBox="1"/>
          <p:nvPr/>
        </p:nvSpPr>
        <p:spPr>
          <a:xfrm>
            <a:off x="685800" y="1280160"/>
            <a:ext cx="3108960" cy="320040"/>
          </a:xfrm>
          <a:prstGeom prst="rect">
            <a:avLst/>
          </a:prstGeom>
          <a:noFill/>
        </p:spPr>
        <p:txBody>
          <a:bodyPr wrap="square">
            <a:spAutoFit/>
          </a:bodyPr>
          <a:lstStyle/>
          <a:p>
            <a:r>
              <a:rPr sz="950" b="0">
                <a:solidFill>
                  <a:srgbClr val="555555"/>
                </a:solidFill>
                <a:latin typeface="Arial"/>
                <a:ea typeface="Meiryo UI"/>
                <a:cs typeface="Meiryo UI"/>
              </a:rPr>
              <a:t>これより古い生データは破棄される</a:t>
            </a:r>
          </a:p>
        </p:txBody>
      </p:sp>
      <p:sp>
        <p:nvSpPr>
          <p:cNvPr id="10" name="Rounded Rectangle 9"/>
          <p:cNvSpPr/>
          <p:nvPr/>
        </p:nvSpPr>
        <p:spPr>
          <a:xfrm>
            <a:off x="3108960" y="1965960"/>
            <a:ext cx="1737360" cy="457200"/>
          </a:xfrm>
          <a:prstGeom prst="roundRect">
            <a:avLst/>
          </a:prstGeom>
          <a:solidFill>
            <a:srgbClr val="E4F0E4"/>
          </a:solidFill>
          <a:ln>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376B3A"/>
                </a:solidFill>
                <a:latin typeface="Arial"/>
                <a:ea typeface="Meiryo UI"/>
                <a:cs typeface="Meiryo UI"/>
              </a:rPr>
              <a:t>窓をまたぐ学習機会</a:t>
            </a:r>
          </a:p>
        </p:txBody>
      </p:sp>
      <p:sp>
        <p:nvSpPr>
          <p:cNvPr id="11" name="TextBox 10"/>
          <p:cNvSpPr txBox="1"/>
          <p:nvPr/>
        </p:nvSpPr>
        <p:spPr>
          <a:xfrm>
            <a:off x="640080" y="2606040"/>
            <a:ext cx="5943600" cy="731520"/>
          </a:xfrm>
          <a:prstGeom prst="rect">
            <a:avLst/>
          </a:prstGeom>
          <a:noFill/>
        </p:spPr>
        <p:txBody>
          <a:bodyPr wrap="square">
            <a:spAutoFit/>
          </a:bodyPr>
          <a:lstStyle/>
          <a:p>
            <a:r>
              <a:rPr sz="1050" b="0">
                <a:solidFill>
                  <a:srgbClr val="222222"/>
                </a:solidFill>
                <a:latin typeface="Arial"/>
                <a:ea typeface="Meiryo UI"/>
                <a:cs typeface="Meiryo UI"/>
              </a:rPr>
              <a:t>機会の開始は窓の外(破棄済み)、応答期限は窓の中 — 生データだけでは検出も判定もできない。台帳の部分FSM・pendingが これを回収する。</a:t>
            </a:r>
          </a:p>
        </p:txBody>
      </p:sp>
      <p:sp>
        <p:nvSpPr>
          <p:cNvPr id="12" name="Rounded Rectangle 11"/>
          <p:cNvSpPr/>
          <p:nvPr/>
        </p:nvSpPr>
        <p:spPr>
          <a:xfrm>
            <a:off x="548640" y="3429000"/>
            <a:ext cx="6126480" cy="457200"/>
          </a:xfrm>
          <a:prstGeom prst="roundRect">
            <a:avLst/>
          </a:prstGeom>
          <a:solidFill>
            <a:srgbClr val="1F375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Arial"/>
                <a:ea typeface="Meiryo UI"/>
                <a:cs typeface="Meiryo UI"/>
              </a:rPr>
              <a:t>永続する最小状態（台帳）— 必要7要素(アブレーションで各要素の必要性を実証)</a:t>
            </a:r>
          </a:p>
        </p:txBody>
      </p:sp>
      <p:sp>
        <p:nvSpPr>
          <p:cNvPr id="13" name="TextBox 12"/>
          <p:cNvSpPr txBox="1"/>
          <p:nvPr/>
        </p:nvSpPr>
        <p:spPr>
          <a:xfrm>
            <a:off x="640080" y="3977639"/>
            <a:ext cx="6035040" cy="1737360"/>
          </a:xfrm>
          <a:prstGeom prst="rect">
            <a:avLst/>
          </a:prstGeom>
          <a:noFill/>
        </p:spPr>
        <p:txBody>
          <a:bodyPr wrap="square">
            <a:spAutoFit/>
          </a:bodyPr>
          <a:lstStyle/>
          <a:p>
            <a:r>
              <a:rPr sz="1050" b="1">
                <a:solidFill>
                  <a:srgbClr val="1F375B"/>
                </a:solidFill>
                <a:latin typeface="Arial"/>
                <a:ea typeface="Meiryo UI"/>
                <a:cs typeface="Meiryo UI"/>
              </a:rPr>
              <a:t>fsm: </a:t>
            </a:r>
            <a:r>
              <a:rPr sz="1050" b="0">
                <a:solidFill>
                  <a:srgbClr val="222222"/>
                </a:solidFill>
                <a:latin typeface="Arial"/>
                <a:ea typeface="Meiryo UI"/>
                <a:cs typeface="Meiryo UI"/>
              </a:rPr>
              <a:t>機会検出の途中状態(高→低→高のどこまで進んだか)</a:t>
            </a:r>
          </a:p>
          <a:p>
            <a:r>
              <a:rPr sz="1050" b="1">
                <a:solidFill>
                  <a:srgbClr val="1F375B"/>
                </a:solidFill>
                <a:latin typeface="Arial"/>
                <a:ea typeface="Meiryo UI"/>
                <a:cs typeface="Meiryo UI"/>
              </a:rPr>
              <a:t>pending: </a:t>
            </a:r>
            <a:r>
              <a:rPr sz="1050" b="0">
                <a:solidFill>
                  <a:srgbClr val="222222"/>
                </a:solidFill>
                <a:latin typeface="Arial"/>
                <a:ea typeface="Meiryo UI"/>
                <a:cs typeface="Meiryo UI"/>
              </a:rPr>
              <a:t>未解決機会の応答期限キュー</a:t>
            </a:r>
          </a:p>
          <a:p>
            <a:r>
              <a:rPr sz="1050" b="1">
                <a:solidFill>
                  <a:srgbClr val="1F375B"/>
                </a:solidFill>
                <a:latin typeface="Arial"/>
                <a:ea typeface="Meiryo UI"/>
                <a:cs typeface="Meiryo UI"/>
              </a:rPr>
              <a:t>seen_ids: </a:t>
            </a:r>
            <a:r>
              <a:rPr sz="1050" b="0">
                <a:solidFill>
                  <a:srgbClr val="222222"/>
                </a:solidFill>
                <a:latin typeface="Arial"/>
                <a:ea typeface="Meiryo UI"/>
                <a:cs typeface="Meiryo UI"/>
              </a:rPr>
              <a:t>確定済み機会ID集合(二重計上防止)</a:t>
            </a:r>
          </a:p>
          <a:p>
            <a:r>
              <a:rPr sz="1050" b="1">
                <a:solidFill>
                  <a:srgbClr val="1F375B"/>
                </a:solidFill>
                <a:latin typeface="Arial"/>
                <a:ea typeface="Meiryo UI"/>
                <a:cs typeface="Meiryo UI"/>
              </a:rPr>
              <a:t>last_eff_ts / eff_cycle: </a:t>
            </a:r>
            <a:r>
              <a:rPr sz="1050" b="0">
                <a:solidFill>
                  <a:srgbClr val="222222"/>
                </a:solidFill>
                <a:latin typeface="Arial"/>
                <a:ea typeface="Meiryo UI"/>
                <a:cs typeface="Meiryo UI"/>
              </a:rPr>
              <a:t>直近の有効変化の時刻・サイクル(経過日数/サイクルを駆動)</a:t>
            </a:r>
          </a:p>
          <a:p>
            <a:r>
              <a:rPr sz="1050" b="1">
                <a:solidFill>
                  <a:srgbClr val="1F375B"/>
                </a:solidFill>
                <a:latin typeface="Arial"/>
                <a:ea typeface="Meiryo UI"/>
                <a:cs typeface="Meiryo UI"/>
              </a:rPr>
              <a:t>gap_censor: </a:t>
            </a:r>
            <a:r>
              <a:rPr sz="1050" b="0">
                <a:solidFill>
                  <a:srgbClr val="222222"/>
                </a:solidFill>
                <a:latin typeface="Arial"/>
                <a:ea typeface="Meiryo UI"/>
                <a:cs typeface="Meiryo UI"/>
              </a:rPr>
              <a:t>ギャップ・打ち切りのカウンタ(品質ゲート)</a:t>
            </a:r>
          </a:p>
          <a:p>
            <a:r>
              <a:rPr sz="1050" b="1">
                <a:solidFill>
                  <a:srgbClr val="1F375B"/>
                </a:solidFill>
                <a:latin typeface="Arial"/>
                <a:ea typeface="Meiryo UI"/>
                <a:cs typeface="Meiryo UI"/>
              </a:rPr>
              <a:t>ordering: </a:t>
            </a:r>
            <a:r>
              <a:rPr sz="1050" b="0">
                <a:solidFill>
                  <a:srgbClr val="222222"/>
                </a:solidFill>
                <a:latin typeface="Arial"/>
                <a:ea typeface="Meiryo UI"/>
                <a:cs typeface="Meiryo UI"/>
              </a:rPr>
              <a:t>同時刻イベントの決定的順序 complete&lt;reset&lt;deadline</a:t>
            </a:r>
          </a:p>
        </p:txBody>
      </p:sp>
      <p:sp>
        <p:nvSpPr>
          <p:cNvPr id="14" name="Rounded Rectangle 13"/>
          <p:cNvSpPr/>
          <p:nvPr/>
        </p:nvSpPr>
        <p:spPr>
          <a:xfrm>
            <a:off x="7040880" y="1234440"/>
            <a:ext cx="4800600" cy="2103120"/>
          </a:xfrm>
          <a:prstGeom prst="roundRect">
            <a:avLst/>
          </a:prstGeom>
          <a:solidFill>
            <a:srgbClr val="376B3A"/>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効果（Dグリッドで実証）</a:t>
            </a:r>
          </a:p>
          <a:p>
            <a:pPr algn="ctr"/>
            <a:r>
              <a:rPr sz="1100" b="0">
                <a:solidFill>
                  <a:srgbClr val="FFFFFF"/>
                </a:solidFill>
                <a:latin typeface="Arial"/>
                <a:ea typeface="Meiryo UI"/>
                <a:cs typeface="Meiryo UI"/>
              </a:rPr>
              <a:t>検出率 recall = 1.0（取りこぼしゼロ）</a:t>
            </a:r>
            <a:br/>
            <a:r>
              <a:rPr sz="1100" b="0">
                <a:solidFill>
                  <a:srgbClr val="FFFFFF"/>
                </a:solidFill>
                <a:latin typeface="Arial"/>
                <a:ea typeface="Meiryo UI"/>
                <a:cs typeface="Meiryo UI"/>
              </a:rPr>
              <a:t>重複計上 = 0</a:t>
            </a:r>
            <a:br/>
            <a:r>
              <a:rPr sz="1100" b="0">
                <a:solidFill>
                  <a:srgbClr val="FFFFFF"/>
                </a:solidFill>
                <a:latin typeface="Arial"/>
                <a:ea typeface="Meiryo UI"/>
                <a:cs typeface="Meiryo UI"/>
              </a:rPr>
              <a:t>無応答数の誤差 MAE ≈ 0.02</a:t>
            </a:r>
            <a:br/>
            <a:r>
              <a:rPr sz="1100" b="0">
                <a:solidFill>
                  <a:srgbClr val="FFFFFF"/>
                </a:solidFill>
                <a:latin typeface="Arial"/>
                <a:ea typeface="Meiryo UI"/>
                <a:cs typeface="Meiryo UI"/>
              </a:rPr>
              <a:t>必要ストレージ = 生データの約 4.2%</a:t>
            </a:r>
          </a:p>
        </p:txBody>
      </p:sp>
      <p:sp>
        <p:nvSpPr>
          <p:cNvPr id="15" name="Rounded Rectangle 14"/>
          <p:cNvSpPr/>
          <p:nvPr/>
        </p:nvSpPr>
        <p:spPr>
          <a:xfrm>
            <a:off x="7040880" y="3520440"/>
            <a:ext cx="4800600" cy="1463040"/>
          </a:xfrm>
          <a:prstGeom prst="roundRect">
            <a:avLst/>
          </a:prstGeom>
          <a:solidFill>
            <a:srgbClr val="555555"/>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ea typeface="Meiryo UI"/>
                <a:cs typeface="Meiryo UI"/>
              </a:rPr>
              <a:t>台帳なし(stateless)だと</a:t>
            </a:r>
          </a:p>
          <a:p>
            <a:pPr algn="ctr"/>
            <a:r>
              <a:rPr sz="1050" b="0">
                <a:solidFill>
                  <a:srgbClr val="FFFFFF"/>
                </a:solidFill>
                <a:latin typeface="Arial"/>
                <a:ea typeface="Meiryo UI"/>
                <a:cs typeface="Meiryo UI"/>
              </a:rPr>
              <a:t>7日保持: 一致率 0.62 / recall 0.81 / 重複率 2.1</a:t>
            </a:r>
            <a:br/>
            <a:r>
              <a:rPr sz="1050" b="0">
                <a:solidFill>
                  <a:srgbClr val="FFFFFF"/>
                </a:solidFill>
                <a:latin typeface="Arial"/>
                <a:ea typeface="Meiryo UI"/>
                <a:cs typeface="Meiryo UI"/>
              </a:rPr>
              <a:t>保存量を増やしても完全一致(1.00)には届かない(補足図)</a:t>
            </a:r>
          </a:p>
        </p:txBody>
      </p:sp>
      <p:sp>
        <p:nvSpPr>
          <p:cNvPr id="16" name="Rounded Rectangle 15"/>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生データを捨てる制約は変えられない。だから『何をメモしておけば全履歴と等価か』を突き詰めた — その最小メモ(7要素)が発明の核。</a:t>
            </a:r>
          </a:p>
        </p:txBody>
      </p:sp>
      <p:sp>
        <p:nvSpPr>
          <p:cNvPr id="17" name="TextBox 16"/>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8" name="TextBox 17"/>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候補③の根拠: どの状態も削れない（最小性アブレーション）</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§5 候補③</a:t>
            </a:r>
          </a:p>
        </p:txBody>
      </p:sp>
      <p:pic>
        <p:nvPicPr>
          <p:cNvPr id="5" name="Picture 4" descr="minimal_state_necessity.png"/>
          <p:cNvPicPr>
            <a:picLocks noChangeAspect="1"/>
          </p:cNvPicPr>
          <p:nvPr/>
        </p:nvPicPr>
        <p:blipFill>
          <a:blip r:embed="rId2"/>
          <a:stretch>
            <a:fillRect/>
          </a:stretch>
        </p:blipFill>
        <p:spPr>
          <a:xfrm>
            <a:off x="365760" y="987552"/>
            <a:ext cx="6492240" cy="3942683"/>
          </a:xfrm>
          <a:prstGeom prst="rect">
            <a:avLst/>
          </a:prstGeom>
        </p:spPr>
      </p:pic>
      <p:sp>
        <p:nvSpPr>
          <p:cNvPr id="6" name="TextBox 5"/>
          <p:cNvSpPr txBox="1"/>
          <p:nvPr/>
        </p:nvSpPr>
        <p:spPr>
          <a:xfrm>
            <a:off x="365760" y="4948523"/>
            <a:ext cx="6492240" cy="274320"/>
          </a:xfrm>
          <a:prstGeom prst="rect">
            <a:avLst/>
          </a:prstGeom>
          <a:noFill/>
        </p:spPr>
        <p:txBody>
          <a:bodyPr wrap="square">
            <a:spAutoFit/>
          </a:bodyPr>
          <a:lstStyle/>
          <a:p>
            <a:r>
              <a:rPr sz="850" b="0">
                <a:solidFill>
                  <a:srgbClr val="555555"/>
                </a:solidFill>
                <a:latin typeface="Arial"/>
                <a:ea typeface="Meiryo UI"/>
                <a:cs typeface="Meiryo UI"/>
              </a:rPr>
              <a:t>図: minimal_state_necessity.png（dpi=300・匿名化済み）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Arial"/>
                <a:ea typeface="Meiryo UI"/>
                <a:cs typeface="Meiryo UI"/>
              </a:rPr>
              <a:t>【何のグラフか】</a:t>
            </a:r>
          </a:p>
          <a:p>
            <a:r>
              <a:rPr sz="1100" b="0">
                <a:solidFill>
                  <a:srgbClr val="222222"/>
                </a:solidFill>
                <a:latin typeface="Arial"/>
                <a:ea typeface="Meiryo UI"/>
                <a:cs typeface="Meiryo UI"/>
              </a:rPr>
              <a:t>台帳(永続状態)の構成要素を1つずつ外して同じ判定を再実行する破壊実験。どの要素が欠けても等価性が壊れることを確認する。</a:t>
            </a:r>
          </a:p>
          <a:p>
            <a:pPr>
              <a:spcBef>
                <a:spcPts val="500"/>
              </a:spcBef>
            </a:pPr>
            <a:r>
              <a:rPr sz="1200" b="1">
                <a:solidFill>
                  <a:srgbClr val="1F375B"/>
                </a:solidFill>
                <a:latin typeface="Arial"/>
                <a:ea typeface="Meiryo UI"/>
                <a:cs typeface="Meiryo UI"/>
              </a:rPr>
              <a:t>【軸・変数の定義】</a:t>
            </a:r>
          </a:p>
          <a:p>
            <a:r>
              <a:rPr sz="1100" b="0">
                <a:solidFill>
                  <a:srgbClr val="222222"/>
                </a:solidFill>
                <a:latin typeface="Arial"/>
                <a:ea typeface="Meiryo UI"/>
                <a:cs typeface="Meiryo UI"/>
              </a:rPr>
              <a:t>横軸=外した要素(fsm / last_eff_ts / pending / seen_ids)。縦軸=不変量の破綻量。赤=recall低下(見逃しの増加)、橙=無応答判定の誤差(MAE)。</a:t>
            </a:r>
          </a:p>
          <a:p>
            <a:pPr>
              <a:spcBef>
                <a:spcPts val="500"/>
              </a:spcBef>
            </a:pPr>
            <a:r>
              <a:rPr sz="1200" b="1">
                <a:solidFill>
                  <a:srgbClr val="2CA02C"/>
                </a:solidFill>
                <a:latin typeface="Arial"/>
                <a:ea typeface="Meiryo UI"/>
                <a:cs typeface="Meiryo UI"/>
              </a:rPr>
              <a:t>【主張（言いたいこと）】</a:t>
            </a:r>
          </a:p>
          <a:p>
            <a:r>
              <a:rPr sz="1100" b="0">
                <a:solidFill>
                  <a:srgbClr val="222222"/>
                </a:solidFill>
                <a:latin typeface="Arial"/>
                <a:ea typeface="Meiryo UI"/>
                <a:cs typeface="Meiryo UI"/>
              </a:rPr>
              <a:t>fsm除去→recall約0.96を喪失(窓またぎ機会を取り逃す)+誤差0.85。last_eff_ts除去→誤差最大(≈1.8)。pending除去→誤差≈1.3。アブレーション全体では全7要素が何らかの不変量を破る。</a:t>
            </a:r>
          </a:p>
          <a:p>
            <a:pPr>
              <a:spcBef>
                <a:spcPts val="500"/>
              </a:spcBef>
            </a:pPr>
            <a:r>
              <a:rPr sz="1200" b="1">
                <a:solidFill>
                  <a:srgbClr val="B05A00"/>
                </a:solidFill>
                <a:latin typeface="Arial"/>
                <a:ea typeface="Meiryo UI"/>
                <a:cs typeface="Meiryo UI"/>
              </a:rPr>
              <a:t>【読み方・解釈】</a:t>
            </a:r>
          </a:p>
          <a:p>
            <a:r>
              <a:rPr sz="1100" b="0">
                <a:solidFill>
                  <a:srgbClr val="222222"/>
                </a:solidFill>
                <a:latin typeface="Arial"/>
                <a:ea typeface="Meiryo UI"/>
                <a:cs typeface="Meiryo UI"/>
              </a:rPr>
              <a:t>棒が高い要素ほど外したときの壊れ方が大きい=必須。seen_idsはこの図の2指標では小さく見えるが、その必要性は『重複計上ゼロ』という別の不変量に現れる(重複はこの図に描かれていない)。この『これ以上削れない』ことの実証が、クレーム核(最小十分状態)の裏付け。</a:t>
            </a:r>
          </a:p>
        </p:txBody>
      </p:sp>
      <p:sp>
        <p:nvSpPr>
          <p:cNvPr id="8" name="Rounded Rectangle 7"/>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家計簿のどのページを破っても集計が狂う=全ページ必要、を1ページずつ破って確かめた図。</a:t>
            </a:r>
          </a:p>
        </p:txBody>
      </p:sp>
      <p:sp>
        <p:nvSpPr>
          <p:cNvPr id="9" name="TextBox 8"/>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特許候補③ 必要な特徴量（と作成方法）</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§5 候補③</a:t>
            </a:r>
          </a:p>
        </p:txBody>
      </p:sp>
      <p:graphicFrame>
        <p:nvGraphicFramePr>
          <p:cNvPr id="5" name="Table 4"/>
          <p:cNvGraphicFramePr>
            <a:graphicFrameLocks noGrp="1"/>
          </p:cNvGraphicFramePr>
          <p:nvPr/>
        </p:nvGraphicFramePr>
        <p:xfrm>
          <a:off x="365760" y="932688"/>
          <a:ext cx="11430000" cy="3218688"/>
        </p:xfrm>
        <a:graphic>
          <a:graphicData uri="http://schemas.openxmlformats.org/drawingml/2006/table">
            <a:tbl>
              <a:tblPr firstRow="1" bandRow="1">
                <a:tableStyleId>{5C22544A-7EE6-4342-B048-85BDC9FD1C3A}</a:tableStyleId>
              </a:tblPr>
              <a:tblGrid>
                <a:gridCol w="3108960"/>
                <a:gridCol w="1234440"/>
                <a:gridCol w="7086600"/>
              </a:tblGrid>
              <a:tr h="402336">
                <a:tc>
                  <a:txBody>
                    <a:bodyPr/>
                    <a:lstStyle/>
                    <a:p>
                      <a:r>
                        <a:rPr sz="1100" b="1">
                          <a:solidFill>
                            <a:srgbClr val="FFFFFF"/>
                          </a:solidFill>
                          <a:latin typeface="Arial"/>
                          <a:ea typeface="Meiryo UI"/>
                          <a:cs typeface="Meiryo UI"/>
                        </a:rPr>
                        <a:t>変数 / 特徴量</a:t>
                      </a:r>
                    </a:p>
                  </a:txBody>
                  <a:tcPr>
                    <a:solidFill>
                      <a:srgbClr val="1E0113"/>
                    </a:solidFill>
                  </a:tcPr>
                </a:tc>
                <a:tc>
                  <a:txBody>
                    <a:bodyPr/>
                    <a:lstStyle/>
                    <a:p>
                      <a:r>
                        <a:rPr sz="1100" b="1">
                          <a:solidFill>
                            <a:srgbClr val="FFFFFF"/>
                          </a:solidFill>
                          <a:latin typeface="Arial"/>
                          <a:ea typeface="Meiryo UI"/>
                          <a:cs typeface="Meiryo UI"/>
                        </a:rPr>
                        <a:t>種別</a:t>
                      </a:r>
                    </a:p>
                  </a:txBody>
                  <a:tcPr>
                    <a:solidFill>
                      <a:srgbClr val="1E0113"/>
                    </a:solidFill>
                  </a:tcPr>
                </a:tc>
                <a:tc>
                  <a:txBody>
                    <a:bodyPr/>
                    <a:lstStyle/>
                    <a:p>
                      <a:r>
                        <a:rPr sz="1100" b="1">
                          <a:solidFill>
                            <a:srgbClr val="FFFFFF"/>
                          </a:solidFill>
                          <a:latin typeface="Arial"/>
                          <a:ea typeface="Meiryo UI"/>
                          <a:cs typeface="Meiryo UI"/>
                        </a:rPr>
                        <a:t>作成方法（特徴量エンジニアリング）</a:t>
                      </a:r>
                    </a:p>
                  </a:txBody>
                  <a:tcPr>
                    <a:solidFill>
                      <a:srgbClr val="1E0113"/>
                    </a:solidFill>
                  </a:tcPr>
                </a:tc>
              </a:tr>
              <a:tr h="402336">
                <a:tc>
                  <a:txBody>
                    <a:bodyPr/>
                    <a:lstStyle/>
                    <a:p>
                      <a:r>
                        <a:rPr sz="1000" b="0">
                          <a:solidFill>
                            <a:srgbClr val="222222"/>
                          </a:solidFill>
                          <a:latin typeface="Arial"/>
                          <a:ea typeface="Meiryo UI"/>
                          <a:cs typeface="Meiryo UI"/>
                        </a:rPr>
                        <a:t>episode_id(正準ID)</a:t>
                      </a:r>
                    </a:p>
                  </a:txBody>
                  <a:tcPr>
                    <a:solidFill>
                      <a:srgbClr val="EEF2F7"/>
                    </a:solidFill>
                  </a:tcPr>
                </a:tc>
                <a:tc>
                  <a:txBody>
                    <a:bodyPr/>
                    <a:lstStyle/>
                    <a:p>
                      <a:r>
                        <a:rPr sz="1000" b="1">
                          <a:solidFill>
                            <a:srgbClr val="2CA02C"/>
                          </a:solidFill>
                          <a:latin typeface="Arial"/>
                          <a:ea typeface="Meiryo UI"/>
                          <a:cs typeface="Meiryo UI"/>
                        </a:rPr>
                        <a:t>派生</a:t>
                      </a:r>
                    </a:p>
                  </a:txBody>
                  <a:tcPr>
                    <a:solidFill>
                      <a:srgbClr val="EEF2F7"/>
                    </a:solidFill>
                  </a:tcPr>
                </a:tc>
                <a:tc>
                  <a:txBody>
                    <a:bodyPr/>
                    <a:lstStyle/>
                    <a:p>
                      <a:r>
                        <a:rPr sz="1000" b="0">
                          <a:solidFill>
                            <a:srgbClr val="222222"/>
                          </a:solidFill>
                          <a:latin typeface="Arial"/>
                          <a:ea typeface="Meiryo UI"/>
                          <a:cs typeface="Meiryo UI"/>
                        </a:rPr>
                        <a:t>user|band|start|end(同一機会を一意識別、重複防止。公開時user部はhash)</a:t>
                      </a:r>
                    </a:p>
                  </a:txBody>
                  <a:tcPr>
                    <a:solidFill>
                      <a:srgbClr val="EEF2F7"/>
                    </a:solidFill>
                  </a:tcPr>
                </a:tc>
              </a:tr>
              <a:tr h="402336">
                <a:tc>
                  <a:txBody>
                    <a:bodyPr/>
                    <a:lstStyle/>
                    <a:p>
                      <a:r>
                        <a:rPr sz="1000" b="0">
                          <a:solidFill>
                            <a:srgbClr val="222222"/>
                          </a:solidFill>
                          <a:latin typeface="Arial"/>
                          <a:ea typeface="Meiryo UI"/>
                          <a:cs typeface="Meiryo UI"/>
                        </a:rPr>
                        <a:t>応答期限 / 直近変化 ts+cycle</a:t>
                      </a:r>
                    </a:p>
                  </a:txBody>
                  <a:tcPr>
                    <a:solidFill>
                      <a:srgbClr val="FFFFFF"/>
                    </a:solidFill>
                  </a:tcPr>
                </a:tc>
                <a:tc>
                  <a:txBody>
                    <a:bodyPr/>
                    <a:lstStyle/>
                    <a:p>
                      <a:r>
                        <a:rPr sz="1000" b="1">
                          <a:solidFill>
                            <a:srgbClr val="2CA02C"/>
                          </a:solidFill>
                          <a:latin typeface="Arial"/>
                          <a:ea typeface="Meiryo UI"/>
                          <a:cs typeface="Meiryo UI"/>
                        </a:rPr>
                        <a:t>派生</a:t>
                      </a:r>
                    </a:p>
                  </a:txBody>
                  <a:tcPr>
                    <a:solidFill>
                      <a:srgbClr val="FFFFFF"/>
                    </a:solidFill>
                  </a:tcPr>
                </a:tc>
                <a:tc>
                  <a:txBody>
                    <a:bodyPr/>
                    <a:lstStyle/>
                    <a:p>
                      <a:r>
                        <a:rPr sz="1000" b="0">
                          <a:solidFill>
                            <a:srgbClr val="222222"/>
                          </a:solidFill>
                          <a:latin typeface="Arial"/>
                          <a:ea typeface="Meiryo UI"/>
                          <a:cs typeface="Meiryo UI"/>
                        </a:rPr>
                        <a:t>end+72h / 状態機械が逐次更新(経過日数・サイクルを駆動)</a:t>
                      </a:r>
                    </a:p>
                  </a:txBody>
                  <a:tcPr>
                    <a:solidFill>
                      <a:srgbClr val="FFFFFF"/>
                    </a:solidFill>
                  </a:tcPr>
                </a:tc>
              </a:tr>
              <a:tr h="402336">
                <a:tc>
                  <a:txBody>
                    <a:bodyPr/>
                    <a:lstStyle/>
                    <a:p>
                      <a:r>
                        <a:rPr sz="1000" b="0">
                          <a:solidFill>
                            <a:srgbClr val="222222"/>
                          </a:solidFill>
                          <a:latin typeface="Arial"/>
                          <a:ea typeface="Meiryo UI"/>
                          <a:cs typeface="Meiryo UI"/>
                        </a:rPr>
                        <a:t>確定済みID集合 seen_ids</a:t>
                      </a:r>
                    </a:p>
                  </a:txBody>
                  <a:tcPr>
                    <a:solidFill>
                      <a:srgbClr val="EEF2F7"/>
                    </a:solidFill>
                  </a:tcPr>
                </a:tc>
                <a:tc>
                  <a:txBody>
                    <a:bodyPr/>
                    <a:lstStyle/>
                    <a:p>
                      <a:r>
                        <a:rPr sz="1000" b="1">
                          <a:solidFill>
                            <a:srgbClr val="2CA02C"/>
                          </a:solidFill>
                          <a:latin typeface="Arial"/>
                          <a:ea typeface="Meiryo UI"/>
                          <a:cs typeface="Meiryo UI"/>
                        </a:rPr>
                        <a:t>派生</a:t>
                      </a:r>
                    </a:p>
                  </a:txBody>
                  <a:tcPr>
                    <a:solidFill>
                      <a:srgbClr val="EEF2F7"/>
                    </a:solidFill>
                  </a:tcPr>
                </a:tc>
                <a:tc>
                  <a:txBody>
                    <a:bodyPr/>
                    <a:lstStyle/>
                    <a:p>
                      <a:r>
                        <a:rPr sz="1000" b="0">
                          <a:solidFill>
                            <a:srgbClr val="222222"/>
                          </a:solidFill>
                          <a:latin typeface="Arial"/>
                          <a:ea typeface="Meiryo UI"/>
                          <a:cs typeface="Meiryo UI"/>
                        </a:rPr>
                        <a:t>確定済み機会IDの集合(重複カウント防止)</a:t>
                      </a:r>
                    </a:p>
                  </a:txBody>
                  <a:tcPr>
                    <a:solidFill>
                      <a:srgbClr val="EEF2F7"/>
                    </a:solidFill>
                  </a:tcPr>
                </a:tc>
              </a:tr>
              <a:tr h="402336">
                <a:tc>
                  <a:txBody>
                    <a:bodyPr/>
                    <a:lstStyle/>
                    <a:p>
                      <a:r>
                        <a:rPr sz="1000" b="0">
                          <a:solidFill>
                            <a:srgbClr val="222222"/>
                          </a:solidFill>
                          <a:latin typeface="Arial"/>
                          <a:ea typeface="Meiryo UI"/>
                          <a:cs typeface="Meiryo UI"/>
                        </a:rPr>
                        <a:t>pending 期限キュー</a:t>
                      </a:r>
                    </a:p>
                  </a:txBody>
                  <a:tcPr>
                    <a:solidFill>
                      <a:srgbClr val="FFFFFF"/>
                    </a:solidFill>
                  </a:tcPr>
                </a:tc>
                <a:tc>
                  <a:txBody>
                    <a:bodyPr/>
                    <a:lstStyle/>
                    <a:p>
                      <a:r>
                        <a:rPr sz="1000" b="1">
                          <a:solidFill>
                            <a:srgbClr val="2CA02C"/>
                          </a:solidFill>
                          <a:latin typeface="Arial"/>
                          <a:ea typeface="Meiryo UI"/>
                          <a:cs typeface="Meiryo UI"/>
                        </a:rPr>
                        <a:t>派生</a:t>
                      </a:r>
                    </a:p>
                  </a:txBody>
                  <a:tcPr>
                    <a:solidFill>
                      <a:srgbClr val="FFFFFF"/>
                    </a:solidFill>
                  </a:tcPr>
                </a:tc>
                <a:tc>
                  <a:txBody>
                    <a:bodyPr/>
                    <a:lstStyle/>
                    <a:p>
                      <a:r>
                        <a:rPr sz="1000" b="0">
                          <a:solidFill>
                            <a:srgbClr val="222222"/>
                          </a:solidFill>
                          <a:latin typeface="Arial"/>
                          <a:ea typeface="Meiryo UI"/>
                          <a:cs typeface="Meiryo UI"/>
                        </a:rPr>
                        <a:t>未解決機会の期限待ち(生データ破棄後も証拠保持)</a:t>
                      </a:r>
                    </a:p>
                  </a:txBody>
                  <a:tcPr>
                    <a:solidFill>
                      <a:srgbClr val="FFFFFF"/>
                    </a:solidFill>
                  </a:tcPr>
                </a:tc>
              </a:tr>
              <a:tr h="402336">
                <a:tc>
                  <a:txBody>
                    <a:bodyPr/>
                    <a:lstStyle/>
                    <a:p>
                      <a:r>
                        <a:rPr sz="1000" b="0">
                          <a:solidFill>
                            <a:srgbClr val="222222"/>
                          </a:solidFill>
                          <a:latin typeface="Arial"/>
                          <a:ea typeface="Meiryo UI"/>
                          <a:cs typeface="Meiryo UI"/>
                        </a:rPr>
                        <a:t>部分FSM 状態</a:t>
                      </a:r>
                    </a:p>
                  </a:txBody>
                  <a:tcPr>
                    <a:solidFill>
                      <a:srgbClr val="EEF2F7"/>
                    </a:solidFill>
                  </a:tcPr>
                </a:tc>
                <a:tc>
                  <a:txBody>
                    <a:bodyPr/>
                    <a:lstStyle/>
                    <a:p>
                      <a:r>
                        <a:rPr sz="1000" b="1">
                          <a:solidFill>
                            <a:srgbClr val="2CA02C"/>
                          </a:solidFill>
                          <a:latin typeface="Arial"/>
                          <a:ea typeface="Meiryo UI"/>
                          <a:cs typeface="Meiryo UI"/>
                        </a:rPr>
                        <a:t>派生</a:t>
                      </a:r>
                    </a:p>
                  </a:txBody>
                  <a:tcPr>
                    <a:solidFill>
                      <a:srgbClr val="EEF2F7"/>
                    </a:solidFill>
                  </a:tcPr>
                </a:tc>
                <a:tc>
                  <a:txBody>
                    <a:bodyPr/>
                    <a:lstStyle/>
                    <a:p>
                      <a:r>
                        <a:rPr sz="1000" b="0">
                          <a:solidFill>
                            <a:srgbClr val="222222"/>
                          </a:solidFill>
                          <a:latin typeface="Arial"/>
                          <a:ea typeface="Meiryo UI"/>
                          <a:cs typeface="Meiryo UI"/>
                        </a:rPr>
                        <a:t>WAIT_HIGH/LOW/HIGH_AGAIN の途中状態(窓またぎ機会検出)</a:t>
                      </a:r>
                    </a:p>
                  </a:txBody>
                  <a:tcPr>
                    <a:solidFill>
                      <a:srgbClr val="EEF2F7"/>
                    </a:solidFill>
                  </a:tcPr>
                </a:tc>
              </a:tr>
              <a:tr h="402336">
                <a:tc>
                  <a:txBody>
                    <a:bodyPr/>
                    <a:lstStyle/>
                    <a:p>
                      <a:r>
                        <a:rPr sz="1000" b="0">
                          <a:solidFill>
                            <a:srgbClr val="222222"/>
                          </a:solidFill>
                          <a:latin typeface="Arial"/>
                          <a:ea typeface="Meiryo UI"/>
                          <a:cs typeface="Meiryo UI"/>
                        </a:rPr>
                        <a:t>gap/censor カウンタ</a:t>
                      </a:r>
                    </a:p>
                  </a:txBody>
                  <a:tcPr>
                    <a:solidFill>
                      <a:srgbClr val="FFFFFF"/>
                    </a:solidFill>
                  </a:tcPr>
                </a:tc>
                <a:tc>
                  <a:txBody>
                    <a:bodyPr/>
                    <a:lstStyle/>
                    <a:p>
                      <a:r>
                        <a:rPr sz="1000" b="1">
                          <a:solidFill>
                            <a:srgbClr val="2CA02C"/>
                          </a:solidFill>
                          <a:latin typeface="Arial"/>
                          <a:ea typeface="Meiryo UI"/>
                          <a:cs typeface="Meiryo UI"/>
                        </a:rPr>
                        <a:t>派生</a:t>
                      </a:r>
                    </a:p>
                  </a:txBody>
                  <a:tcPr>
                    <a:solidFill>
                      <a:srgbClr val="FFFFFF"/>
                    </a:solidFill>
                  </a:tcPr>
                </a:tc>
                <a:tc>
                  <a:txBody>
                    <a:bodyPr/>
                    <a:lstStyle/>
                    <a:p>
                      <a:r>
                        <a:rPr sz="1000" b="0">
                          <a:solidFill>
                            <a:srgbClr val="222222"/>
                          </a:solidFill>
                          <a:latin typeface="Arial"/>
                          <a:ea typeface="Meiryo UI"/>
                          <a:cs typeface="Meiryo UI"/>
                        </a:rPr>
                        <a:t>品質ゲート用の欠測・打ち切り集計</a:t>
                      </a:r>
                    </a:p>
                  </a:txBody>
                  <a:tcPr>
                    <a:solidFill>
                      <a:srgbClr val="FFFFFF"/>
                    </a:solidFill>
                  </a:tcPr>
                </a:tc>
              </a:tr>
              <a:tr h="402336">
                <a:tc>
                  <a:txBody>
                    <a:bodyPr/>
                    <a:lstStyle/>
                    <a:p>
                      <a:r>
                        <a:rPr sz="1000" b="0">
                          <a:solidFill>
                            <a:srgbClr val="222222"/>
                          </a:solidFill>
                          <a:latin typeface="Arial"/>
                          <a:ea typeface="Meiryo UI"/>
                          <a:cs typeface="Meiryo UI"/>
                        </a:rPr>
                        <a:t>最小十分状態(全体)</a:t>
                      </a:r>
                    </a:p>
                  </a:txBody>
                  <a:tcPr>
                    <a:solidFill>
                      <a:srgbClr val="EEF2F7"/>
                    </a:solidFill>
                  </a:tcPr>
                </a:tc>
                <a:tc>
                  <a:txBody>
                    <a:bodyPr/>
                    <a:lstStyle/>
                    <a:p>
                      <a:r>
                        <a:rPr sz="1000" b="1">
                          <a:solidFill>
                            <a:srgbClr val="2CA02C"/>
                          </a:solidFill>
                          <a:latin typeface="Arial"/>
                          <a:ea typeface="Meiryo UI"/>
                          <a:cs typeface="Meiryo UI"/>
                        </a:rPr>
                        <a:t>派生</a:t>
                      </a:r>
                    </a:p>
                  </a:txBody>
                  <a:tcPr>
                    <a:solidFill>
                      <a:srgbClr val="EEF2F7"/>
                    </a:solidFill>
                  </a:tcPr>
                </a:tc>
                <a:tc>
                  <a:txBody>
                    <a:bodyPr/>
                    <a:lstStyle/>
                    <a:p>
                      <a:r>
                        <a:rPr sz="1000" b="0">
                          <a:solidFill>
                            <a:srgbClr val="222222"/>
                          </a:solidFill>
                          <a:latin typeface="Arial"/>
                          <a:ea typeface="Meiryo UI"/>
                          <a:cs typeface="Meiryo UI"/>
                        </a:rPr>
                        <a:t>上記の集合(全7要素)。アブレーションで必要性を実証: patent_state_minimality</a:t>
                      </a:r>
                    </a:p>
                  </a:txBody>
                  <a:tcPr>
                    <a:solidFill>
                      <a:srgbClr val="EEF2F7"/>
                    </a:solidFill>
                  </a:tcPr>
                </a:tc>
              </a:tr>
            </a:tbl>
          </a:graphicData>
        </a:graphic>
      </p:graphicFrame>
      <p:sp>
        <p:nvSpPr>
          <p:cNvPr id="6" name="TextBox 5"/>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台帳の中身は『結果の要約』ではなく『因果リプレイに必要な最小情報』。ここがstreaming+cachingの一般論との違い。</a:t>
            </a:r>
          </a:p>
        </p:txBody>
      </p:sp>
      <p:sp>
        <p:nvSpPr>
          <p:cNvPr id="8" name="TextBox 7"/>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将来の特許候補（PROSPECTIVE — データはまだ無い、捏造しない）</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§5 将来候補</a:t>
            </a:r>
          </a:p>
        </p:txBody>
      </p:sp>
      <p:sp>
        <p:nvSpPr>
          <p:cNvPr id="5" name="TextBox 4"/>
          <p:cNvSpPr txBox="1"/>
          <p:nvPr/>
        </p:nvSpPr>
        <p:spPr>
          <a:xfrm>
            <a:off x="502920" y="932688"/>
            <a:ext cx="11247120" cy="2377440"/>
          </a:xfrm>
          <a:prstGeom prst="rect">
            <a:avLst/>
          </a:prstGeom>
          <a:noFill/>
        </p:spPr>
        <p:txBody>
          <a:bodyPr wrap="square">
            <a:spAutoFit/>
          </a:bodyPr>
          <a:lstStyle/>
          <a:p>
            <a:r>
              <a:rPr sz="1400" b="1">
                <a:solidFill>
                  <a:srgbClr val="1F375B"/>
                </a:solidFill>
                <a:latin typeface="Arial"/>
                <a:ea typeface="Meiryo UI"/>
                <a:cs typeface="Meiryo UI"/>
              </a:rPr>
              <a:t>将来④ 診断依存クローズドループ介入検証</a:t>
            </a:r>
          </a:p>
          <a:p>
            <a:pPr>
              <a:spcAft>
                <a:spcPts val="400"/>
              </a:spcAft>
            </a:pPr>
            <a:r>
              <a:rPr sz="1150" b="0">
                <a:solidFill>
                  <a:srgbClr val="222222"/>
                </a:solidFill>
                <a:latin typeface="Arial"/>
                <a:ea typeface="Meiryo UI"/>
                <a:cs typeface="Meiryo UI"/>
              </a:rPr>
              <a:t>•  内容: 診断ラベル別の介入(ゲージ→OEM承認の安全な較正のみ / FW→BIOS・EC・電池FW更新)後、『介入後最初の良質(HIGH_OK)な機会』から72h以内の有効FCC応答を主要評価項目として観測し、診断の正しさを閉ループで検証。介入は因果台帳に記録。</a:t>
            </a:r>
          </a:p>
          <a:p>
            <a:pPr>
              <a:spcAft>
                <a:spcPts val="400"/>
              </a:spcAft>
            </a:pPr>
            <a:r>
              <a:rPr sz="1150" b="0">
                <a:solidFill>
                  <a:srgbClr val="222222"/>
                </a:solidFill>
                <a:latin typeface="Arial"/>
                <a:ea typeface="Meiryo UI"/>
                <a:cs typeface="Meiryo UI"/>
              </a:rPr>
              <a:t>•  準備済み: 介入データスキーマ11フィールド(ハッシュ化ID・介入種別・version前後・介入後初機会・72h応答) + 実験プロトコル + 検出力シミュレーション</a:t>
            </a:r>
          </a:p>
          <a:p>
            <a:pPr>
              <a:spcAft>
                <a:spcPts val="400"/>
              </a:spcAft>
            </a:pPr>
            <a:r>
              <a:rPr sz="1150" b="0">
                <a:solidFill>
                  <a:srgbClr val="222222"/>
                </a:solidFill>
                <a:latin typeface="Arial"/>
                <a:ea typeface="Meiryo UI"/>
                <a:cs typeface="Meiryo UI"/>
              </a:rPr>
              <a:t>•  検出力の事前試算(ベースライン応答率0.39・α=0.05): 大きな効果(+0.35)なら各腕30台で検出力0.81 / 控えめな効果(+0.15)を狙うなら各腕80〜120台(0.46〜0.64) / 各腕120台×効果+0.25で0.976 ※実験結果ではなく必要台数の見積り</a:t>
            </a:r>
          </a:p>
          <a:p>
            <a:pPr>
              <a:spcAft>
                <a:spcPts val="400"/>
              </a:spcAft>
            </a:pPr>
            <a:r>
              <a:rPr sz="1150" b="0">
                <a:solidFill>
                  <a:srgbClr val="222222"/>
                </a:solidFill>
                <a:latin typeface="Arial"/>
                <a:ea typeface="Meiryo UI"/>
                <a:cs typeface="Meiryo UI"/>
              </a:rPr>
              <a:t>•  状態: 介入記録・BIOS/EC/電池FWバージョンはデータに存在しない(NOT AVAILABLE、availability probeで確認済み)</a:t>
            </a:r>
          </a:p>
        </p:txBody>
      </p:sp>
      <p:sp>
        <p:nvSpPr>
          <p:cNvPr id="6" name="TextBox 5"/>
          <p:cNvSpPr txBox="1"/>
          <p:nvPr/>
        </p:nvSpPr>
        <p:spPr>
          <a:xfrm>
            <a:off x="502920" y="3520440"/>
            <a:ext cx="11247120" cy="2103120"/>
          </a:xfrm>
          <a:prstGeom prst="rect">
            <a:avLst/>
          </a:prstGeom>
          <a:noFill/>
        </p:spPr>
        <p:txBody>
          <a:bodyPr wrap="square">
            <a:spAutoFit/>
          </a:bodyPr>
          <a:lstStyle/>
          <a:p>
            <a:r>
              <a:rPr sz="1400" b="1">
                <a:solidFill>
                  <a:srgbClr val="1F375B"/>
                </a:solidFill>
                <a:latin typeface="Arial"/>
                <a:ea typeface="Meiryo UI"/>
                <a:cs typeface="Meiryo UI"/>
              </a:rPr>
              <a:t>将来⑤ 機種非依存スクリーニング + version 局在</a:t>
            </a:r>
          </a:p>
          <a:p>
            <a:pPr>
              <a:spcAft>
                <a:spcPts val="400"/>
              </a:spcAft>
            </a:pPr>
            <a:r>
              <a:rPr sz="1150" b="0">
                <a:solidFill>
                  <a:srgbClr val="222222"/>
                </a:solidFill>
                <a:latin typeface="Arial"/>
                <a:ea typeface="Meiryo UI"/>
                <a:cs typeface="Meiryo UI"/>
              </a:rPr>
              <a:t>•  内容: 分類は行動特徴のみ(機種名/ベンダー/FRUを学習に使わない)。分類確定後に、記述統計としてハードウェア偏在を集計し、FWバージョン確認の優先順位付けに使う二段構成。</a:t>
            </a:r>
          </a:p>
          <a:p>
            <a:pPr>
              <a:spcAft>
                <a:spcPts val="400"/>
              </a:spcAft>
            </a:pPr>
            <a:r>
              <a:rPr sz="1150" b="0">
                <a:solidFill>
                  <a:srgbClr val="222222"/>
                </a:solidFill>
                <a:latin typeface="Arial"/>
                <a:ea typeface="Meiryo UI"/>
                <a:cs typeface="Meiryo UI"/>
              </a:rPr>
              <a:t>•  実データの例(記述のみ・分類には不使用): ある電池FRUでFW確認候補が26台中6台(経験ベイズ縮約後19.7%、BH補正q=0.0001)に偏在— versionデータがあれば『どの版で起きるか』の局在まで進める</a:t>
            </a:r>
          </a:p>
          <a:p>
            <a:pPr>
              <a:spcAft>
                <a:spcPts val="400"/>
              </a:spcAft>
            </a:pPr>
            <a:r>
              <a:rPr sz="1150" b="0">
                <a:solidFill>
                  <a:srgbClr val="222222"/>
                </a:solidFill>
                <a:latin typeface="Arial"/>
                <a:ea typeface="Meiryo UI"/>
                <a:cs typeface="Meiryo UI"/>
              </a:rPr>
              <a:t>•  状態: スクリーニングは実装済(エビデンスMEDIUM)。version局在はBIOS/EC/FW列が NOT AVAILABLE → PROSPECTIVE</a:t>
            </a:r>
          </a:p>
        </p:txBody>
      </p:sp>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『診断→対処→本当に直ったか』の輪を閉じるのが次の宿題。実験計画と必要台数の試算まで済ませてあり、あとはデータ収集の判断待ち。</a:t>
            </a:r>
          </a:p>
        </p:txBody>
      </p:sp>
      <p:sp>
        <p:nvSpPr>
          <p:cNvPr id="8" name="TextBox 7"/>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正直な開示① 敵対的レビューと必須開示事項</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§6 開示</a:t>
            </a:r>
          </a:p>
        </p:txBody>
      </p:sp>
      <p:sp>
        <p:nvSpPr>
          <p:cNvPr id="5" name="TextBox 4"/>
          <p:cNvSpPr txBox="1"/>
          <p:nvPr/>
        </p:nvSpPr>
        <p:spPr>
          <a:xfrm>
            <a:off x="502920" y="914400"/>
            <a:ext cx="11247120" cy="1234440"/>
          </a:xfrm>
          <a:prstGeom prst="rect">
            <a:avLst/>
          </a:prstGeom>
          <a:noFill/>
        </p:spPr>
        <p:txBody>
          <a:bodyPr wrap="square">
            <a:spAutoFit/>
          </a:bodyPr>
          <a:lstStyle/>
          <a:p>
            <a:r>
              <a:rPr sz="1250" b="1">
                <a:solidFill>
                  <a:srgbClr val="1F375B"/>
                </a:solidFill>
                <a:latin typeface="Arial"/>
                <a:ea typeface="Meiryo UI"/>
                <a:cs typeface="Meiryo UI"/>
              </a:rPr>
              <a:t>出願前に社内で『悪魔の代弁者』役のAIレビュアー8観点がエビデンスを66回攻撃 → 52件は防御成功(コード正当)、『言い過ぎ』5件+『説明不足』5件を確定し全て修正、真のロジック欠陥0件、PENDING 2件(FTO調査等)。</a:t>
            </a:r>
          </a:p>
          <a:p>
            <a:r>
              <a:rPr sz="1150" b="0">
                <a:solidFill>
                  <a:srgbClr val="555555"/>
                </a:solidFill>
                <a:latin typeface="Arial"/>
                <a:ea typeface="Meiryo UI"/>
                <a:cs typeface="Meiryo UI"/>
              </a:rPr>
              <a:t>修正はすべて文書・集計レイヤのみで、解析ロジック・数値・ラベルは不変。修正後テスト108件pass。以下は資料全体を拘束する必須開示。</a:t>
            </a:r>
          </a:p>
        </p:txBody>
      </p:sp>
      <p:graphicFrame>
        <p:nvGraphicFramePr>
          <p:cNvPr id="6" name="Table 5"/>
          <p:cNvGraphicFramePr>
            <a:graphicFrameLocks noGrp="1"/>
          </p:cNvGraphicFramePr>
          <p:nvPr/>
        </p:nvGraphicFramePr>
        <p:xfrm>
          <a:off x="457200" y="2121408"/>
          <a:ext cx="11292840" cy="3621024"/>
        </p:xfrm>
        <a:graphic>
          <a:graphicData uri="http://schemas.openxmlformats.org/drawingml/2006/table">
            <a:tbl>
              <a:tblPr firstRow="1" bandRow="1">
                <a:tableStyleId>{5C22544A-7EE6-4342-B048-85BDC9FD1C3A}</a:tableStyleId>
              </a:tblPr>
              <a:tblGrid>
                <a:gridCol w="411480"/>
                <a:gridCol w="10881360"/>
              </a:tblGrid>
              <a:tr h="402336">
                <a:tc>
                  <a:txBody>
                    <a:bodyPr/>
                    <a:lstStyle/>
                    <a:p>
                      <a:r>
                        <a:rPr sz="1100" b="1">
                          <a:solidFill>
                            <a:srgbClr val="FFFFFF"/>
                          </a:solidFill>
                          <a:latin typeface="Arial"/>
                          <a:ea typeface="Meiryo UI"/>
                          <a:cs typeface="Meiryo UI"/>
                        </a:rPr>
                        <a:t>#</a:t>
                      </a:r>
                    </a:p>
                  </a:txBody>
                  <a:tcPr>
                    <a:solidFill>
                      <a:srgbClr val="1E0113"/>
                    </a:solidFill>
                  </a:tcPr>
                </a:tc>
                <a:tc>
                  <a:txBody>
                    <a:bodyPr/>
                    <a:lstStyle/>
                    <a:p>
                      <a:r>
                        <a:rPr sz="1100" b="1">
                          <a:solidFill>
                            <a:srgbClr val="FFFFFF"/>
                          </a:solidFill>
                          <a:latin typeface="Arial"/>
                          <a:ea typeface="Meiryo UI"/>
                          <a:cs typeface="Meiryo UI"/>
                        </a:rPr>
                        <a:t>必須開示事項</a:t>
                      </a:r>
                    </a:p>
                  </a:txBody>
                  <a:tcPr>
                    <a:solidFill>
                      <a:srgbClr val="1E0113"/>
                    </a:solidFill>
                  </a:tcPr>
                </a:tc>
              </a:tr>
              <a:tr h="402336">
                <a:tc>
                  <a:txBody>
                    <a:bodyPr/>
                    <a:lstStyle/>
                    <a:p>
                      <a:r>
                        <a:rPr sz="1000" b="1">
                          <a:solidFill>
                            <a:srgbClr val="C0392B"/>
                          </a:solidFill>
                          <a:latin typeface="Arial"/>
                          <a:ea typeface="Meiryo UI"/>
                          <a:cs typeface="Meiryo UI"/>
                        </a:rPr>
                        <a:t>1</a:t>
                      </a:r>
                    </a:p>
                  </a:txBody>
                  <a:tcPr>
                    <a:solidFill>
                      <a:srgbClr val="EEF2F7"/>
                    </a:solidFill>
                  </a:tcPr>
                </a:tc>
                <a:tc>
                  <a:txBody>
                    <a:bodyPr/>
                    <a:lstStyle/>
                    <a:p>
                      <a:r>
                        <a:rPr sz="1000" b="0">
                          <a:solidFill>
                            <a:srgbClr val="222222"/>
                          </a:solidFill>
                          <a:latin typeface="Arial"/>
                          <a:ea typeface="Meiryo UI"/>
                          <a:cs typeface="Meiryo UI"/>
                        </a:rPr>
                        <a:t>候補②(IC2)の非対称リセットは本解析より前にproductionコード実装済み。v4は『特徴付け・検証』であり『着想』ではない。新規性は着想日に依存(法務確認事項)</a:t>
                      </a:r>
                    </a:p>
                  </a:txBody>
                  <a:tcPr>
                    <a:solidFill>
                      <a:srgbClr val="EEF2F7"/>
                    </a:solidFill>
                  </a:tcPr>
                </a:tc>
              </a:tr>
              <a:tr h="402336">
                <a:tc>
                  <a:txBody>
                    <a:bodyPr/>
                    <a:lstStyle/>
                    <a:p>
                      <a:r>
                        <a:rPr sz="1000" b="1">
                          <a:solidFill>
                            <a:srgbClr val="C0392B"/>
                          </a:solidFill>
                          <a:latin typeface="Arial"/>
                          <a:ea typeface="Meiryo UI"/>
                          <a:cs typeface="Meiryo UI"/>
                        </a:rPr>
                        <a:t>2</a:t>
                      </a:r>
                    </a:p>
                  </a:txBody>
                  <a:tcPr>
                    <a:solidFill>
                      <a:srgbClr val="FFFFFF"/>
                    </a:solidFill>
                  </a:tcPr>
                </a:tc>
                <a:tc>
                  <a:txBody>
                    <a:bodyPr/>
                    <a:lstStyle/>
                    <a:p>
                      <a:r>
                        <a:rPr sz="1000" b="0">
                          <a:solidFill>
                            <a:srgbClr val="222222"/>
                          </a:solidFill>
                          <a:latin typeface="Arial"/>
                          <a:ea typeface="Meiryo UI"/>
                          <a:cs typeface="Meiryo UI"/>
                        </a:rPr>
                        <a:t>『技術エビデンスが強い』≠『特許が取れる』。エビデンス強度と先行技術リスクは独立の軸として管理</a:t>
                      </a:r>
                    </a:p>
                  </a:txBody>
                  <a:tcPr>
                    <a:solidFill>
                      <a:srgbClr val="FFFFFF"/>
                    </a:solidFill>
                  </a:tcPr>
                </a:tc>
              </a:tr>
              <a:tr h="402336">
                <a:tc>
                  <a:txBody>
                    <a:bodyPr/>
                    <a:lstStyle/>
                    <a:p>
                      <a:r>
                        <a:rPr sz="1000" b="1">
                          <a:solidFill>
                            <a:srgbClr val="C0392B"/>
                          </a:solidFill>
                          <a:latin typeface="Arial"/>
                          <a:ea typeface="Meiryo UI"/>
                          <a:cs typeface="Meiryo UI"/>
                        </a:rPr>
                        <a:t>3</a:t>
                      </a:r>
                    </a:p>
                  </a:txBody>
                  <a:tcPr>
                    <a:solidFill>
                      <a:srgbClr val="EEF2F7"/>
                    </a:solidFill>
                  </a:tcPr>
                </a:tc>
                <a:tc>
                  <a:txBody>
                    <a:bodyPr/>
                    <a:lstStyle/>
                    <a:p>
                      <a:r>
                        <a:rPr sz="1000" b="0">
                          <a:solidFill>
                            <a:srgbClr val="222222"/>
                          </a:solidFill>
                          <a:latin typeface="Arial"/>
                          <a:ea typeface="Meiryo UI"/>
                          <a:cs typeface="Meiryo UI"/>
                        </a:rPr>
                        <a:t>候補①(IC1)は広義(『機会後の無応答検出』一般)では出さない。80/20/80帯・72h窓・50mWh・censor除外を明示した狭め/中位で出願準備</a:t>
                      </a:r>
                    </a:p>
                  </a:txBody>
                  <a:tcPr>
                    <a:solidFill>
                      <a:srgbClr val="EEF2F7"/>
                    </a:solidFill>
                  </a:tcPr>
                </a:tc>
              </a:tr>
              <a:tr h="402336">
                <a:tc>
                  <a:txBody>
                    <a:bodyPr/>
                    <a:lstStyle/>
                    <a:p>
                      <a:r>
                        <a:rPr sz="1000" b="1">
                          <a:solidFill>
                            <a:srgbClr val="C0392B"/>
                          </a:solidFill>
                          <a:latin typeface="Arial"/>
                          <a:ea typeface="Meiryo UI"/>
                          <a:cs typeface="Meiryo UI"/>
                        </a:rPr>
                        <a:t>4</a:t>
                      </a:r>
                    </a:p>
                  </a:txBody>
                  <a:tcPr>
                    <a:solidFill>
                      <a:srgbClr val="FFFFFF"/>
                    </a:solidFill>
                  </a:tcPr>
                </a:tc>
                <a:tc>
                  <a:txBody>
                    <a:bodyPr/>
                    <a:lstStyle/>
                    <a:p>
                      <a:r>
                        <a:rPr sz="1000" b="0">
                          <a:solidFill>
                            <a:srgbClr val="222222"/>
                          </a:solidFill>
                          <a:latin typeface="Arial"/>
                          <a:ea typeface="Meiryo UI"/>
                          <a:cs typeface="Meiryo UI"/>
                        </a:rPr>
                        <a:t>50mWhは事前指定の設計値。データ(GMM谷35.2、CI[26.3,54.1])は独立の裏付けだが一意の最適証明ではない。具体値はobviousness-to-tryに脆弱</a:t>
                      </a:r>
                    </a:p>
                  </a:txBody>
                  <a:tcPr>
                    <a:solidFill>
                      <a:srgbClr val="FFFFFF"/>
                    </a:solidFill>
                  </a:tcPr>
                </a:tc>
              </a:tr>
              <a:tr h="402336">
                <a:tc>
                  <a:txBody>
                    <a:bodyPr/>
                    <a:lstStyle/>
                    <a:p>
                      <a:r>
                        <a:rPr sz="1000" b="1">
                          <a:solidFill>
                            <a:srgbClr val="C0392B"/>
                          </a:solidFill>
                          <a:latin typeface="Arial"/>
                          <a:ea typeface="Meiryo UI"/>
                          <a:cs typeface="Meiryo UI"/>
                        </a:rPr>
                        <a:t>5</a:t>
                      </a:r>
                    </a:p>
                  </a:txBody>
                  <a:tcPr>
                    <a:solidFill>
                      <a:srgbClr val="EEF2F7"/>
                    </a:solidFill>
                  </a:tcPr>
                </a:tc>
                <a:tc>
                  <a:txBody>
                    <a:bodyPr/>
                    <a:lstStyle/>
                    <a:p>
                      <a:r>
                        <a:rPr sz="1000" b="0">
                          <a:solidFill>
                            <a:srgbClr val="222222"/>
                          </a:solidFill>
                          <a:latin typeface="Arial"/>
                          <a:ea typeface="Meiryo UI"/>
                          <a:cs typeface="Meiryo UI"/>
                        </a:rPr>
                        <a:t>先行技術(US7610172ほか)は全てAIサーベイ由来で未検証(UNVERIFIED)。正式なFTO/特許性調査+弁理士意見が出願前必須</a:t>
                      </a:r>
                    </a:p>
                  </a:txBody>
                  <a:tcPr>
                    <a:solidFill>
                      <a:srgbClr val="EEF2F7"/>
                    </a:solidFill>
                  </a:tcPr>
                </a:tc>
              </a:tr>
              <a:tr h="402336">
                <a:tc>
                  <a:txBody>
                    <a:bodyPr/>
                    <a:lstStyle/>
                    <a:p>
                      <a:r>
                        <a:rPr sz="1000" b="1">
                          <a:solidFill>
                            <a:srgbClr val="C0392B"/>
                          </a:solidFill>
                          <a:latin typeface="Arial"/>
                          <a:ea typeface="Meiryo UI"/>
                          <a:cs typeface="Meiryo UI"/>
                        </a:rPr>
                        <a:t>6</a:t>
                      </a:r>
                    </a:p>
                  </a:txBody>
                  <a:tcPr>
                    <a:solidFill>
                      <a:srgbClr val="FFFFFF"/>
                    </a:solidFill>
                  </a:tcPr>
                </a:tc>
                <a:tc>
                  <a:txBody>
                    <a:bodyPr/>
                    <a:lstStyle/>
                    <a:p>
                      <a:r>
                        <a:rPr sz="1000" b="0">
                          <a:solidFill>
                            <a:srgbClr val="222222"/>
                          </a:solidFill>
                          <a:latin typeface="Arial"/>
                          <a:ea typeface="Meiryo UI"/>
                          <a:cs typeface="Meiryo UI"/>
                        </a:rPr>
                        <a:t>介入・BIOS/EC/電池FWバージョンのデータは存在しない(NOT AVAILABLE)。将来④⑤に効果実証データは無い</a:t>
                      </a:r>
                    </a:p>
                  </a:txBody>
                  <a:tcPr>
                    <a:solidFill>
                      <a:srgbClr val="FFFFFF"/>
                    </a:solidFill>
                  </a:tcPr>
                </a:tc>
              </a:tr>
              <a:tr h="402336">
                <a:tc>
                  <a:txBody>
                    <a:bodyPr/>
                    <a:lstStyle/>
                    <a:p>
                      <a:r>
                        <a:rPr sz="1000" b="1">
                          <a:solidFill>
                            <a:srgbClr val="C0392B"/>
                          </a:solidFill>
                          <a:latin typeface="Arial"/>
                          <a:ea typeface="Meiryo UI"/>
                          <a:cs typeface="Meiryo UI"/>
                        </a:rPr>
                        <a:t>7</a:t>
                      </a:r>
                    </a:p>
                  </a:txBody>
                  <a:tcPr>
                    <a:solidFill>
                      <a:srgbClr val="EEF2F7"/>
                    </a:solidFill>
                  </a:tcPr>
                </a:tc>
                <a:tc>
                  <a:txBody>
                    <a:bodyPr/>
                    <a:lstStyle/>
                    <a:p>
                      <a:r>
                        <a:rPr sz="1000" b="0">
                          <a:solidFill>
                            <a:srgbClr val="222222"/>
                          </a:solidFill>
                          <a:latin typeface="Arial"/>
                          <a:ea typeface="Meiryo UI"/>
                          <a:cs typeface="Meiryo UI"/>
                        </a:rPr>
                        <a:t>MLはnear-random(規範AUC 0.56)であり進歩性の根拠に不使用。発明の核は決定論カウンタ+状態機械(=検算可能・非ブラックボックス)</a:t>
                      </a:r>
                    </a:p>
                  </a:txBody>
                  <a:tcPr>
                    <a:solidFill>
                      <a:srgbClr val="EEF2F7"/>
                    </a:solidFill>
                  </a:tcPr>
                </a:tc>
              </a:tr>
              <a:tr h="402336">
                <a:tc>
                  <a:txBody>
                    <a:bodyPr/>
                    <a:lstStyle/>
                    <a:p>
                      <a:r>
                        <a:rPr sz="1000" b="1">
                          <a:solidFill>
                            <a:srgbClr val="C0392B"/>
                          </a:solidFill>
                          <a:latin typeface="Arial"/>
                          <a:ea typeface="Meiryo UI"/>
                          <a:cs typeface="Meiryo UI"/>
                        </a:rPr>
                        <a:t>8</a:t>
                      </a:r>
                    </a:p>
                  </a:txBody>
                  <a:tcPr>
                    <a:solidFill>
                      <a:srgbClr val="FFFFFF"/>
                    </a:solidFill>
                  </a:tcPr>
                </a:tc>
                <a:tc>
                  <a:txBody>
                    <a:bodyPr/>
                    <a:lstStyle/>
                    <a:p>
                      <a:r>
                        <a:rPr sz="1000" b="0">
                          <a:solidFill>
                            <a:srgbClr val="222222"/>
                          </a:solidFill>
                          <a:latin typeface="Arial"/>
                          <a:ea typeface="Meiryo UI"/>
                          <a:cs typeface="Meiryo UI"/>
                        </a:rPr>
                        <a:t>数値不整合1件(保持検証MAE 0.0375/0.05の混在)を検出し同一run由来に統一・修正。結論への影響なし</a:t>
                      </a:r>
                    </a:p>
                  </a:txBody>
                  <a:tcPr>
                    <a:solidFill>
                      <a:srgbClr val="FFFFFF"/>
                    </a:solidFill>
                  </a:tcPr>
                </a:tc>
              </a:tr>
            </a:tbl>
          </a:graphicData>
        </a:graphic>
      </p:graphicFrame>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66回攻撃して計算のバグは0件 — ただし『言い方が強すぎた』10箇所は直した。この開示リストごと信じてもらうのが本資料の流儀。</a:t>
            </a:r>
          </a:p>
        </p:txBody>
      </p:sp>
      <p:sp>
        <p:nvSpPr>
          <p:cNvPr id="8" name="TextBox 7"/>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正直な開示② 限界と出願前の残課題</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§6 開示</a:t>
            </a:r>
          </a:p>
        </p:txBody>
      </p:sp>
      <p:sp>
        <p:nvSpPr>
          <p:cNvPr id="5" name="TextBox 4"/>
          <p:cNvSpPr txBox="1"/>
          <p:nvPr/>
        </p:nvSpPr>
        <p:spPr>
          <a:xfrm>
            <a:off x="502920" y="932688"/>
            <a:ext cx="11247120" cy="2651760"/>
          </a:xfrm>
          <a:prstGeom prst="rect">
            <a:avLst/>
          </a:prstGeom>
          <a:noFill/>
        </p:spPr>
        <p:txBody>
          <a:bodyPr wrap="square">
            <a:spAutoFit/>
          </a:bodyPr>
          <a:lstStyle/>
          <a:p>
            <a:r>
              <a:rPr sz="1400" b="1">
                <a:solidFill>
                  <a:srgbClr val="1F375B"/>
                </a:solidFill>
                <a:latin typeface="Arial"/>
                <a:ea typeface="Meiryo UI"/>
                <a:cs typeface="Meiryo UI"/>
              </a:rPr>
              <a:t>限界（この資料が主張できないこと）</a:t>
            </a:r>
          </a:p>
          <a:p>
            <a:pPr>
              <a:spcAft>
                <a:spcPts val="400"/>
              </a:spcAft>
            </a:pPr>
            <a:r>
              <a:rPr sz="1150" b="0">
                <a:solidFill>
                  <a:srgbClr val="222222"/>
                </a:solidFill>
                <a:latin typeface="Arial"/>
                <a:ea typeface="Meiryo UI"/>
                <a:cs typeface="Meiryo UI"/>
              </a:rPr>
              <a:t>•  proxyラベルは本番システムの出力であり地上真実ではない。precision/recall等は全てproxy基準(『FW不良を検出』ではなく『FW確認対象を抽出』)</a:t>
            </a:r>
          </a:p>
          <a:p>
            <a:pPr>
              <a:spcAft>
                <a:spcPts val="400"/>
              </a:spcAft>
            </a:pPr>
            <a:r>
              <a:rPr sz="1150" b="0">
                <a:solidFill>
                  <a:srgbClr val="222222"/>
                </a:solidFill>
                <a:latin typeface="Arial"/>
                <a:ea typeface="Meiryo UI"/>
                <a:cs typeface="Meiryo UI"/>
              </a:rPr>
              <a:t>•  A6(production自身との一致 precision/recall=1.0)は同義反復のため実証に使わない。使うのはアブレーションA0→A5(proxy精度0.33→0.89)</a:t>
            </a:r>
          </a:p>
          <a:p>
            <a:pPr>
              <a:spcAft>
                <a:spcPts val="400"/>
              </a:spcAft>
            </a:pPr>
            <a:r>
              <a:rPr sz="1150" b="0">
                <a:solidFill>
                  <a:srgbClr val="222222"/>
                </a:solidFill>
                <a:latin typeface="Arial"/>
                <a:ea typeface="Meiryo UI"/>
                <a:cs typeface="Meiryo UI"/>
              </a:rPr>
              <a:t>•  END汚染0は『実証された発見』ではなく『定義による構造的性質』(設計の正しさの確認)</a:t>
            </a:r>
          </a:p>
          <a:p>
            <a:pPr>
              <a:spcAft>
                <a:spcPts val="400"/>
              </a:spcAft>
            </a:pPr>
            <a:r>
              <a:rPr sz="1150" b="0">
                <a:solidFill>
                  <a:srgbClr val="222222"/>
                </a:solidFill>
                <a:latin typeface="Arial"/>
                <a:ea typeface="Meiryo UI"/>
                <a:cs typeface="Meiryo UI"/>
              </a:rPr>
              <a:t>•  極端な欠測(MCAR 50%)では機会回収率が約0.84まで低下(現実的なギャップ・打ち切りregimeでは頑健)</a:t>
            </a:r>
          </a:p>
          <a:p>
            <a:pPr>
              <a:spcAft>
                <a:spcPts val="400"/>
              </a:spcAft>
            </a:pPr>
            <a:r>
              <a:rPr sz="1150" b="0">
                <a:solidFill>
                  <a:srgbClr val="222222"/>
                </a:solidFill>
                <a:latin typeface="Arial"/>
                <a:ea typeface="Meiryo UI"/>
                <a:cs typeface="Meiryo UI"/>
              </a:rPr>
              <a:t>•  bit単位の完全再現は非保証(seeded RNG+リプレイのテストでアルゴリズム的再現を担保)</a:t>
            </a:r>
          </a:p>
        </p:txBody>
      </p:sp>
      <p:sp>
        <p:nvSpPr>
          <p:cNvPr id="6" name="TextBox 5"/>
          <p:cNvSpPr txBox="1"/>
          <p:nvPr/>
        </p:nvSpPr>
        <p:spPr>
          <a:xfrm>
            <a:off x="502920" y="3657600"/>
            <a:ext cx="11247120" cy="2011680"/>
          </a:xfrm>
          <a:prstGeom prst="rect">
            <a:avLst/>
          </a:prstGeom>
          <a:noFill/>
        </p:spPr>
        <p:txBody>
          <a:bodyPr wrap="square">
            <a:spAutoFit/>
          </a:bodyPr>
          <a:lstStyle/>
          <a:p>
            <a:r>
              <a:rPr sz="1400" b="1">
                <a:solidFill>
                  <a:srgbClr val="C0392B"/>
                </a:solidFill>
                <a:latin typeface="Arial"/>
                <a:ea typeface="Meiryo UI"/>
                <a:cs typeface="Meiryo UI"/>
              </a:rPr>
              <a:t>出願前の残課題（6/18特許性評価が『時期尚早』とした3点+PENDING）</a:t>
            </a:r>
          </a:p>
          <a:p>
            <a:pPr>
              <a:spcAft>
                <a:spcPts val="400"/>
              </a:spcAft>
            </a:pPr>
            <a:r>
              <a:rPr sz="1150" b="0">
                <a:solidFill>
                  <a:srgbClr val="222222"/>
                </a:solidFill>
                <a:latin typeface="Arial"/>
                <a:ea typeface="Meiryo UI"/>
                <a:cs typeface="Meiryo UI"/>
              </a:rPr>
              <a:t>•  (a) 介入→FCC回復のクローズドループ実証データが未取得(最大のギャップ。将来④のプロトコルで収集開始が可能)</a:t>
            </a:r>
          </a:p>
          <a:p>
            <a:pPr>
              <a:spcAft>
                <a:spcPts val="400"/>
              </a:spcAft>
            </a:pPr>
            <a:r>
              <a:rPr sz="1150" b="0">
                <a:solidFill>
                  <a:srgbClr val="222222"/>
                </a:solidFill>
                <a:latin typeface="Arial"/>
                <a:ea typeface="Meiryo UI"/>
                <a:cs typeface="Meiryo UI"/>
              </a:rPr>
              <a:t>•  (b) 主要先行特許(バッテリフリート監視系 US12061240 等)の独立クレーム未精読 — AIサーベイのリストは下調べ段階</a:t>
            </a:r>
          </a:p>
          <a:p>
            <a:pPr>
              <a:spcAft>
                <a:spcPts val="400"/>
              </a:spcAft>
            </a:pPr>
            <a:r>
              <a:rPr sz="1150" b="0">
                <a:solidFill>
                  <a:srgbClr val="222222"/>
                </a:solidFill>
                <a:latin typeface="Arial"/>
                <a:ea typeface="Meiryo UI"/>
                <a:cs typeface="Meiryo UI"/>
              </a:rPr>
              <a:t>•  (c) 社内外の公開有無(論文・製品ドキュメント・本テレメトリ機能自体の公開状況)の確認 — 新規性喪失の例外適用可否も含め法務確認</a:t>
            </a:r>
          </a:p>
          <a:p>
            <a:pPr>
              <a:spcAft>
                <a:spcPts val="400"/>
              </a:spcAft>
            </a:pPr>
            <a:r>
              <a:rPr sz="1150" b="0">
                <a:solidFill>
                  <a:srgbClr val="222222"/>
                </a:solidFill>
                <a:latin typeface="Arial"/>
                <a:ea typeface="Meiryo UI"/>
                <a:cs typeface="Meiryo UI"/>
              </a:rPr>
              <a:t>•  正式なFTO/特許性調査(弁理士)・請求項チャートの作成</a:t>
            </a:r>
          </a:p>
        </p:txBody>
      </p:sp>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技術の証拠集めは完了。ここから先(先行技術の精査・公開有無・介入実証)は、reviewerと弁理士の判断と追加データが必要な領域。</a:t>
            </a:r>
          </a:p>
        </p:txBody>
      </p:sp>
      <p:sp>
        <p:nvSpPr>
          <p:cNvPr id="8" name="TextBox 7"/>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知財戦略オプション — 2つの評価の突き合わせ（判断材料）</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6A3D8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§6 開示</a:t>
            </a:r>
          </a:p>
        </p:txBody>
      </p:sp>
      <p:sp>
        <p:nvSpPr>
          <p:cNvPr id="5" name="TextBox 4"/>
          <p:cNvSpPr txBox="1"/>
          <p:nvPr/>
        </p:nvSpPr>
        <p:spPr>
          <a:xfrm>
            <a:off x="502920" y="896112"/>
            <a:ext cx="11247120" cy="685800"/>
          </a:xfrm>
          <a:prstGeom prst="rect">
            <a:avLst/>
          </a:prstGeom>
          <a:noFill/>
        </p:spPr>
        <p:txBody>
          <a:bodyPr wrap="square">
            <a:spAutoFit/>
          </a:bodyPr>
          <a:lstStyle/>
          <a:p>
            <a:r>
              <a:rPr sz="1200" b="1">
                <a:solidFill>
                  <a:srgbClr val="1F375B"/>
                </a:solidFill>
                <a:latin typeface="Arial"/>
                <a:ea typeface="Meiryo UI"/>
                <a:cs typeface="Meiryo UI"/>
              </a:rPr>
              <a:t>6/18の特許性評価(独立視点・v4のPENDING解析完了前)と、v4エビデンス完了後の整理は一部で結論が異なる。両方を並べて示す — どちらを採るかはreviewer判断。</a:t>
            </a:r>
          </a:p>
        </p:txBody>
      </p:sp>
      <p:graphicFrame>
        <p:nvGraphicFramePr>
          <p:cNvPr id="6" name="Table 5"/>
          <p:cNvGraphicFramePr>
            <a:graphicFrameLocks noGrp="1"/>
          </p:cNvGraphicFramePr>
          <p:nvPr/>
        </p:nvGraphicFramePr>
        <p:xfrm>
          <a:off x="457200" y="1572768"/>
          <a:ext cx="11247120" cy="3364992"/>
        </p:xfrm>
        <a:graphic>
          <a:graphicData uri="http://schemas.openxmlformats.org/drawingml/2006/table">
            <a:tbl>
              <a:tblPr firstRow="1" bandRow="1">
                <a:tableStyleId>{5C22544A-7EE6-4342-B048-85BDC9FD1C3A}</a:tableStyleId>
              </a:tblPr>
              <a:tblGrid>
                <a:gridCol w="2651760"/>
                <a:gridCol w="4023360"/>
                <a:gridCol w="4572000"/>
              </a:tblGrid>
              <a:tr h="420624">
                <a:tc>
                  <a:txBody>
                    <a:bodyPr/>
                    <a:lstStyle/>
                    <a:p>
                      <a:r>
                        <a:rPr sz="1100" b="1">
                          <a:solidFill>
                            <a:srgbClr val="FFFFFF"/>
                          </a:solidFill>
                          <a:latin typeface="Arial"/>
                          <a:ea typeface="Meiryo UI"/>
                          <a:cs typeface="Meiryo UI"/>
                        </a:rPr>
                        <a:t>対象</a:t>
                      </a:r>
                    </a:p>
                  </a:txBody>
                  <a:tcPr>
                    <a:solidFill>
                      <a:srgbClr val="1E0113"/>
                    </a:solidFill>
                  </a:tcPr>
                </a:tc>
                <a:tc>
                  <a:txBody>
                    <a:bodyPr/>
                    <a:lstStyle/>
                    <a:p>
                      <a:r>
                        <a:rPr sz="1100" b="1">
                          <a:solidFill>
                            <a:srgbClr val="FFFFFF"/>
                          </a:solidFill>
                          <a:latin typeface="Arial"/>
                          <a:ea typeface="Meiryo UI"/>
                          <a:cs typeface="Meiryo UI"/>
                        </a:rPr>
                        <a:t>6/18 特許性評価の提言</a:t>
                      </a:r>
                    </a:p>
                  </a:txBody>
                  <a:tcPr>
                    <a:solidFill>
                      <a:srgbClr val="1E0113"/>
                    </a:solidFill>
                  </a:tcPr>
                </a:tc>
                <a:tc>
                  <a:txBody>
                    <a:bodyPr/>
                    <a:lstStyle/>
                    <a:p>
                      <a:r>
                        <a:rPr sz="1100" b="1">
                          <a:solidFill>
                            <a:srgbClr val="FFFFFF"/>
                          </a:solidFill>
                          <a:latin typeface="Arial"/>
                          <a:ea typeface="Meiryo UI"/>
                          <a:cs typeface="Meiryo UI"/>
                        </a:rPr>
                        <a:t>v4エビデンス完了後の位置づけ</a:t>
                      </a:r>
                    </a:p>
                  </a:txBody>
                  <a:tcPr>
                    <a:solidFill>
                      <a:srgbClr val="1E0113"/>
                    </a:solidFill>
                  </a:tcPr>
                </a:tc>
              </a:tr>
              <a:tr h="420624">
                <a:tc>
                  <a:txBody>
                    <a:bodyPr/>
                    <a:lstStyle/>
                    <a:p>
                      <a:r>
                        <a:rPr sz="1000" b="1">
                          <a:solidFill>
                            <a:srgbClr val="1F375B"/>
                          </a:solidFill>
                          <a:latin typeface="Arial"/>
                          <a:ea typeface="Meiryo UI"/>
                          <a:cs typeface="Meiryo UI"/>
                        </a:rPr>
                        <a:t>IC1（候補①の核）</a:t>
                      </a:r>
                    </a:p>
                  </a:txBody>
                  <a:tcPr>
                    <a:solidFill>
                      <a:srgbClr val="EEF2F7"/>
                    </a:solidFill>
                  </a:tcPr>
                </a:tc>
                <a:tc>
                  <a:txBody>
                    <a:bodyPr/>
                    <a:lstStyle/>
                    <a:p>
                      <a:r>
                        <a:rPr sz="1000" b="0">
                          <a:solidFill>
                            <a:srgbClr val="222222"/>
                          </a:solidFill>
                          <a:latin typeface="Arial"/>
                          <a:ea typeface="Meiryo UI"/>
                          <a:cs typeface="Meiryo UI"/>
                        </a:rPr>
                        <a:t>中・最有望 — 出願の核に</a:t>
                      </a:r>
                    </a:p>
                  </a:txBody>
                  <a:tcPr>
                    <a:solidFill>
                      <a:srgbClr val="EEF2F7"/>
                    </a:solidFill>
                  </a:tcPr>
                </a:tc>
                <a:tc>
                  <a:txBody>
                    <a:bodyPr/>
                    <a:lstStyle/>
                    <a:p>
                      <a:r>
                        <a:rPr sz="1000" b="0">
                          <a:solidFill>
                            <a:srgbClr val="222222"/>
                          </a:solidFill>
                          <a:latin typeface="Arial"/>
                          <a:ea typeface="Meiryo UI"/>
                          <a:cs typeface="Meiryo UI"/>
                        </a:rPr>
                        <a:t>STRONG / リスクMEDIUM-HIGH — 狭め/中位で出願候補</a:t>
                      </a:r>
                    </a:p>
                  </a:txBody>
                  <a:tcPr>
                    <a:solidFill>
                      <a:srgbClr val="EEF2F7"/>
                    </a:solidFill>
                  </a:tcPr>
                </a:tc>
              </a:tr>
              <a:tr h="420624">
                <a:tc>
                  <a:txBody>
                    <a:bodyPr/>
                    <a:lstStyle/>
                    <a:p>
                      <a:r>
                        <a:rPr sz="1000" b="1">
                          <a:solidFill>
                            <a:srgbClr val="1F375B"/>
                          </a:solidFill>
                          <a:latin typeface="Arial"/>
                          <a:ea typeface="Meiryo UI"/>
                          <a:cs typeface="Meiryo UI"/>
                        </a:rPr>
                        <a:t>IC5（候補③）</a:t>
                      </a:r>
                    </a:p>
                  </a:txBody>
                  <a:tcPr>
                    <a:solidFill>
                      <a:srgbClr val="FFFFFF"/>
                    </a:solidFill>
                  </a:tcPr>
                </a:tc>
                <a:tc>
                  <a:txBody>
                    <a:bodyPr/>
                    <a:lstStyle/>
                    <a:p>
                      <a:r>
                        <a:rPr sz="1000" b="0">
                          <a:solidFill>
                            <a:srgbClr val="222222"/>
                          </a:solidFill>
                          <a:latin typeface="Arial"/>
                          <a:ea typeface="Meiryo UI"/>
                          <a:cs typeface="Meiryo UI"/>
                        </a:rPr>
                        <a:t>中・最も堅い — 出願の核に</a:t>
                      </a:r>
                    </a:p>
                  </a:txBody>
                  <a:tcPr>
                    <a:solidFill>
                      <a:srgbClr val="FFFFFF"/>
                    </a:solidFill>
                  </a:tcPr>
                </a:tc>
                <a:tc>
                  <a:txBody>
                    <a:bodyPr/>
                    <a:lstStyle/>
                    <a:p>
                      <a:r>
                        <a:rPr sz="1000" b="0">
                          <a:solidFill>
                            <a:srgbClr val="222222"/>
                          </a:solidFill>
                          <a:latin typeface="Arial"/>
                          <a:ea typeface="Meiryo UI"/>
                          <a:cs typeface="Meiryo UI"/>
                        </a:rPr>
                        <a:t>STRONG(v3のMEDIUMから昇格) / リスクMEDIUM-HIGH — 最小状態を核に</a:t>
                      </a:r>
                    </a:p>
                  </a:txBody>
                  <a:tcPr>
                    <a:solidFill>
                      <a:srgbClr val="FFFFFF"/>
                    </a:solidFill>
                  </a:tcPr>
                </a:tc>
              </a:tr>
              <a:tr h="420624">
                <a:tc>
                  <a:txBody>
                    <a:bodyPr/>
                    <a:lstStyle/>
                    <a:p>
                      <a:r>
                        <a:rPr sz="1000" b="1">
                          <a:solidFill>
                            <a:srgbClr val="1F375B"/>
                          </a:solidFill>
                          <a:latin typeface="Arial"/>
                          <a:ea typeface="Meiryo UI"/>
                          <a:cs typeface="Meiryo UI"/>
                        </a:rPr>
                        <a:t>IC6（候補①内の品質ゲート）</a:t>
                      </a:r>
                    </a:p>
                  </a:txBody>
                  <a:tcPr>
                    <a:solidFill>
                      <a:srgbClr val="EEF2F7"/>
                    </a:solidFill>
                  </a:tcPr>
                </a:tc>
                <a:tc>
                  <a:txBody>
                    <a:bodyPr/>
                    <a:lstStyle/>
                    <a:p>
                      <a:r>
                        <a:rPr sz="1000" b="0">
                          <a:solidFill>
                            <a:srgbClr val="222222"/>
                          </a:solidFill>
                          <a:latin typeface="Arial"/>
                          <a:ea typeface="Meiryo UI"/>
                          <a:cs typeface="Meiryo UI"/>
                        </a:rPr>
                        <a:t>低〜中 — 従属クレームで</a:t>
                      </a:r>
                    </a:p>
                  </a:txBody>
                  <a:tcPr>
                    <a:solidFill>
                      <a:srgbClr val="EEF2F7"/>
                    </a:solidFill>
                  </a:tcPr>
                </a:tc>
                <a:tc>
                  <a:txBody>
                    <a:bodyPr/>
                    <a:lstStyle/>
                    <a:p>
                      <a:r>
                        <a:rPr sz="1000" b="0">
                          <a:solidFill>
                            <a:srgbClr val="222222"/>
                          </a:solidFill>
                          <a:latin typeface="Arial"/>
                          <a:ea typeface="Meiryo UI"/>
                          <a:cs typeface="Meiryo UI"/>
                        </a:rPr>
                        <a:t>STRONG — 段階ティア×censor-awareが差別化点</a:t>
                      </a:r>
                    </a:p>
                  </a:txBody>
                  <a:tcPr>
                    <a:solidFill>
                      <a:srgbClr val="EEF2F7"/>
                    </a:solidFill>
                  </a:tcPr>
                </a:tc>
              </a:tr>
              <a:tr h="420624">
                <a:tc>
                  <a:txBody>
                    <a:bodyPr/>
                    <a:lstStyle/>
                    <a:p>
                      <a:r>
                        <a:rPr sz="1000" b="1">
                          <a:solidFill>
                            <a:srgbClr val="1F375B"/>
                          </a:solidFill>
                          <a:latin typeface="Arial"/>
                          <a:ea typeface="Meiryo UI"/>
                          <a:cs typeface="Meiryo UI"/>
                        </a:rPr>
                        <a:t>IC2（候補②）</a:t>
                      </a:r>
                    </a:p>
                  </a:txBody>
                  <a:tcPr>
                    <a:solidFill>
                      <a:srgbClr val="FFFFFF"/>
                    </a:solidFill>
                  </a:tcPr>
                </a:tc>
                <a:tc>
                  <a:txBody>
                    <a:bodyPr/>
                    <a:lstStyle/>
                    <a:p>
                      <a:r>
                        <a:rPr sz="1000" b="0">
                          <a:solidFill>
                            <a:srgbClr val="222222"/>
                          </a:solidFill>
                          <a:latin typeface="Arial"/>
                          <a:ea typeface="Meiryo UI"/>
                          <a:cs typeface="Meiryo UI"/>
                        </a:rPr>
                        <a:t>低 — 防御的公開へ</a:t>
                      </a:r>
                    </a:p>
                  </a:txBody>
                  <a:tcPr>
                    <a:solidFill>
                      <a:srgbClr val="FFFFFF"/>
                    </a:solidFill>
                  </a:tcPr>
                </a:tc>
                <a:tc>
                  <a:txBody>
                    <a:bodyPr/>
                    <a:lstStyle/>
                    <a:p>
                      <a:r>
                        <a:rPr sz="1000" b="0">
                          <a:solidFill>
                            <a:srgbClr val="222222"/>
                          </a:solidFill>
                          <a:latin typeface="Arial"/>
                          <a:ea typeface="Meiryo UI"/>
                          <a:cs typeface="Meiryo UI"/>
                        </a:rPr>
                        <a:t>STRONG / リスクHIGH(着想日依存) — 出願か防御的公開か要判断</a:t>
                      </a:r>
                    </a:p>
                  </a:txBody>
                  <a:tcPr>
                    <a:solidFill>
                      <a:srgbClr val="FFFFFF"/>
                    </a:solidFill>
                  </a:tcPr>
                </a:tc>
              </a:tr>
              <a:tr h="420624">
                <a:tc>
                  <a:txBody>
                    <a:bodyPr/>
                    <a:lstStyle/>
                    <a:p>
                      <a:r>
                        <a:rPr sz="1000" b="1">
                          <a:solidFill>
                            <a:srgbClr val="1F375B"/>
                          </a:solidFill>
                          <a:latin typeface="Arial"/>
                          <a:ea typeface="Meiryo UI"/>
                          <a:cs typeface="Meiryo UI"/>
                        </a:rPr>
                        <a:t>IC7（統計計算）</a:t>
                      </a:r>
                    </a:p>
                  </a:txBody>
                  <a:tcPr>
                    <a:solidFill>
                      <a:srgbClr val="EEF2F7"/>
                    </a:solidFill>
                  </a:tcPr>
                </a:tc>
                <a:tc>
                  <a:txBody>
                    <a:bodyPr/>
                    <a:lstStyle/>
                    <a:p>
                      <a:r>
                        <a:rPr sz="1000" b="0">
                          <a:solidFill>
                            <a:srgbClr val="222222"/>
                          </a:solidFill>
                          <a:latin typeface="Arial"/>
                          <a:ea typeface="Meiryo UI"/>
                          <a:cs typeface="Meiryo UI"/>
                        </a:rPr>
                        <a:t>出願不可(純粋な数学的方法) — 復活させない</a:t>
                      </a:r>
                    </a:p>
                  </a:txBody>
                  <a:tcPr>
                    <a:solidFill>
                      <a:srgbClr val="EEF2F7"/>
                    </a:solidFill>
                  </a:tcPr>
                </a:tc>
                <a:tc>
                  <a:txBody>
                    <a:bodyPr/>
                    <a:lstStyle/>
                    <a:p>
                      <a:r>
                        <a:rPr sz="1000" b="0">
                          <a:solidFill>
                            <a:srgbClr val="222222"/>
                          </a:solidFill>
                          <a:latin typeface="Arial"/>
                          <a:ea typeface="Meiryo UI"/>
                          <a:cs typeface="Meiryo UI"/>
                        </a:rPr>
                        <a:t>同左(PROSPECTIVE)</a:t>
                      </a:r>
                    </a:p>
                  </a:txBody>
                  <a:tcPr>
                    <a:solidFill>
                      <a:srgbClr val="EEF2F7"/>
                    </a:solidFill>
                  </a:tcPr>
                </a:tc>
              </a:tr>
              <a:tr h="420624">
                <a:tc>
                  <a:txBody>
                    <a:bodyPr/>
                    <a:lstStyle/>
                    <a:p>
                      <a:r>
                        <a:rPr sz="1000" b="1">
                          <a:solidFill>
                            <a:srgbClr val="1F375B"/>
                          </a:solidFill>
                          <a:latin typeface="Arial"/>
                          <a:ea typeface="Meiryo UI"/>
                          <a:cs typeface="Meiryo UI"/>
                        </a:rPr>
                        <a:t>IC8（トリアージ/局在）</a:t>
                      </a:r>
                    </a:p>
                  </a:txBody>
                  <a:tcPr>
                    <a:solidFill>
                      <a:srgbClr val="FFFFFF"/>
                    </a:solidFill>
                  </a:tcPr>
                </a:tc>
                <a:tc>
                  <a:txBody>
                    <a:bodyPr/>
                    <a:lstStyle/>
                    <a:p>
                      <a:r>
                        <a:rPr sz="1000" b="0">
                          <a:solidFill>
                            <a:srgbClr val="222222"/>
                          </a:solidFill>
                          <a:latin typeface="Arial"/>
                          <a:ea typeface="Meiryo UI"/>
                          <a:cs typeface="Meiryo UI"/>
                        </a:rPr>
                        <a:t>低</a:t>
                      </a:r>
                    </a:p>
                  </a:txBody>
                  <a:tcPr>
                    <a:solidFill>
                      <a:srgbClr val="FFFFFF"/>
                    </a:solidFill>
                  </a:tcPr>
                </a:tc>
                <a:tc>
                  <a:txBody>
                    <a:bodyPr/>
                    <a:lstStyle/>
                    <a:p>
                      <a:r>
                        <a:rPr sz="1000" b="0">
                          <a:solidFill>
                            <a:srgbClr val="222222"/>
                          </a:solidFill>
                          <a:latin typeface="Arial"/>
                          <a:ea typeface="Meiryo UI"/>
                          <a:cs typeface="Meiryo UI"/>
                        </a:rPr>
                        <a:t>スクリーニングMEDIUM / version局在PROSPECTIVE</a:t>
                      </a:r>
                    </a:p>
                  </a:txBody>
                  <a:tcPr>
                    <a:solidFill>
                      <a:srgbClr val="FFFFFF"/>
                    </a:solidFill>
                  </a:tcPr>
                </a:tc>
              </a:tr>
              <a:tr h="420624">
                <a:tc>
                  <a:txBody>
                    <a:bodyPr/>
                    <a:lstStyle/>
                    <a:p>
                      <a:r>
                        <a:rPr sz="1000" b="1">
                          <a:solidFill>
                            <a:srgbClr val="1F375B"/>
                          </a:solidFill>
                          <a:latin typeface="Arial"/>
                          <a:ea typeface="Meiryo UI"/>
                          <a:cs typeface="Meiryo UI"/>
                        </a:rPr>
                        <a:t>微調整閾値(係数・定数類)</a:t>
                      </a:r>
                    </a:p>
                  </a:txBody>
                  <a:tcPr>
                    <a:solidFill>
                      <a:srgbClr val="EEF2F7"/>
                    </a:solidFill>
                  </a:tcPr>
                </a:tc>
                <a:tc>
                  <a:txBody>
                    <a:bodyPr/>
                    <a:lstStyle/>
                    <a:p>
                      <a:r>
                        <a:rPr sz="1000" b="0">
                          <a:solidFill>
                            <a:srgbClr val="222222"/>
                          </a:solidFill>
                          <a:latin typeface="Arial"/>
                          <a:ea typeface="Meiryo UI"/>
                          <a:cs typeface="Meiryo UI"/>
                        </a:rPr>
                        <a:t>営業秘密として保持</a:t>
                      </a:r>
                    </a:p>
                  </a:txBody>
                  <a:tcPr>
                    <a:solidFill>
                      <a:srgbClr val="EEF2F7"/>
                    </a:solidFill>
                  </a:tcPr>
                </a:tc>
                <a:tc>
                  <a:txBody>
                    <a:bodyPr/>
                    <a:lstStyle/>
                    <a:p>
                      <a:r>
                        <a:rPr sz="1000" b="0">
                          <a:solidFill>
                            <a:srgbClr val="222222"/>
                          </a:solidFill>
                          <a:latin typeface="Arial"/>
                          <a:ea typeface="Meiryo UI"/>
                          <a:cs typeface="Meiryo UI"/>
                        </a:rPr>
                        <a:t>同左(クレームに含めない)</a:t>
                      </a:r>
                    </a:p>
                  </a:txBody>
                  <a:tcPr>
                    <a:solidFill>
                      <a:srgbClr val="EEF2F7"/>
                    </a:solidFill>
                  </a:tcPr>
                </a:tc>
              </a:tr>
            </a:tbl>
          </a:graphicData>
        </a:graphic>
      </p:graphicFrame>
      <p:sp>
        <p:nvSpPr>
          <p:cNvPr id="7" name="TextBox 6"/>
          <p:cNvSpPr txBox="1"/>
          <p:nvPr/>
        </p:nvSpPr>
        <p:spPr>
          <a:xfrm>
            <a:off x="502920" y="5074920"/>
            <a:ext cx="11247120" cy="777240"/>
          </a:xfrm>
          <a:prstGeom prst="rect">
            <a:avLst/>
          </a:prstGeom>
          <a:noFill/>
        </p:spPr>
        <p:txBody>
          <a:bodyPr wrap="square">
            <a:spAutoFit/>
          </a:bodyPr>
          <a:lstStyle/>
          <a:p>
            <a:pPr>
              <a:spcAft>
                <a:spcPts val="400"/>
              </a:spcAft>
            </a:pPr>
            <a:r>
              <a:rPr sz="1150" b="0">
                <a:solidFill>
                  <a:srgbClr val="222222"/>
                </a:solidFill>
                <a:latin typeface="Arial"/>
                <a:ea typeface="Meiryo UI"/>
                <a:cs typeface="Meiryo UI"/>
              </a:rPr>
              <a:t>•  6/18評価の推奨出願ルート: JP先願 → PCT → US/EP（総合判定『条件付きで出願に値する』）</a:t>
            </a:r>
          </a:p>
          <a:p>
            <a:pPr>
              <a:spcAft>
                <a:spcPts val="400"/>
              </a:spcAft>
            </a:pPr>
            <a:r>
              <a:rPr sz="1150" b="0">
                <a:solidFill>
                  <a:srgbClr val="222222"/>
                </a:solidFill>
                <a:latin typeface="Arial"/>
                <a:ea typeface="Meiryo UI"/>
                <a:cs typeface="Meiryo UI"/>
              </a:rPr>
              <a:t>•  相違が残る主点はIC2の扱い(防御的公開 vs 着想日確認のうえ出願) — 着想日・公開有無の事実確認が判断の前提</a:t>
            </a:r>
          </a:p>
        </p:txBody>
      </p:sp>
      <p:sp>
        <p:nvSpPr>
          <p:cNvPr id="8" name="Rounded Rectangle 7"/>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選択肢は『出願する』だけではない。出願(IC1+IC5核)・営業秘密(閾値詳細)・防御的公開(IC2ほか)の3枚のカードをどう切るかがreviewerへの問い。</a:t>
            </a:r>
          </a:p>
        </p:txBody>
      </p:sp>
      <p:sp>
        <p:nvSpPr>
          <p:cNvPr id="9" name="TextBox 8"/>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まとめ — 社内reviewer向け判断材料と依頼事項</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§6 Conclusion</a:t>
            </a:r>
          </a:p>
        </p:txBody>
      </p:sp>
      <p:graphicFrame>
        <p:nvGraphicFramePr>
          <p:cNvPr id="5" name="Table 4"/>
          <p:cNvGraphicFramePr>
            <a:graphicFrameLocks noGrp="1"/>
          </p:cNvGraphicFramePr>
          <p:nvPr/>
        </p:nvGraphicFramePr>
        <p:xfrm>
          <a:off x="411480" y="960120"/>
          <a:ext cx="11704320" cy="2743200"/>
        </p:xfrm>
        <a:graphic>
          <a:graphicData uri="http://schemas.openxmlformats.org/drawingml/2006/table">
            <a:tbl>
              <a:tblPr firstRow="1" bandRow="1">
                <a:tableStyleId>{5C22544A-7EE6-4342-B048-85BDC9FD1C3A}</a:tableStyleId>
              </a:tblPr>
              <a:tblGrid>
                <a:gridCol w="4114800"/>
                <a:gridCol w="2103120"/>
                <a:gridCol w="2651760"/>
                <a:gridCol w="2834640"/>
              </a:tblGrid>
              <a:tr h="457200">
                <a:tc>
                  <a:txBody>
                    <a:bodyPr/>
                    <a:lstStyle/>
                    <a:p>
                      <a:r>
                        <a:rPr sz="1100" b="1">
                          <a:solidFill>
                            <a:srgbClr val="FFFFFF"/>
                          </a:solidFill>
                          <a:latin typeface="Arial"/>
                          <a:ea typeface="Meiryo UI"/>
                          <a:cs typeface="Meiryo UI"/>
                        </a:rPr>
                        <a:t>特許候補（集約後）</a:t>
                      </a:r>
                    </a:p>
                  </a:txBody>
                  <a:tcPr>
                    <a:solidFill>
                      <a:srgbClr val="1E0113"/>
                    </a:solidFill>
                  </a:tcPr>
                </a:tc>
                <a:tc>
                  <a:txBody>
                    <a:bodyPr/>
                    <a:lstStyle/>
                    <a:p>
                      <a:r>
                        <a:rPr sz="1100" b="1">
                          <a:solidFill>
                            <a:srgbClr val="FFFFFF"/>
                          </a:solidFill>
                          <a:latin typeface="Arial"/>
                          <a:ea typeface="Meiryo UI"/>
                          <a:cs typeface="Meiryo UI"/>
                        </a:rPr>
                        <a:t>技術エビデンス</a:t>
                      </a:r>
                    </a:p>
                  </a:txBody>
                  <a:tcPr>
                    <a:solidFill>
                      <a:srgbClr val="1E0113"/>
                    </a:solidFill>
                  </a:tcPr>
                </a:tc>
                <a:tc>
                  <a:txBody>
                    <a:bodyPr/>
                    <a:lstStyle/>
                    <a:p>
                      <a:r>
                        <a:rPr sz="1100" b="1">
                          <a:solidFill>
                            <a:srgbClr val="FFFFFF"/>
                          </a:solidFill>
                          <a:latin typeface="Arial"/>
                          <a:ea typeface="Meiryo UI"/>
                          <a:cs typeface="Meiryo UI"/>
                        </a:rPr>
                        <a:t>新規性リスク(UNVERIFIED)</a:t>
                      </a:r>
                    </a:p>
                  </a:txBody>
                  <a:tcPr>
                    <a:solidFill>
                      <a:srgbClr val="1E0113"/>
                    </a:solidFill>
                  </a:tcPr>
                </a:tc>
                <a:tc>
                  <a:txBody>
                    <a:bodyPr/>
                    <a:lstStyle/>
                    <a:p>
                      <a:r>
                        <a:rPr sz="1100" b="1">
                          <a:solidFill>
                            <a:srgbClr val="FFFFFF"/>
                          </a:solidFill>
                          <a:latin typeface="Arial"/>
                          <a:ea typeface="Meiryo UI"/>
                          <a:cs typeface="Meiryo UI"/>
                        </a:rPr>
                        <a:t>出願準備度の目安</a:t>
                      </a:r>
                    </a:p>
                  </a:txBody>
                  <a:tcPr>
                    <a:solidFill>
                      <a:srgbClr val="1E0113"/>
                    </a:solidFill>
                  </a:tcPr>
                </a:tc>
              </a:tr>
              <a:tr h="457200">
                <a:tc>
                  <a:txBody>
                    <a:bodyPr/>
                    <a:lstStyle/>
                    <a:p>
                      <a:r>
                        <a:rPr sz="1050" b="0">
                          <a:solidFill>
                            <a:srgbClr val="222222"/>
                          </a:solidFill>
                          <a:latin typeface="Arial"/>
                          <a:ea typeface="Meiryo UI"/>
                          <a:cs typeface="Meiryo UI"/>
                        </a:rPr>
                        <a:t>① 機会条件付き無応答監査(中核)</a:t>
                      </a:r>
                    </a:p>
                  </a:txBody>
                  <a:tcPr>
                    <a:solidFill>
                      <a:srgbClr val="EEF2F7"/>
                    </a:solidFill>
                  </a:tcPr>
                </a:tc>
                <a:tc>
                  <a:txBody>
                    <a:bodyPr/>
                    <a:lstStyle/>
                    <a:p>
                      <a:r>
                        <a:rPr sz="1050" b="1">
                          <a:solidFill>
                            <a:srgbClr val="2CA02C"/>
                          </a:solidFill>
                          <a:latin typeface="Arial"/>
                          <a:ea typeface="Meiryo UI"/>
                          <a:cs typeface="Meiryo UI"/>
                        </a:rPr>
                        <a:t>STRONG</a:t>
                      </a:r>
                    </a:p>
                  </a:txBody>
                  <a:tcPr>
                    <a:solidFill>
                      <a:srgbClr val="EEF2F7"/>
                    </a:solidFill>
                  </a:tcPr>
                </a:tc>
                <a:tc>
                  <a:txBody>
                    <a:bodyPr/>
                    <a:lstStyle/>
                    <a:p>
                      <a:r>
                        <a:rPr sz="1050" b="1">
                          <a:solidFill>
                            <a:srgbClr val="1F77B4"/>
                          </a:solidFill>
                          <a:latin typeface="Arial"/>
                          <a:ea typeface="Meiryo UI"/>
                          <a:cs typeface="Meiryo UI"/>
                        </a:rPr>
                        <a:t>MEDIUM-HIGH</a:t>
                      </a:r>
                    </a:p>
                  </a:txBody>
                  <a:tcPr>
                    <a:solidFill>
                      <a:srgbClr val="EEF2F7"/>
                    </a:solidFill>
                  </a:tcPr>
                </a:tc>
                <a:tc>
                  <a:txBody>
                    <a:bodyPr/>
                    <a:lstStyle/>
                    <a:p>
                      <a:r>
                        <a:rPr sz="1050" b="0">
                          <a:solidFill>
                            <a:srgbClr val="222222"/>
                          </a:solidFill>
                          <a:latin typeface="Arial"/>
                          <a:ea typeface="Meiryo UI"/>
                          <a:cs typeface="Meiryo UI"/>
                        </a:rPr>
                        <a:t>出願候補(狭め/中位スコープで)</a:t>
                      </a:r>
                    </a:p>
                  </a:txBody>
                  <a:tcPr>
                    <a:solidFill>
                      <a:srgbClr val="EEF2F7"/>
                    </a:solidFill>
                  </a:tcPr>
                </a:tc>
              </a:tr>
              <a:tr h="457200">
                <a:tc>
                  <a:txBody>
                    <a:bodyPr/>
                    <a:lstStyle/>
                    <a:p>
                      <a:r>
                        <a:rPr sz="1050" b="0">
                          <a:solidFill>
                            <a:srgbClr val="222222"/>
                          </a:solidFill>
                          <a:latin typeface="Arial"/>
                          <a:ea typeface="Meiryo UI"/>
                          <a:cs typeface="Meiryo UI"/>
                        </a:rPr>
                        <a:t>② 非対称リセット状態機械</a:t>
                      </a:r>
                    </a:p>
                  </a:txBody>
                  <a:tcPr>
                    <a:solidFill>
                      <a:srgbClr val="FFFFFF"/>
                    </a:solidFill>
                  </a:tcPr>
                </a:tc>
                <a:tc>
                  <a:txBody>
                    <a:bodyPr/>
                    <a:lstStyle/>
                    <a:p>
                      <a:r>
                        <a:rPr sz="1050" b="1">
                          <a:solidFill>
                            <a:srgbClr val="2CA02C"/>
                          </a:solidFill>
                          <a:latin typeface="Arial"/>
                          <a:ea typeface="Meiryo UI"/>
                          <a:cs typeface="Meiryo UI"/>
                        </a:rPr>
                        <a:t>STRONG</a:t>
                      </a:r>
                    </a:p>
                  </a:txBody>
                  <a:tcPr>
                    <a:solidFill>
                      <a:srgbClr val="FFFFFF"/>
                    </a:solidFill>
                  </a:tcPr>
                </a:tc>
                <a:tc>
                  <a:txBody>
                    <a:bodyPr/>
                    <a:lstStyle/>
                    <a:p>
                      <a:r>
                        <a:rPr sz="1050" b="1">
                          <a:solidFill>
                            <a:srgbClr val="C0392B"/>
                          </a:solidFill>
                          <a:latin typeface="Arial"/>
                          <a:ea typeface="Meiryo UI"/>
                          <a:cs typeface="Meiryo UI"/>
                        </a:rPr>
                        <a:t>HIGH</a:t>
                      </a:r>
                    </a:p>
                  </a:txBody>
                  <a:tcPr>
                    <a:solidFill>
                      <a:srgbClr val="FFFFFF"/>
                    </a:solidFill>
                  </a:tcPr>
                </a:tc>
                <a:tc>
                  <a:txBody>
                    <a:bodyPr/>
                    <a:lstStyle/>
                    <a:p>
                      <a:r>
                        <a:rPr sz="1050" b="0">
                          <a:solidFill>
                            <a:srgbClr val="222222"/>
                          </a:solidFill>
                          <a:latin typeface="Arial"/>
                          <a:ea typeface="Meiryo UI"/>
                          <a:cs typeface="Meiryo UI"/>
                        </a:rPr>
                        <a:t>出願候補(着想日要確認・規則明示) or 防御的公開</a:t>
                      </a:r>
                    </a:p>
                  </a:txBody>
                  <a:tcPr>
                    <a:solidFill>
                      <a:srgbClr val="FFFFFF"/>
                    </a:solidFill>
                  </a:tcPr>
                </a:tc>
              </a:tr>
              <a:tr h="457200">
                <a:tc>
                  <a:txBody>
                    <a:bodyPr/>
                    <a:lstStyle/>
                    <a:p>
                      <a:r>
                        <a:rPr sz="1050" b="0">
                          <a:solidFill>
                            <a:srgbClr val="222222"/>
                          </a:solidFill>
                          <a:latin typeface="Arial"/>
                          <a:ea typeface="Meiryo UI"/>
                          <a:cs typeface="Meiryo UI"/>
                        </a:rPr>
                        <a:t>③ 有界保持の因果証拠台帳</a:t>
                      </a:r>
                    </a:p>
                  </a:txBody>
                  <a:tcPr>
                    <a:solidFill>
                      <a:srgbClr val="EEF2F7"/>
                    </a:solidFill>
                  </a:tcPr>
                </a:tc>
                <a:tc>
                  <a:txBody>
                    <a:bodyPr/>
                    <a:lstStyle/>
                    <a:p>
                      <a:r>
                        <a:rPr sz="1050" b="1">
                          <a:solidFill>
                            <a:srgbClr val="2CA02C"/>
                          </a:solidFill>
                          <a:latin typeface="Arial"/>
                          <a:ea typeface="Meiryo UI"/>
                          <a:cs typeface="Meiryo UI"/>
                        </a:rPr>
                        <a:t>STRONG</a:t>
                      </a:r>
                    </a:p>
                  </a:txBody>
                  <a:tcPr>
                    <a:solidFill>
                      <a:srgbClr val="EEF2F7"/>
                    </a:solidFill>
                  </a:tcPr>
                </a:tc>
                <a:tc>
                  <a:txBody>
                    <a:bodyPr/>
                    <a:lstStyle/>
                    <a:p>
                      <a:r>
                        <a:rPr sz="1050" b="1">
                          <a:solidFill>
                            <a:srgbClr val="1F77B4"/>
                          </a:solidFill>
                          <a:latin typeface="Arial"/>
                          <a:ea typeface="Meiryo UI"/>
                          <a:cs typeface="Meiryo UI"/>
                        </a:rPr>
                        <a:t>MEDIUM-HIGH</a:t>
                      </a:r>
                    </a:p>
                  </a:txBody>
                  <a:tcPr>
                    <a:solidFill>
                      <a:srgbClr val="EEF2F7"/>
                    </a:solidFill>
                  </a:tcPr>
                </a:tc>
                <a:tc>
                  <a:txBody>
                    <a:bodyPr/>
                    <a:lstStyle/>
                    <a:p>
                      <a:r>
                        <a:rPr sz="1050" b="0">
                          <a:solidFill>
                            <a:srgbClr val="222222"/>
                          </a:solidFill>
                          <a:latin typeface="Arial"/>
                          <a:ea typeface="Meiryo UI"/>
                          <a:cs typeface="Meiryo UI"/>
                        </a:rPr>
                        <a:t>出願候補(最小状態を核に)</a:t>
                      </a:r>
                    </a:p>
                  </a:txBody>
                  <a:tcPr>
                    <a:solidFill>
                      <a:srgbClr val="EEF2F7"/>
                    </a:solidFill>
                  </a:tcPr>
                </a:tc>
              </a:tr>
              <a:tr h="457200">
                <a:tc>
                  <a:txBody>
                    <a:bodyPr/>
                    <a:lstStyle/>
                    <a:p>
                      <a:r>
                        <a:rPr sz="1050" b="0">
                          <a:solidFill>
                            <a:srgbClr val="222222"/>
                          </a:solidFill>
                          <a:latin typeface="Arial"/>
                          <a:ea typeface="Meiryo UI"/>
                          <a:cs typeface="Meiryo UI"/>
                        </a:rPr>
                        <a:t>(将来④) クローズドループ介入</a:t>
                      </a:r>
                    </a:p>
                  </a:txBody>
                  <a:tcPr>
                    <a:solidFill>
                      <a:srgbClr val="FFFFFF"/>
                    </a:solidFill>
                  </a:tcPr>
                </a:tc>
                <a:tc>
                  <a:txBody>
                    <a:bodyPr/>
                    <a:lstStyle/>
                    <a:p>
                      <a:r>
                        <a:rPr sz="1050" b="1">
                          <a:solidFill>
                            <a:srgbClr val="555555"/>
                          </a:solidFill>
                          <a:latin typeface="Arial"/>
                          <a:ea typeface="Meiryo UI"/>
                          <a:cs typeface="Meiryo UI"/>
                        </a:rPr>
                        <a:t>PROSPECTIVE</a:t>
                      </a:r>
                    </a:p>
                  </a:txBody>
                  <a:tcPr>
                    <a:solidFill>
                      <a:srgbClr val="FFFFFF"/>
                    </a:solidFill>
                  </a:tcPr>
                </a:tc>
                <a:tc>
                  <a:txBody>
                    <a:bodyPr/>
                    <a:lstStyle/>
                    <a:p>
                      <a:r>
                        <a:rPr sz="1050" b="1">
                          <a:solidFill>
                            <a:srgbClr val="555555"/>
                          </a:solidFill>
                          <a:latin typeface="Arial"/>
                          <a:ea typeface="Meiryo UI"/>
                          <a:cs typeface="Meiryo UI"/>
                        </a:rPr>
                        <a:t>—</a:t>
                      </a:r>
                    </a:p>
                  </a:txBody>
                  <a:tcPr>
                    <a:solidFill>
                      <a:srgbClr val="FFFFFF"/>
                    </a:solidFill>
                  </a:tcPr>
                </a:tc>
                <a:tc>
                  <a:txBody>
                    <a:bodyPr/>
                    <a:lstStyle/>
                    <a:p>
                      <a:r>
                        <a:rPr sz="1050" b="0">
                          <a:solidFill>
                            <a:srgbClr val="222222"/>
                          </a:solidFill>
                          <a:latin typeface="Arial"/>
                          <a:ea typeface="Meiryo UI"/>
                          <a:cs typeface="Meiryo UI"/>
                        </a:rPr>
                        <a:t>継続/将来開示(データ収集の判断待ち)</a:t>
                      </a:r>
                    </a:p>
                  </a:txBody>
                  <a:tcPr>
                    <a:solidFill>
                      <a:srgbClr val="FFFFFF"/>
                    </a:solidFill>
                  </a:tcPr>
                </a:tc>
              </a:tr>
              <a:tr h="457200">
                <a:tc>
                  <a:txBody>
                    <a:bodyPr/>
                    <a:lstStyle/>
                    <a:p>
                      <a:r>
                        <a:rPr sz="1050" b="0">
                          <a:solidFill>
                            <a:srgbClr val="222222"/>
                          </a:solidFill>
                          <a:latin typeface="Arial"/>
                          <a:ea typeface="Meiryo UI"/>
                          <a:cs typeface="Meiryo UI"/>
                        </a:rPr>
                        <a:t>(将来⑤) 機種非依存+version局在</a:t>
                      </a:r>
                    </a:p>
                  </a:txBody>
                  <a:tcPr>
                    <a:solidFill>
                      <a:srgbClr val="EEF2F7"/>
                    </a:solidFill>
                  </a:tcPr>
                </a:tc>
                <a:tc>
                  <a:txBody>
                    <a:bodyPr/>
                    <a:lstStyle/>
                    <a:p>
                      <a:r>
                        <a:rPr sz="1050" b="1">
                          <a:solidFill>
                            <a:srgbClr val="555555"/>
                          </a:solidFill>
                          <a:latin typeface="Arial"/>
                          <a:ea typeface="Meiryo UI"/>
                          <a:cs typeface="Meiryo UI"/>
                        </a:rPr>
                        <a:t>MEDIUM/PROSPECTIVE</a:t>
                      </a:r>
                    </a:p>
                  </a:txBody>
                  <a:tcPr>
                    <a:solidFill>
                      <a:srgbClr val="EEF2F7"/>
                    </a:solidFill>
                  </a:tcPr>
                </a:tc>
                <a:tc>
                  <a:txBody>
                    <a:bodyPr/>
                    <a:lstStyle/>
                    <a:p>
                      <a:r>
                        <a:rPr sz="1050" b="1">
                          <a:solidFill>
                            <a:srgbClr val="1F77B4"/>
                          </a:solidFill>
                          <a:latin typeface="Arial"/>
                          <a:ea typeface="Meiryo UI"/>
                          <a:cs typeface="Meiryo UI"/>
                        </a:rPr>
                        <a:t>MEDIUM</a:t>
                      </a:r>
                    </a:p>
                  </a:txBody>
                  <a:tcPr>
                    <a:solidFill>
                      <a:srgbClr val="EEF2F7"/>
                    </a:solidFill>
                  </a:tcPr>
                </a:tc>
                <a:tc>
                  <a:txBody>
                    <a:bodyPr/>
                    <a:lstStyle/>
                    <a:p>
                      <a:r>
                        <a:rPr sz="1050" b="0">
                          <a:solidFill>
                            <a:srgbClr val="222222"/>
                          </a:solidFill>
                          <a:latin typeface="Arial"/>
                          <a:ea typeface="Meiryo UI"/>
                          <a:cs typeface="Meiryo UI"/>
                        </a:rPr>
                        <a:t>スクリーニングは候補/局在は継続</a:t>
                      </a:r>
                    </a:p>
                  </a:txBody>
                  <a:tcPr>
                    <a:solidFill>
                      <a:srgbClr val="EEF2F7"/>
                    </a:solidFill>
                  </a:tcPr>
                </a:tc>
              </a:tr>
            </a:tbl>
          </a:graphicData>
        </a:graphic>
      </p:graphicFrame>
      <p:sp>
        <p:nvSpPr>
          <p:cNvPr id="6" name="TextBox 5"/>
          <p:cNvSpPr txBox="1"/>
          <p:nvPr/>
        </p:nvSpPr>
        <p:spPr>
          <a:xfrm>
            <a:off x="457200" y="3657600"/>
            <a:ext cx="11338560" cy="2103120"/>
          </a:xfrm>
          <a:prstGeom prst="rect">
            <a:avLst/>
          </a:prstGeom>
          <a:noFill/>
        </p:spPr>
        <p:txBody>
          <a:bodyPr wrap="square">
            <a:spAutoFit/>
          </a:bodyPr>
          <a:lstStyle/>
          <a:p>
            <a:r>
              <a:rPr sz="1400" b="1">
                <a:solidFill>
                  <a:srgbClr val="1F375B"/>
                </a:solidFill>
                <a:latin typeface="Arial"/>
                <a:ea typeface="Meiryo UI"/>
                <a:cs typeface="Meiryo UI"/>
              </a:rPr>
              <a:t>reviewerへの依頼（4点）</a:t>
            </a:r>
          </a:p>
          <a:p>
            <a:pPr>
              <a:spcAft>
                <a:spcPts val="400"/>
              </a:spcAft>
            </a:pPr>
            <a:r>
              <a:rPr sz="1200" b="0">
                <a:solidFill>
                  <a:srgbClr val="222222"/>
                </a:solidFill>
                <a:latin typeface="Arial"/>
                <a:ea typeface="Meiryo UI"/>
                <a:cs typeface="Meiryo UI"/>
              </a:rPr>
              <a:t>•  ① 候補①〜③の特許化の粒度・範囲の判断（狭め/中位/防御的公開の選択。判断材料は本資料の各候補スライドと知財戦略スライド）</a:t>
            </a:r>
          </a:p>
          <a:p>
            <a:pPr>
              <a:spcAft>
                <a:spcPts val="400"/>
              </a:spcAft>
            </a:pPr>
            <a:r>
              <a:rPr sz="1200" b="0">
                <a:solidFill>
                  <a:srgbClr val="222222"/>
                </a:solidFill>
                <a:latin typeface="Arial"/>
                <a:ea typeface="Meiryo UI"/>
                <a:cs typeface="Meiryo UI"/>
              </a:rPr>
              <a:t>•  ② 候補②(IC2)の着想日と社内外公開有無の事実確認（新規性の成否を左右する法的前提）</a:t>
            </a:r>
          </a:p>
          <a:p>
            <a:pPr>
              <a:spcAft>
                <a:spcPts val="400"/>
              </a:spcAft>
            </a:pPr>
            <a:r>
              <a:rPr sz="1200" b="0">
                <a:solidFill>
                  <a:srgbClr val="222222"/>
                </a:solidFill>
                <a:latin typeface="Arial"/>
                <a:ea typeface="Meiryo UI"/>
                <a:cs typeface="Meiryo UI"/>
              </a:rPr>
              <a:t>•  ③ 正式なFTO/特許性調査（弁理士）の発注判断 — 本資料の先行技術リストは全てUNVERIFIED</a:t>
            </a:r>
          </a:p>
          <a:p>
            <a:pPr>
              <a:spcAft>
                <a:spcPts val="400"/>
              </a:spcAft>
            </a:pPr>
            <a:r>
              <a:rPr sz="1200" b="0">
                <a:solidFill>
                  <a:srgbClr val="222222"/>
                </a:solidFill>
                <a:latin typeface="Arial"/>
                <a:ea typeface="Meiryo UI"/>
                <a:cs typeface="Meiryo UI"/>
              </a:rPr>
              <a:t>•  ④ 将来④の介入データ収集（プロトコル・スキーマ・必要台数試算は準備済み）を開始するかの判断</a:t>
            </a:r>
          </a:p>
        </p:txBody>
      </p:sp>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本題の判定技術はテレメトリのみ・欠測/保持制約下でも誤判定を抑えて機能する(5本柱で実証済み)。特許化の粒度・範囲の最終判断は社内reviewerに委ねる。</a:t>
            </a:r>
          </a:p>
        </p:txBody>
      </p:sp>
      <p:sp>
        <p:nvSpPr>
          <p:cNvPr id="8" name="TextBox 7"/>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付録A 特徴量エンジニアリング一覧 — 各変数の作成方法</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§7 付録</a:t>
            </a:r>
          </a:p>
        </p:txBody>
      </p:sp>
      <p:graphicFrame>
        <p:nvGraphicFramePr>
          <p:cNvPr id="5" name="Table 4"/>
          <p:cNvGraphicFramePr>
            <a:graphicFrameLocks noGrp="1"/>
          </p:cNvGraphicFramePr>
          <p:nvPr/>
        </p:nvGraphicFramePr>
        <p:xfrm>
          <a:off x="365760" y="932688"/>
          <a:ext cx="11430000" cy="4754880"/>
        </p:xfrm>
        <a:graphic>
          <a:graphicData uri="http://schemas.openxmlformats.org/drawingml/2006/table">
            <a:tbl>
              <a:tblPr firstRow="1" bandRow="1">
                <a:tableStyleId>{5C22544A-7EE6-4342-B048-85BDC9FD1C3A}</a:tableStyleId>
              </a:tblPr>
              <a:tblGrid>
                <a:gridCol w="3108960"/>
                <a:gridCol w="1234440"/>
                <a:gridCol w="7086600"/>
              </a:tblGrid>
              <a:tr h="365760">
                <a:tc>
                  <a:txBody>
                    <a:bodyPr/>
                    <a:lstStyle/>
                    <a:p>
                      <a:r>
                        <a:rPr sz="1100" b="1">
                          <a:solidFill>
                            <a:srgbClr val="FFFFFF"/>
                          </a:solidFill>
                          <a:latin typeface="Arial"/>
                          <a:ea typeface="Meiryo UI"/>
                          <a:cs typeface="Meiryo UI"/>
                        </a:rPr>
                        <a:t>変数 / 特徴量</a:t>
                      </a:r>
                    </a:p>
                  </a:txBody>
                  <a:tcPr>
                    <a:solidFill>
                      <a:srgbClr val="1E0113"/>
                    </a:solidFill>
                  </a:tcPr>
                </a:tc>
                <a:tc>
                  <a:txBody>
                    <a:bodyPr/>
                    <a:lstStyle/>
                    <a:p>
                      <a:r>
                        <a:rPr sz="1100" b="1">
                          <a:solidFill>
                            <a:srgbClr val="FFFFFF"/>
                          </a:solidFill>
                          <a:latin typeface="Arial"/>
                          <a:ea typeface="Meiryo UI"/>
                          <a:cs typeface="Meiryo UI"/>
                        </a:rPr>
                        <a:t>種別</a:t>
                      </a:r>
                    </a:p>
                  </a:txBody>
                  <a:tcPr>
                    <a:solidFill>
                      <a:srgbClr val="1E0113"/>
                    </a:solidFill>
                  </a:tcPr>
                </a:tc>
                <a:tc>
                  <a:txBody>
                    <a:bodyPr/>
                    <a:lstStyle/>
                    <a:p>
                      <a:r>
                        <a:rPr sz="1100" b="1">
                          <a:solidFill>
                            <a:srgbClr val="FFFFFF"/>
                          </a:solidFill>
                          <a:latin typeface="Arial"/>
                          <a:ea typeface="Meiryo UI"/>
                          <a:cs typeface="Meiryo UI"/>
                        </a:rPr>
                        <a:t>作成方法（特徴量エンジニアリング）</a:t>
                      </a:r>
                    </a:p>
                  </a:txBody>
                  <a:tcPr>
                    <a:solidFill>
                      <a:srgbClr val="1E0113"/>
                    </a:solidFill>
                  </a:tcPr>
                </a:tc>
              </a:tr>
              <a:tr h="365760">
                <a:tc>
                  <a:txBody>
                    <a:bodyPr/>
                    <a:lstStyle/>
                    <a:p>
                      <a:r>
                        <a:rPr sz="1000" b="0">
                          <a:solidFill>
                            <a:srgbClr val="222222"/>
                          </a:solidFill>
                          <a:latin typeface="Arial"/>
                          <a:ea typeface="Meiryo UI"/>
                          <a:cs typeface="Meiryo UI"/>
                        </a:rPr>
                        <a:t>RSOC / FCC / cycleCount / DesignCapacity</a:t>
                      </a:r>
                    </a:p>
                  </a:txBody>
                  <a:tcPr>
                    <a:solidFill>
                      <a:srgbClr val="EEF2F7"/>
                    </a:solidFill>
                  </a:tcPr>
                </a:tc>
                <a:tc>
                  <a:txBody>
                    <a:bodyPr/>
                    <a:lstStyle/>
                    <a:p>
                      <a:r>
                        <a:rPr sz="1000" b="1">
                          <a:solidFill>
                            <a:srgbClr val="555555"/>
                          </a:solidFill>
                          <a:latin typeface="Arial"/>
                          <a:ea typeface="Meiryo UI"/>
                          <a:cs typeface="Meiryo UI"/>
                        </a:rPr>
                        <a:t>raw</a:t>
                      </a:r>
                    </a:p>
                  </a:txBody>
                  <a:tcPr>
                    <a:solidFill>
                      <a:srgbClr val="EEF2F7"/>
                    </a:solidFill>
                  </a:tcPr>
                </a:tc>
                <a:tc>
                  <a:txBody>
                    <a:bodyPr/>
                    <a:lstStyle/>
                    <a:p>
                      <a:r>
                        <a:rPr sz="1000" b="0">
                          <a:solidFill>
                            <a:srgbClr val="222222"/>
                          </a:solidFill>
                          <a:latin typeface="Arial"/>
                          <a:ea typeface="Meiryo UI"/>
                          <a:cs typeface="Meiryo UI"/>
                        </a:rPr>
                        <a:t>テレメトリ生データ。SoH=FCC×100/DesignCapacity</a:t>
                      </a:r>
                    </a:p>
                  </a:txBody>
                  <a:tcPr>
                    <a:solidFill>
                      <a:srgbClr val="EEF2F7"/>
                    </a:solidFill>
                  </a:tcPr>
                </a:tc>
              </a:tr>
              <a:tr h="365760">
                <a:tc>
                  <a:txBody>
                    <a:bodyPr/>
                    <a:lstStyle/>
                    <a:p>
                      <a:r>
                        <a:rPr sz="1000" b="0">
                          <a:solidFill>
                            <a:srgbClr val="222222"/>
                          </a:solidFill>
                          <a:latin typeface="Arial"/>
                          <a:ea typeface="Meiryo UI"/>
                          <a:cs typeface="Meiryo UI"/>
                        </a:rPr>
                        <a:t>design_capacity(復元)</a:t>
                      </a:r>
                    </a:p>
                  </a:txBody>
                  <a:tcPr>
                    <a:solidFill>
                      <a:srgbClr val="FFFFFF"/>
                    </a:solidFill>
                  </a:tcPr>
                </a:tc>
                <a:tc>
                  <a:txBody>
                    <a:bodyPr/>
                    <a:lstStyle/>
                    <a:p>
                      <a:r>
                        <a:rPr sz="1000" b="1">
                          <a:solidFill>
                            <a:srgbClr val="2CA02C"/>
                          </a:solidFill>
                          <a:latin typeface="Arial"/>
                          <a:ea typeface="Meiryo UI"/>
                          <a:cs typeface="Meiryo UI"/>
                        </a:rPr>
                        <a:t>派生</a:t>
                      </a:r>
                    </a:p>
                  </a:txBody>
                  <a:tcPr>
                    <a:solidFill>
                      <a:srgbClr val="FFFFFF"/>
                    </a:solidFill>
                  </a:tcPr>
                </a:tc>
                <a:tc>
                  <a:txBody>
                    <a:bodyPr/>
                    <a:lstStyle/>
                    <a:p>
                      <a:r>
                        <a:rPr sz="1000" b="0">
                          <a:solidFill>
                            <a:srgbClr val="222222"/>
                          </a:solidFill>
                          <a:latin typeface="Arial"/>
                          <a:ea typeface="Meiryo UI"/>
                          <a:cs typeface="Meiryo UI"/>
                        </a:rPr>
                        <a:t>median(FCC×100/soh_design_pct)(単位曖昧回避): recover_design_mwh</a:t>
                      </a:r>
                    </a:p>
                  </a:txBody>
                  <a:tcPr>
                    <a:solidFill>
                      <a:srgbClr val="FFFFFF"/>
                    </a:solidFill>
                  </a:tcPr>
                </a:tc>
              </a:tr>
              <a:tr h="365760">
                <a:tc>
                  <a:txBody>
                    <a:bodyPr/>
                    <a:lstStyle/>
                    <a:p>
                      <a:r>
                        <a:rPr sz="1000" b="0">
                          <a:solidFill>
                            <a:srgbClr val="222222"/>
                          </a:solidFill>
                          <a:latin typeface="Arial"/>
                          <a:ea typeface="Meiryo UI"/>
                          <a:cs typeface="Meiryo UI"/>
                        </a:rPr>
                        <a:t>FCCステップ/abs_step/is_effective</a:t>
                      </a:r>
                    </a:p>
                  </a:txBody>
                  <a:tcPr>
                    <a:solidFill>
                      <a:srgbClr val="EEF2F7"/>
                    </a:solidFill>
                  </a:tcPr>
                </a:tc>
                <a:tc>
                  <a:txBody>
                    <a:bodyPr/>
                    <a:lstStyle/>
                    <a:p>
                      <a:r>
                        <a:rPr sz="1000" b="1">
                          <a:solidFill>
                            <a:srgbClr val="2CA02C"/>
                          </a:solidFill>
                          <a:latin typeface="Arial"/>
                          <a:ea typeface="Meiryo UI"/>
                          <a:cs typeface="Meiryo UI"/>
                        </a:rPr>
                        <a:t>派生</a:t>
                      </a:r>
                    </a:p>
                  </a:txBody>
                  <a:tcPr>
                    <a:solidFill>
                      <a:srgbClr val="EEF2F7"/>
                    </a:solidFill>
                  </a:tcPr>
                </a:tc>
                <a:tc>
                  <a:txBody>
                    <a:bodyPr/>
                    <a:lstStyle/>
                    <a:p>
                      <a:r>
                        <a:rPr sz="1000" b="0">
                          <a:solidFill>
                            <a:srgbClr val="222222"/>
                          </a:solidFill>
                          <a:latin typeface="Arial"/>
                          <a:ea typeface="Meiryo UI"/>
                          <a:cs typeface="Meiryo UI"/>
                        </a:rPr>
                        <a:t>時刻順FCC差分の非ゼロ値、|Δ|≥50mWhで有効: fcc_step_indicator</a:t>
                      </a:r>
                    </a:p>
                  </a:txBody>
                  <a:tcPr>
                    <a:solidFill>
                      <a:srgbClr val="EEF2F7"/>
                    </a:solidFill>
                  </a:tcPr>
                </a:tc>
              </a:tr>
              <a:tr h="365760">
                <a:tc>
                  <a:txBody>
                    <a:bodyPr/>
                    <a:lstStyle/>
                    <a:p>
                      <a:r>
                        <a:rPr sz="1000" b="0">
                          <a:solidFill>
                            <a:srgbClr val="222222"/>
                          </a:solidFill>
                          <a:latin typeface="Arial"/>
                          <a:ea typeface="Meiryo UI"/>
                          <a:cs typeface="Meiryo UI"/>
                        </a:rPr>
                        <a:t>量子化単位</a:t>
                      </a:r>
                    </a:p>
                  </a:txBody>
                  <a:tcPr>
                    <a:solidFill>
                      <a:srgbClr val="FFFFFF"/>
                    </a:solidFill>
                  </a:tcPr>
                </a:tc>
                <a:tc>
                  <a:txBody>
                    <a:bodyPr/>
                    <a:lstStyle/>
                    <a:p>
                      <a:r>
                        <a:rPr sz="1000" b="1">
                          <a:solidFill>
                            <a:srgbClr val="2CA02C"/>
                          </a:solidFill>
                          <a:latin typeface="Arial"/>
                          <a:ea typeface="Meiryo UI"/>
                          <a:cs typeface="Meiryo UI"/>
                        </a:rPr>
                        <a:t>派生</a:t>
                      </a:r>
                    </a:p>
                  </a:txBody>
                  <a:tcPr>
                    <a:solidFill>
                      <a:srgbClr val="FFFFFF"/>
                    </a:solidFill>
                  </a:tcPr>
                </a:tc>
                <a:tc>
                  <a:txBody>
                    <a:bodyPr/>
                    <a:lstStyle/>
                    <a:p>
                      <a:r>
                        <a:rPr sz="1000" b="0">
                          <a:solidFill>
                            <a:srgbClr val="222222"/>
                          </a:solidFill>
                          <a:latin typeface="Arial"/>
                          <a:ea typeface="Meiryo UI"/>
                          <a:cs typeface="Meiryo UI"/>
                        </a:rPr>
                        <a:t>観測された最小の正の|step|(=10mWh)</a:t>
                      </a:r>
                    </a:p>
                  </a:txBody>
                  <a:tcPr>
                    <a:solidFill>
                      <a:srgbClr val="FFFFFF"/>
                    </a:solidFill>
                  </a:tcPr>
                </a:tc>
              </a:tr>
              <a:tr h="365760">
                <a:tc>
                  <a:txBody>
                    <a:bodyPr/>
                    <a:lstStyle/>
                    <a:p>
                      <a:r>
                        <a:rPr sz="1000" b="0">
                          <a:solidFill>
                            <a:srgbClr val="222222"/>
                          </a:solidFill>
                          <a:latin typeface="Arial"/>
                          <a:ea typeface="Meiryo UI"/>
                          <a:cs typeface="Meiryo UI"/>
                        </a:rPr>
                        <a:t>学習機会(start/low/end)/episode_id</a:t>
                      </a:r>
                    </a:p>
                  </a:txBody>
                  <a:tcPr>
                    <a:solidFill>
                      <a:srgbClr val="EEF2F7"/>
                    </a:solidFill>
                  </a:tcPr>
                </a:tc>
                <a:tc>
                  <a:txBody>
                    <a:bodyPr/>
                    <a:lstStyle/>
                    <a:p>
                      <a:r>
                        <a:rPr sz="1000" b="1">
                          <a:solidFill>
                            <a:srgbClr val="2CA02C"/>
                          </a:solidFill>
                          <a:latin typeface="Arial"/>
                          <a:ea typeface="Meiryo UI"/>
                          <a:cs typeface="Meiryo UI"/>
                        </a:rPr>
                        <a:t>派生</a:t>
                      </a:r>
                    </a:p>
                  </a:txBody>
                  <a:tcPr>
                    <a:solidFill>
                      <a:srgbClr val="EEF2F7"/>
                    </a:solidFill>
                  </a:tcPr>
                </a:tc>
                <a:tc>
                  <a:txBody>
                    <a:bodyPr/>
                    <a:lstStyle/>
                    <a:p>
                      <a:r>
                        <a:rPr sz="1000" b="0">
                          <a:solidFill>
                            <a:srgbClr val="222222"/>
                          </a:solidFill>
                          <a:latin typeface="Arial"/>
                          <a:ea typeface="Meiryo UI"/>
                          <a:cs typeface="Meiryo UI"/>
                        </a:rPr>
                        <a:t>RSOC high→low→high 状態機械 / user|band|start|end</a:t>
                      </a:r>
                    </a:p>
                  </a:txBody>
                  <a:tcPr>
                    <a:solidFill>
                      <a:srgbClr val="EEF2F7"/>
                    </a:solidFill>
                  </a:tcPr>
                </a:tc>
              </a:tr>
              <a:tr h="365760">
                <a:tc>
                  <a:txBody>
                    <a:bodyPr/>
                    <a:lstStyle/>
                    <a:p>
                      <a:r>
                        <a:rPr sz="1000" b="0">
                          <a:solidFill>
                            <a:srgbClr val="222222"/>
                          </a:solidFill>
                          <a:latin typeface="Arial"/>
                          <a:ea typeface="Meiryo UI"/>
                          <a:cs typeface="Meiryo UI"/>
                        </a:rPr>
                        <a:t>max_gap / quality_tier / coverage</a:t>
                      </a:r>
                    </a:p>
                  </a:txBody>
                  <a:tcPr>
                    <a:solidFill>
                      <a:srgbClr val="FFFFFF"/>
                    </a:solidFill>
                  </a:tcPr>
                </a:tc>
                <a:tc>
                  <a:txBody>
                    <a:bodyPr/>
                    <a:lstStyle/>
                    <a:p>
                      <a:r>
                        <a:rPr sz="1000" b="1">
                          <a:solidFill>
                            <a:srgbClr val="2CA02C"/>
                          </a:solidFill>
                          <a:latin typeface="Arial"/>
                          <a:ea typeface="Meiryo UI"/>
                          <a:cs typeface="Meiryo UI"/>
                        </a:rPr>
                        <a:t>派生</a:t>
                      </a:r>
                    </a:p>
                  </a:txBody>
                  <a:tcPr>
                    <a:solidFill>
                      <a:srgbClr val="FFFFFF"/>
                    </a:solidFill>
                  </a:tcPr>
                </a:tc>
                <a:tc>
                  <a:txBody>
                    <a:bodyPr/>
                    <a:lstStyle/>
                    <a:p>
                      <a:r>
                        <a:rPr sz="1000" b="0">
                          <a:solidFill>
                            <a:srgbClr val="222222"/>
                          </a:solidFill>
                          <a:latin typeface="Arial"/>
                          <a:ea typeface="Meiryo UI"/>
                          <a:cs typeface="Meiryo UI"/>
                        </a:rPr>
                        <a:t>エピソード内ギャップ→段階品質、観測カバレッジ率: online_gap_quality</a:t>
                      </a:r>
                    </a:p>
                  </a:txBody>
                  <a:tcPr>
                    <a:solidFill>
                      <a:srgbClr val="FFFFFF"/>
                    </a:solidFill>
                  </a:tcPr>
                </a:tc>
              </a:tr>
              <a:tr h="365760">
                <a:tc>
                  <a:txBody>
                    <a:bodyPr/>
                    <a:lstStyle/>
                    <a:p>
                      <a:r>
                        <a:rPr sz="1000" b="0">
                          <a:solidFill>
                            <a:srgbClr val="222222"/>
                          </a:solidFill>
                          <a:latin typeface="Arial"/>
                          <a:ea typeface="Meiryo UI"/>
                          <a:cs typeface="Meiryo UI"/>
                        </a:rPr>
                        <a:t>応答ステータス/応答遅延</a:t>
                      </a:r>
                    </a:p>
                  </a:txBody>
                  <a:tcPr>
                    <a:solidFill>
                      <a:srgbClr val="EEF2F7"/>
                    </a:solidFill>
                  </a:tcPr>
                </a:tc>
                <a:tc>
                  <a:txBody>
                    <a:bodyPr/>
                    <a:lstStyle/>
                    <a:p>
                      <a:r>
                        <a:rPr sz="1000" b="1">
                          <a:solidFill>
                            <a:srgbClr val="2CA02C"/>
                          </a:solidFill>
                          <a:latin typeface="Arial"/>
                          <a:ea typeface="Meiryo UI"/>
                          <a:cs typeface="Meiryo UI"/>
                        </a:rPr>
                        <a:t>派生</a:t>
                      </a:r>
                    </a:p>
                  </a:txBody>
                  <a:tcPr>
                    <a:solidFill>
                      <a:srgbClr val="EEF2F7"/>
                    </a:solidFill>
                  </a:tcPr>
                </a:tc>
                <a:tc>
                  <a:txBody>
                    <a:bodyPr/>
                    <a:lstStyle/>
                    <a:p>
                      <a:r>
                        <a:rPr sz="1000" b="0">
                          <a:solidFill>
                            <a:srgbClr val="222222"/>
                          </a:solidFill>
                          <a:latin typeface="Arial"/>
                          <a:ea typeface="Meiryo UI"/>
                          <a:cs typeface="Meiryo UI"/>
                        </a:rPr>
                        <a:t>END起点窓の有効step有無+窓完全性 / end→初回有効stepの時間</a:t>
                      </a:r>
                    </a:p>
                  </a:txBody>
                  <a:tcPr>
                    <a:solidFill>
                      <a:srgbClr val="EEF2F7"/>
                    </a:solidFill>
                  </a:tcPr>
                </a:tc>
              </a:tr>
              <a:tr h="365760">
                <a:tc>
                  <a:txBody>
                    <a:bodyPr/>
                    <a:lstStyle/>
                    <a:p>
                      <a:r>
                        <a:rPr sz="1000" b="0">
                          <a:solidFill>
                            <a:srgbClr val="222222"/>
                          </a:solidFill>
                          <a:latin typeface="Arial"/>
                          <a:ea typeface="Meiryo UI"/>
                          <a:cs typeface="Meiryo UI"/>
                        </a:rPr>
                        <a:t>直近any/effective変化, pending, seen_ids, FSM</a:t>
                      </a:r>
                    </a:p>
                  </a:txBody>
                  <a:tcPr>
                    <a:solidFill>
                      <a:srgbClr val="FFFFFF"/>
                    </a:solidFill>
                  </a:tcPr>
                </a:tc>
                <a:tc>
                  <a:txBody>
                    <a:bodyPr/>
                    <a:lstStyle/>
                    <a:p>
                      <a:r>
                        <a:rPr sz="1000" b="1">
                          <a:solidFill>
                            <a:srgbClr val="2CA02C"/>
                          </a:solidFill>
                          <a:latin typeface="Arial"/>
                          <a:ea typeface="Meiryo UI"/>
                          <a:cs typeface="Meiryo UI"/>
                        </a:rPr>
                        <a:t>派生</a:t>
                      </a:r>
                    </a:p>
                  </a:txBody>
                  <a:tcPr>
                    <a:solidFill>
                      <a:srgbClr val="FFFFFF"/>
                    </a:solidFill>
                  </a:tcPr>
                </a:tc>
                <a:tc>
                  <a:txBody>
                    <a:bodyPr/>
                    <a:lstStyle/>
                    <a:p>
                      <a:r>
                        <a:rPr sz="1000" b="0">
                          <a:solidFill>
                            <a:srgbClr val="222222"/>
                          </a:solidFill>
                          <a:latin typeface="Arial"/>
                          <a:ea typeface="Meiryo UI"/>
                          <a:cs typeface="Meiryo UI"/>
                        </a:rPr>
                        <a:t>因果リプレイの永続最小状態: online_step_state</a:t>
                      </a:r>
                    </a:p>
                  </a:txBody>
                  <a:tcPr>
                    <a:solidFill>
                      <a:srgbClr val="FFFFFF"/>
                    </a:solidFill>
                  </a:tcPr>
                </a:tc>
              </a:tr>
              <a:tr h="365760">
                <a:tc>
                  <a:txBody>
                    <a:bodyPr/>
                    <a:lstStyle/>
                    <a:p>
                      <a:r>
                        <a:rPr sz="1000" b="0">
                          <a:solidFill>
                            <a:srgbClr val="222222"/>
                          </a:solidFill>
                          <a:latin typeface="Arial"/>
                          <a:ea typeface="Meiryo UI"/>
                          <a:cs typeface="Meiryo UI"/>
                        </a:rPr>
                        <a:t>累積無応答/機会カウンタ</a:t>
                      </a:r>
                    </a:p>
                  </a:txBody>
                  <a:tcPr>
                    <a:solidFill>
                      <a:srgbClr val="EEF2F7"/>
                    </a:solidFill>
                  </a:tcPr>
                </a:tc>
                <a:tc>
                  <a:txBody>
                    <a:bodyPr/>
                    <a:lstStyle/>
                    <a:p>
                      <a:r>
                        <a:rPr sz="1000" b="1">
                          <a:solidFill>
                            <a:srgbClr val="2CA02C"/>
                          </a:solidFill>
                          <a:latin typeface="Arial"/>
                          <a:ea typeface="Meiryo UI"/>
                          <a:cs typeface="Meiryo UI"/>
                        </a:rPr>
                        <a:t>派生</a:t>
                      </a:r>
                    </a:p>
                  </a:txBody>
                  <a:tcPr>
                    <a:solidFill>
                      <a:srgbClr val="EEF2F7"/>
                    </a:solidFill>
                  </a:tcPr>
                </a:tc>
                <a:tc>
                  <a:txBody>
                    <a:bodyPr/>
                    <a:lstStyle/>
                    <a:p>
                      <a:r>
                        <a:rPr sz="1000" b="0">
                          <a:solidFill>
                            <a:srgbClr val="222222"/>
                          </a:solidFill>
                          <a:latin typeface="Arial"/>
                          <a:ea typeface="Meiryo UI"/>
                          <a:cs typeface="Meiryo UI"/>
                        </a:rPr>
                        <a:t>帯別・品質別の累積(FW/ゲージ二分岐を駆動)</a:t>
                      </a:r>
                    </a:p>
                  </a:txBody>
                  <a:tcPr>
                    <a:solidFill>
                      <a:srgbClr val="EEF2F7"/>
                    </a:solidFill>
                  </a:tcPr>
                </a:tc>
              </a:tr>
              <a:tr h="365760">
                <a:tc>
                  <a:txBody>
                    <a:bodyPr/>
                    <a:lstStyle/>
                    <a:p>
                      <a:r>
                        <a:rPr sz="1000" b="0">
                          <a:solidFill>
                            <a:srgbClr val="222222"/>
                          </a:solidFill>
                          <a:latin typeface="Arial"/>
                          <a:ea typeface="Meiryo UI"/>
                          <a:cs typeface="Meiryo UI"/>
                        </a:rPr>
                        <a:t>適応閾値</a:t>
                      </a:r>
                    </a:p>
                  </a:txBody>
                  <a:tcPr>
                    <a:solidFill>
                      <a:srgbClr val="FFFFFF"/>
                    </a:solidFill>
                  </a:tcPr>
                </a:tc>
                <a:tc>
                  <a:txBody>
                    <a:bodyPr/>
                    <a:lstStyle/>
                    <a:p>
                      <a:r>
                        <a:rPr sz="1000" b="1">
                          <a:solidFill>
                            <a:srgbClr val="2CA02C"/>
                          </a:solidFill>
                          <a:latin typeface="Arial"/>
                          <a:ea typeface="Meiryo UI"/>
                          <a:cs typeface="Meiryo UI"/>
                        </a:rPr>
                        <a:t>派生</a:t>
                      </a:r>
                    </a:p>
                  </a:txBody>
                  <a:tcPr>
                    <a:solidFill>
                      <a:srgbClr val="FFFFFF"/>
                    </a:solidFill>
                  </a:tcPr>
                </a:tc>
                <a:tc>
                  <a:txBody>
                    <a:bodyPr/>
                    <a:lstStyle/>
                    <a:p>
                      <a:r>
                        <a:rPr sz="1000" b="0">
                          <a:solidFill>
                            <a:srgbClr val="222222"/>
                          </a:solidFill>
                          <a:latin typeface="Arial"/>
                          <a:ea typeface="Meiryo UI"/>
                          <a:cs typeface="Meiryo UI"/>
                        </a:rPr>
                        <a:t>max(k·quantization, α·DesignCapacity, noise percentile): C3</a:t>
                      </a:r>
                    </a:p>
                  </a:txBody>
                  <a:tcPr>
                    <a:solidFill>
                      <a:srgbClr val="FFFFFF"/>
                    </a:solidFill>
                  </a:tcPr>
                </a:tc>
              </a:tr>
              <a:tr h="365760">
                <a:tc>
                  <a:txBody>
                    <a:bodyPr/>
                    <a:lstStyle/>
                    <a:p>
                      <a:r>
                        <a:rPr sz="1000" b="0">
                          <a:solidFill>
                            <a:srgbClr val="222222"/>
                          </a:solidFill>
                          <a:latin typeface="Arial"/>
                          <a:ea typeface="Meiryo UI"/>
                          <a:cs typeface="Meiryo UI"/>
                        </a:rPr>
                        <a:t>行動特徴(ac_time_ratio, cycles_per_year, min_rsoc ...)</a:t>
                      </a:r>
                    </a:p>
                  </a:txBody>
                  <a:tcPr>
                    <a:solidFill>
                      <a:srgbClr val="EEF2F7"/>
                    </a:solidFill>
                  </a:tcPr>
                </a:tc>
                <a:tc>
                  <a:txBody>
                    <a:bodyPr/>
                    <a:lstStyle/>
                    <a:p>
                      <a:r>
                        <a:rPr sz="1000" b="1">
                          <a:solidFill>
                            <a:srgbClr val="2CA02C"/>
                          </a:solidFill>
                          <a:latin typeface="Arial"/>
                          <a:ea typeface="Meiryo UI"/>
                          <a:cs typeface="Meiryo UI"/>
                        </a:rPr>
                        <a:t>派生</a:t>
                      </a:r>
                    </a:p>
                  </a:txBody>
                  <a:tcPr>
                    <a:solidFill>
                      <a:srgbClr val="EEF2F7"/>
                    </a:solidFill>
                  </a:tcPr>
                </a:tc>
                <a:tc>
                  <a:txBody>
                    <a:bodyPr/>
                    <a:lstStyle/>
                    <a:p>
                      <a:r>
                        <a:rPr sz="1000" b="0">
                          <a:solidFill>
                            <a:srgbClr val="222222"/>
                          </a:solidFill>
                          <a:latin typeface="Arial"/>
                          <a:ea typeface="Meiryo UI"/>
                          <a:cs typeface="Meiryo UI"/>
                        </a:rPr>
                        <a:t>RSOC/使用挙動由来33特徴(機種非依存): build_rsoc_features</a:t>
                      </a:r>
                    </a:p>
                  </a:txBody>
                  <a:tcPr>
                    <a:solidFill>
                      <a:srgbClr val="EEF2F7"/>
                    </a:solidFill>
                  </a:tcPr>
                </a:tc>
              </a:tr>
              <a:tr h="365760">
                <a:tc>
                  <a:txBody>
                    <a:bodyPr/>
                    <a:lstStyle/>
                    <a:p>
                      <a:r>
                        <a:rPr sz="1000" b="0">
                          <a:solidFill>
                            <a:srgbClr val="222222"/>
                          </a:solidFill>
                          <a:latin typeface="Arial"/>
                          <a:ea typeface="Meiryo UI"/>
                          <a:cs typeface="Meiryo UI"/>
                        </a:rPr>
                        <a:t>BIOS/EC/FW version, 介入結果</a:t>
                      </a:r>
                    </a:p>
                  </a:txBody>
                  <a:tcPr>
                    <a:solidFill>
                      <a:srgbClr val="FFFFFF"/>
                    </a:solidFill>
                  </a:tcPr>
                </a:tc>
                <a:tc>
                  <a:txBody>
                    <a:bodyPr/>
                    <a:lstStyle/>
                    <a:p>
                      <a:r>
                        <a:rPr sz="1000" b="1">
                          <a:solidFill>
                            <a:srgbClr val="C0392B"/>
                          </a:solidFill>
                          <a:latin typeface="Arial"/>
                          <a:ea typeface="Meiryo UI"/>
                          <a:cs typeface="Meiryo UI"/>
                        </a:rPr>
                        <a:t>NOT AVAIL</a:t>
                      </a:r>
                    </a:p>
                  </a:txBody>
                  <a:tcPr>
                    <a:solidFill>
                      <a:srgbClr val="FFFFFF"/>
                    </a:solidFill>
                  </a:tcPr>
                </a:tc>
                <a:tc>
                  <a:txBody>
                    <a:bodyPr/>
                    <a:lstStyle/>
                    <a:p>
                      <a:r>
                        <a:rPr sz="1000" b="0">
                          <a:solidFill>
                            <a:srgbClr val="222222"/>
                          </a:solidFill>
                          <a:latin typeface="Arial"/>
                          <a:ea typeface="Meiryo UI"/>
                          <a:cs typeface="Meiryo UI"/>
                        </a:rPr>
                        <a:t>現データに存在しない。将来スキーマのみ(捏造なし)</a:t>
                      </a:r>
                    </a:p>
                  </a:txBody>
                  <a:tcPr>
                    <a:solidFill>
                      <a:srgbClr val="FFFFFF"/>
                    </a:solidFill>
                  </a:tcPr>
                </a:tc>
              </a:tr>
            </a:tbl>
          </a:graphicData>
        </a:graphic>
      </p:graphicFrame>
      <p:sp>
        <p:nvSpPr>
          <p:cNvPr id="6" name="TextBox 5"/>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判定に効いているのは生データ4列からの『数え方の設計』。ハードウェア識別子はどの段でも学習に使わない。</a:t>
            </a:r>
          </a:p>
        </p:txBody>
      </p:sp>
      <p:sp>
        <p:nvSpPr>
          <p:cNvPr id="8" name="TextBox 7"/>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付録B データセットと再現性</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§7 付録</a:t>
            </a:r>
          </a:p>
        </p:txBody>
      </p:sp>
      <p:sp>
        <p:nvSpPr>
          <p:cNvPr id="5" name="TextBox 4"/>
          <p:cNvSpPr txBox="1"/>
          <p:nvPr/>
        </p:nvSpPr>
        <p:spPr>
          <a:xfrm>
            <a:off x="502920" y="932688"/>
            <a:ext cx="5669280" cy="4754880"/>
          </a:xfrm>
          <a:prstGeom prst="rect">
            <a:avLst/>
          </a:prstGeom>
          <a:noFill/>
        </p:spPr>
        <p:txBody>
          <a:bodyPr wrap="square">
            <a:spAutoFit/>
          </a:bodyPr>
          <a:lstStyle/>
          <a:p>
            <a:r>
              <a:rPr sz="1400" b="1">
                <a:solidFill>
                  <a:srgbClr val="1F375B"/>
                </a:solidFill>
                <a:latin typeface="Arial"/>
                <a:ea typeface="Meiryo UI"/>
                <a:cs typeface="Meiryo UI"/>
              </a:rPr>
              <a:t>データセット</a:t>
            </a:r>
          </a:p>
          <a:p>
            <a:pPr>
              <a:spcAft>
                <a:spcPts val="400"/>
              </a:spcAft>
            </a:pPr>
            <a:r>
              <a:rPr sz="1150" b="0">
                <a:solidFill>
                  <a:srgbClr val="222222"/>
                </a:solidFill>
                <a:latin typeface="Arial"/>
                <a:ea typeface="Meiryo UI"/>
                <a:cs typeface="Meiryo UI"/>
              </a:rPr>
              <a:t>•  取得元: S3フリートテレメトリ(1,808コレクションを走査)</a:t>
            </a:r>
          </a:p>
          <a:p>
            <a:pPr>
              <a:spcAft>
                <a:spcPts val="400"/>
              </a:spcAft>
            </a:pPr>
            <a:r>
              <a:rPr sz="1150" b="0">
                <a:solidFill>
                  <a:srgbClr val="222222"/>
                </a:solidFill>
                <a:latin typeface="Arial"/>
                <a:ea typeface="Meiryo UI"/>
                <a:cs typeface="Meiryo UI"/>
              </a:rPr>
              <a:t>•  実バッテリ履歴のある752ユーザーを全数解析(≥20KBで空のプリロード/テスト機を除外)</a:t>
            </a:r>
          </a:p>
          <a:p>
            <a:pPr>
              <a:spcAft>
                <a:spcPts val="400"/>
              </a:spcAft>
            </a:pPr>
            <a:r>
              <a:rPr sz="1150" b="0">
                <a:solidFill>
                  <a:srgbClr val="222222"/>
                </a:solidFill>
                <a:latin typeface="Arial"/>
                <a:ea typeface="Meiryo UI"/>
                <a:cs typeface="Meiryo UI"/>
              </a:rPr>
              <a:t>•  時系列 3,130,394行×22列(PWMログ、約30分間隔ロガー)</a:t>
            </a:r>
          </a:p>
          <a:p>
            <a:pPr>
              <a:spcAft>
                <a:spcPts val="400"/>
              </a:spcAft>
            </a:pPr>
            <a:r>
              <a:rPr sz="1150" b="0">
                <a:solidFill>
                  <a:srgbClr val="222222"/>
                </a:solidFill>
                <a:latin typeface="Arial"/>
                <a:ea typeface="Meiryo UI"/>
                <a:cs typeface="Meiryo UI"/>
              </a:rPr>
              <a:t>•  変数定義はPower Manager PWM Log仕様PDF準拠(RSOC=remaining/FCC×100を実データで確認 corr 0.9999)</a:t>
            </a:r>
          </a:p>
          <a:p>
            <a:pPr>
              <a:spcAft>
                <a:spcPts val="400"/>
              </a:spcAft>
            </a:pPr>
            <a:r>
              <a:rPr sz="1150" b="0">
                <a:solidFill>
                  <a:srgbClr val="222222"/>
                </a:solidFill>
                <a:latin typeface="Arial"/>
                <a:ea typeface="Meiryo UI"/>
                <a:cs typeface="Meiryo UI"/>
              </a:rPr>
              <a:t>•  パック交換 0/752(シリアル不変) → FCC変化は真のゲージ再学習</a:t>
            </a:r>
          </a:p>
          <a:p>
            <a:pPr>
              <a:spcAft>
                <a:spcPts val="400"/>
              </a:spcAft>
            </a:pPr>
            <a:r>
              <a:rPr sz="1150" b="0">
                <a:solidFill>
                  <a:srgbClr val="222222"/>
                </a:solidFill>
                <a:latin typeface="Arial"/>
                <a:ea typeface="Meiryo UI"/>
                <a:cs typeface="Meiryo UI"/>
              </a:rPr>
              <a:t>•  学習機会エピソード 24,711件(うち大ギャップ20,314 / OK品質4,397)</a:t>
            </a:r>
          </a:p>
        </p:txBody>
      </p:sp>
      <p:sp>
        <p:nvSpPr>
          <p:cNvPr id="6" name="TextBox 5"/>
          <p:cNvSpPr txBox="1"/>
          <p:nvPr/>
        </p:nvSpPr>
        <p:spPr>
          <a:xfrm>
            <a:off x="6400800" y="932688"/>
            <a:ext cx="5394960" cy="4754880"/>
          </a:xfrm>
          <a:prstGeom prst="rect">
            <a:avLst/>
          </a:prstGeom>
          <a:noFill/>
        </p:spPr>
        <p:txBody>
          <a:bodyPr wrap="square">
            <a:spAutoFit/>
          </a:bodyPr>
          <a:lstStyle/>
          <a:p>
            <a:r>
              <a:rPr sz="1400" b="1">
                <a:solidFill>
                  <a:srgbClr val="1F375B"/>
                </a:solidFill>
                <a:latin typeface="Arial"/>
                <a:ea typeface="Meiryo UI"/>
                <a:cs typeface="Meiryo UI"/>
              </a:rPr>
              <a:t>再現性・完全性</a:t>
            </a:r>
          </a:p>
          <a:p>
            <a:pPr>
              <a:spcAft>
                <a:spcPts val="400"/>
              </a:spcAft>
            </a:pPr>
            <a:r>
              <a:rPr sz="1150" b="0">
                <a:solidFill>
                  <a:srgbClr val="222222"/>
                </a:solidFill>
                <a:latin typeface="Arial"/>
                <a:ea typeface="Meiryo UI"/>
                <a:cs typeface="Meiryo UI"/>
              </a:rPr>
              <a:t>•  ベースライン再現ゲート: 全期間7指標+rolling-v2 9ラベルを期待値と完全照合(16/16 PASS)。不一致なら結論を出さない設計</a:t>
            </a:r>
          </a:p>
          <a:p>
            <a:pPr>
              <a:spcAft>
                <a:spcPts val="400"/>
              </a:spcAft>
            </a:pPr>
            <a:r>
              <a:rPr sz="1150" b="0">
                <a:solidFill>
                  <a:srgbClr val="222222"/>
                </a:solidFill>
                <a:latin typeface="Arial"/>
                <a:ea typeface="Meiryo UI"/>
                <a:cs typeface="Meiryo UI"/>
              </a:rPr>
              <a:t>•  公開40アーティファクト全てにSHA-256チェックサム(manifest)</a:t>
            </a:r>
          </a:p>
          <a:p>
            <a:pPr>
              <a:spcAft>
                <a:spcPts val="400"/>
              </a:spcAft>
            </a:pPr>
            <a:r>
              <a:rPr sz="1150" b="0">
                <a:solidFill>
                  <a:srgbClr val="222222"/>
                </a:solidFill>
                <a:latin typeface="Arial"/>
                <a:ea typeface="Meiryo UI"/>
                <a:cs typeface="Meiryo UI"/>
              </a:rPr>
              <a:t>•  全解析モジュールで決定的シード。修正後テスト108件pass</a:t>
            </a:r>
          </a:p>
          <a:p>
            <a:pPr>
              <a:spcAft>
                <a:spcPts val="400"/>
              </a:spcAft>
            </a:pPr>
            <a:r>
              <a:rPr sz="1150" b="0">
                <a:solidFill>
                  <a:srgbClr val="222222"/>
                </a:solidFill>
                <a:latin typeface="Arial"/>
                <a:ea typeface="Meiryo UI"/>
                <a:cs typeface="Meiryo UI"/>
              </a:rPr>
              <a:t>•  PII: 公開CSV26+parquet9+図19枚にuser_id/serial/UUIDなし。IDは一方向ハッシュ(12桁)に置換</a:t>
            </a:r>
          </a:p>
          <a:p>
            <a:pPr>
              <a:spcAft>
                <a:spcPts val="400"/>
              </a:spcAft>
            </a:pPr>
            <a:r>
              <a:rPr sz="1150" b="0">
                <a:solidFill>
                  <a:srgbClr val="222222"/>
                </a:solidFill>
                <a:latin typeface="Arial"/>
                <a:ea typeface="Meiryo UI"/>
                <a:cs typeface="Meiryo UI"/>
              </a:rPr>
              <a:t>•  介入・BIOS/EC/電池FWバージョン列の不在をavailability probeで機械的に確認(NOT AVAILABLEの根拠)</a:t>
            </a:r>
          </a:p>
        </p:txBody>
      </p:sp>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『数字を出し直したら変わる』ことがないよう、再現ゲート・チェックサム・決定的シードで固定。個人特定情報は全成果物から除去済み。</a:t>
            </a:r>
          </a:p>
        </p:txBody>
      </p:sp>
      <p:sp>
        <p:nvSpPr>
          <p:cNvPr id="8" name="TextBox 7"/>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付録C 代替実施形態の範囲（クレームの広がりの材料）</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§7 付録</a:t>
            </a:r>
          </a:p>
        </p:txBody>
      </p:sp>
      <p:graphicFrame>
        <p:nvGraphicFramePr>
          <p:cNvPr id="5" name="Table 4"/>
          <p:cNvGraphicFramePr>
            <a:graphicFrameLocks noGrp="1"/>
          </p:cNvGraphicFramePr>
          <p:nvPr/>
        </p:nvGraphicFramePr>
        <p:xfrm>
          <a:off x="411480" y="960120"/>
          <a:ext cx="11338560" cy="4608576"/>
        </p:xfrm>
        <a:graphic>
          <a:graphicData uri="http://schemas.openxmlformats.org/drawingml/2006/table">
            <a:tbl>
              <a:tblPr firstRow="1" bandRow="1">
                <a:tableStyleId>{5C22544A-7EE6-4342-B048-85BDC9FD1C3A}</a:tableStyleId>
              </a:tblPr>
              <a:tblGrid>
                <a:gridCol w="2286000"/>
                <a:gridCol w="2377440"/>
                <a:gridCol w="6675120"/>
              </a:tblGrid>
              <a:tr h="512064">
                <a:tc>
                  <a:txBody>
                    <a:bodyPr/>
                    <a:lstStyle/>
                    <a:p>
                      <a:r>
                        <a:rPr sz="1100" b="1">
                          <a:solidFill>
                            <a:srgbClr val="FFFFFF"/>
                          </a:solidFill>
                          <a:latin typeface="Arial"/>
                          <a:ea typeface="Meiryo UI"/>
                          <a:cs typeface="Meiryo UI"/>
                        </a:rPr>
                        <a:t>パラメータ</a:t>
                      </a:r>
                    </a:p>
                  </a:txBody>
                  <a:tcPr>
                    <a:solidFill>
                      <a:srgbClr val="1E0113"/>
                    </a:solidFill>
                  </a:tcPr>
                </a:tc>
                <a:tc>
                  <a:txBody>
                    <a:bodyPr/>
                    <a:lstStyle/>
                    <a:p>
                      <a:r>
                        <a:rPr sz="1100" b="1">
                          <a:solidFill>
                            <a:srgbClr val="FFFFFF"/>
                          </a:solidFill>
                          <a:latin typeface="Arial"/>
                          <a:ea typeface="Meiryo UI"/>
                          <a:cs typeface="Meiryo UI"/>
                        </a:rPr>
                        <a:t>主実施形態</a:t>
                      </a:r>
                    </a:p>
                  </a:txBody>
                  <a:tcPr>
                    <a:solidFill>
                      <a:srgbClr val="1E0113"/>
                    </a:solidFill>
                  </a:tcPr>
                </a:tc>
                <a:tc>
                  <a:txBody>
                    <a:bodyPr/>
                    <a:lstStyle/>
                    <a:p>
                      <a:r>
                        <a:rPr sz="1100" b="1">
                          <a:solidFill>
                            <a:srgbClr val="FFFFFF"/>
                          </a:solidFill>
                          <a:latin typeface="Arial"/>
                          <a:ea typeface="Meiryo UI"/>
                          <a:cs typeface="Meiryo UI"/>
                        </a:rPr>
                        <a:t>代替範囲</a:t>
                      </a:r>
                    </a:p>
                  </a:txBody>
                  <a:tcPr>
                    <a:solidFill>
                      <a:srgbClr val="1E0113"/>
                    </a:solidFill>
                  </a:tcPr>
                </a:tc>
              </a:tr>
              <a:tr h="512064">
                <a:tc>
                  <a:txBody>
                    <a:bodyPr/>
                    <a:lstStyle/>
                    <a:p>
                      <a:r>
                        <a:rPr sz="1000" b="0">
                          <a:solidFill>
                            <a:srgbClr val="222222"/>
                          </a:solidFill>
                          <a:latin typeface="Arial"/>
                          <a:ea typeface="Meiryo UI"/>
                          <a:cs typeface="Meiryo UI"/>
                        </a:rPr>
                        <a:t>RSOC帯(機会定義)</a:t>
                      </a:r>
                    </a:p>
                  </a:txBody>
                  <a:tcPr>
                    <a:solidFill>
                      <a:srgbClr val="EEF2F7"/>
                    </a:solidFill>
                  </a:tcPr>
                </a:tc>
                <a:tc>
                  <a:txBody>
                    <a:bodyPr/>
                    <a:lstStyle/>
                    <a:p>
                      <a:r>
                        <a:rPr sz="1000" b="1">
                          <a:solidFill>
                            <a:srgbClr val="376B3A"/>
                          </a:solidFill>
                          <a:latin typeface="Arial"/>
                          <a:ea typeface="Meiryo UI"/>
                          <a:cs typeface="Meiryo UI"/>
                        </a:rPr>
                        <a:t>80/20/80</a:t>
                      </a:r>
                    </a:p>
                  </a:txBody>
                  <a:tcPr>
                    <a:solidFill>
                      <a:srgbClr val="EEF2F7"/>
                    </a:solidFill>
                  </a:tcPr>
                </a:tc>
                <a:tc>
                  <a:txBody>
                    <a:bodyPr/>
                    <a:lstStyle/>
                    <a:p>
                      <a:r>
                        <a:rPr sz="1000" b="0">
                          <a:solidFill>
                            <a:srgbClr val="222222"/>
                          </a:solidFill>
                          <a:latin typeface="Arial"/>
                          <a:ea typeface="Meiryo UI"/>
                          <a:cs typeface="Meiryo UI"/>
                        </a:rPr>
                        <a:t>70/30/70 〜 90/10/90(strict)</a:t>
                      </a:r>
                    </a:p>
                  </a:txBody>
                  <a:tcPr>
                    <a:solidFill>
                      <a:srgbClr val="EEF2F7"/>
                    </a:solidFill>
                  </a:tcPr>
                </a:tc>
              </a:tr>
              <a:tr h="512064">
                <a:tc>
                  <a:txBody>
                    <a:bodyPr/>
                    <a:lstStyle/>
                    <a:p>
                      <a:r>
                        <a:rPr sz="1000" b="0">
                          <a:solidFill>
                            <a:srgbClr val="222222"/>
                          </a:solidFill>
                          <a:latin typeface="Arial"/>
                          <a:ea typeface="Meiryo UI"/>
                          <a:cs typeface="Meiryo UI"/>
                        </a:rPr>
                        <a:t>応答窓</a:t>
                      </a:r>
                    </a:p>
                  </a:txBody>
                  <a:tcPr>
                    <a:solidFill>
                      <a:srgbClr val="FFFFFF"/>
                    </a:solidFill>
                  </a:tcPr>
                </a:tc>
                <a:tc>
                  <a:txBody>
                    <a:bodyPr/>
                    <a:lstStyle/>
                    <a:p>
                      <a:r>
                        <a:rPr sz="1000" b="1">
                          <a:solidFill>
                            <a:srgbClr val="376B3A"/>
                          </a:solidFill>
                          <a:latin typeface="Arial"/>
                          <a:ea typeface="Meiryo UI"/>
                          <a:cs typeface="Meiryo UI"/>
                        </a:rPr>
                        <a:t>72h</a:t>
                      </a:r>
                    </a:p>
                  </a:txBody>
                  <a:tcPr>
                    <a:solidFill>
                      <a:srgbClr val="FFFFFF"/>
                    </a:solidFill>
                  </a:tcPr>
                </a:tc>
                <a:tc>
                  <a:txBody>
                    <a:bodyPr/>
                    <a:lstStyle/>
                    <a:p>
                      <a:r>
                        <a:rPr sz="1000" b="0">
                          <a:solidFill>
                            <a:srgbClr val="222222"/>
                          </a:solidFill>
                          <a:latin typeface="Arial"/>
                          <a:ea typeface="Meiryo UI"/>
                          <a:cs typeface="Meiryo UI"/>
                        </a:rPr>
                        <a:t>24 / 48 / 120 / 168h</a:t>
                      </a:r>
                    </a:p>
                  </a:txBody>
                  <a:tcPr>
                    <a:solidFill>
                      <a:srgbClr val="FFFFFF"/>
                    </a:solidFill>
                  </a:tcPr>
                </a:tc>
              </a:tr>
              <a:tr h="512064">
                <a:tc>
                  <a:txBody>
                    <a:bodyPr/>
                    <a:lstStyle/>
                    <a:p>
                      <a:r>
                        <a:rPr sz="1000" b="0">
                          <a:solidFill>
                            <a:srgbClr val="222222"/>
                          </a:solidFill>
                          <a:latin typeface="Arial"/>
                          <a:ea typeface="Meiryo UI"/>
                          <a:cs typeface="Meiryo UI"/>
                        </a:rPr>
                        <a:t>応答アンカー</a:t>
                      </a:r>
                    </a:p>
                  </a:txBody>
                  <a:tcPr>
                    <a:solidFill>
                      <a:srgbClr val="EEF2F7"/>
                    </a:solidFill>
                  </a:tcPr>
                </a:tc>
                <a:tc>
                  <a:txBody>
                    <a:bodyPr/>
                    <a:lstStyle/>
                    <a:p>
                      <a:r>
                        <a:rPr sz="1000" b="1">
                          <a:solidFill>
                            <a:srgbClr val="376B3A"/>
                          </a:solidFill>
                          <a:latin typeface="Arial"/>
                          <a:ea typeface="Meiryo UI"/>
                          <a:cs typeface="Meiryo UI"/>
                        </a:rPr>
                        <a:t>END(再充電完了)</a:t>
                      </a:r>
                    </a:p>
                  </a:txBody>
                  <a:tcPr>
                    <a:solidFill>
                      <a:srgbClr val="EEF2F7"/>
                    </a:solidFill>
                  </a:tcPr>
                </a:tc>
                <a:tc>
                  <a:txBody>
                    <a:bodyPr/>
                    <a:lstStyle/>
                    <a:p>
                      <a:r>
                        <a:rPr sz="1000" b="0">
                          <a:solidFill>
                            <a:srgbClr val="222222"/>
                          </a:solidFill>
                          <a:latin typeface="Arial"/>
                          <a:ea typeface="Meiryo UI"/>
                          <a:cs typeface="Meiryo UI"/>
                        </a:rPr>
                        <a:t>start / low(比較でENDの優位を実証済み)</a:t>
                      </a:r>
                    </a:p>
                  </a:txBody>
                  <a:tcPr>
                    <a:solidFill>
                      <a:srgbClr val="EEF2F7"/>
                    </a:solidFill>
                  </a:tcPr>
                </a:tc>
              </a:tr>
              <a:tr h="512064">
                <a:tc>
                  <a:txBody>
                    <a:bodyPr/>
                    <a:lstStyle/>
                    <a:p>
                      <a:r>
                        <a:rPr sz="1000" b="0">
                          <a:solidFill>
                            <a:srgbClr val="222222"/>
                          </a:solidFill>
                          <a:latin typeface="Arial"/>
                          <a:ea typeface="Meiryo UI"/>
                          <a:cs typeface="Meiryo UI"/>
                        </a:rPr>
                        <a:t>有効ステップ閾値</a:t>
                      </a:r>
                    </a:p>
                  </a:txBody>
                  <a:tcPr>
                    <a:solidFill>
                      <a:srgbClr val="FFFFFF"/>
                    </a:solidFill>
                  </a:tcPr>
                </a:tc>
                <a:tc>
                  <a:txBody>
                    <a:bodyPr/>
                    <a:lstStyle/>
                    <a:p>
                      <a:r>
                        <a:rPr sz="1000" b="1">
                          <a:solidFill>
                            <a:srgbClr val="376B3A"/>
                          </a:solidFill>
                          <a:latin typeface="Arial"/>
                          <a:ea typeface="Meiryo UI"/>
                          <a:cs typeface="Meiryo UI"/>
                        </a:rPr>
                        <a:t>固定50mWh</a:t>
                      </a:r>
                    </a:p>
                  </a:txBody>
                  <a:tcPr>
                    <a:solidFill>
                      <a:srgbClr val="FFFFFF"/>
                    </a:solidFill>
                  </a:tcPr>
                </a:tc>
                <a:tc>
                  <a:txBody>
                    <a:bodyPr/>
                    <a:lstStyle/>
                    <a:p>
                      <a:r>
                        <a:rPr sz="1000" b="0">
                          <a:solidFill>
                            <a:srgbClr val="222222"/>
                          </a:solidFill>
                          <a:latin typeface="Arial"/>
                          <a:ea typeface="Meiryo UI"/>
                          <a:cs typeface="Meiryo UI"/>
                        </a:rPr>
                        <a:t>固定10〜100mWh / DesignCapacity比0.05〜0.5% / 適応 max(k·量子化, α·設計容量, ノイズ百分位) / 混合分布・変化点・ユーザー別ノイズ推定</a:t>
                      </a:r>
                    </a:p>
                  </a:txBody>
                  <a:tcPr>
                    <a:solidFill>
                      <a:srgbClr val="FFFFFF"/>
                    </a:solidFill>
                  </a:tcPr>
                </a:tc>
              </a:tr>
              <a:tr h="512064">
                <a:tc>
                  <a:txBody>
                    <a:bodyPr/>
                    <a:lstStyle/>
                    <a:p>
                      <a:r>
                        <a:rPr sz="1000" b="0">
                          <a:solidFill>
                            <a:srgbClr val="222222"/>
                          </a:solidFill>
                          <a:latin typeface="Arial"/>
                          <a:ea typeface="Meiryo UI"/>
                          <a:cs typeface="Meiryo UI"/>
                        </a:rPr>
                        <a:t>リセット規則</a:t>
                      </a:r>
                    </a:p>
                  </a:txBody>
                  <a:tcPr>
                    <a:solidFill>
                      <a:srgbClr val="EEF2F7"/>
                    </a:solidFill>
                  </a:tcPr>
                </a:tc>
                <a:tc>
                  <a:txBody>
                    <a:bodyPr/>
                    <a:lstStyle/>
                    <a:p>
                      <a:r>
                        <a:rPr sz="1000" b="1">
                          <a:solidFill>
                            <a:srgbClr val="376B3A"/>
                          </a:solidFill>
                          <a:latin typeface="Arial"/>
                          <a:ea typeface="Meiryo UI"/>
                          <a:cs typeface="Meiryo UI"/>
                        </a:rPr>
                        <a:t>非対称(microはanyのみ)</a:t>
                      </a:r>
                    </a:p>
                  </a:txBody>
                  <a:tcPr>
                    <a:solidFill>
                      <a:srgbClr val="EEF2F7"/>
                    </a:solidFill>
                  </a:tcPr>
                </a:tc>
                <a:tc>
                  <a:txBody>
                    <a:bodyPr/>
                    <a:lstStyle/>
                    <a:p>
                      <a:r>
                        <a:rPr sz="1000" b="0">
                          <a:solidFill>
                            <a:srgbClr val="222222"/>
                          </a:solidFill>
                          <a:latin typeface="Arial"/>
                          <a:ea typeface="Meiryo UI"/>
                          <a:cs typeface="Meiryo UI"/>
                        </a:rPr>
                        <a:t>any単独 / effective単独 / 対称×2 / 適応型非対称(D5)</a:t>
                      </a:r>
                    </a:p>
                  </a:txBody>
                  <a:tcPr>
                    <a:solidFill>
                      <a:srgbClr val="EEF2F7"/>
                    </a:solidFill>
                  </a:tcPr>
                </a:tc>
              </a:tr>
              <a:tr h="512064">
                <a:tc>
                  <a:txBody>
                    <a:bodyPr/>
                    <a:lstStyle/>
                    <a:p>
                      <a:r>
                        <a:rPr sz="1000" b="0">
                          <a:solidFill>
                            <a:srgbClr val="222222"/>
                          </a:solidFill>
                          <a:latin typeface="Arial"/>
                          <a:ea typeface="Meiryo UI"/>
                          <a:cs typeface="Meiryo UI"/>
                        </a:rPr>
                        <a:t>生データ保持</a:t>
                      </a:r>
                    </a:p>
                  </a:txBody>
                  <a:tcPr>
                    <a:solidFill>
                      <a:srgbClr val="FFFFFF"/>
                    </a:solidFill>
                  </a:tcPr>
                </a:tc>
                <a:tc>
                  <a:txBody>
                    <a:bodyPr/>
                    <a:lstStyle/>
                    <a:p>
                      <a:r>
                        <a:rPr sz="1000" b="1">
                          <a:solidFill>
                            <a:srgbClr val="376B3A"/>
                          </a:solidFill>
                          <a:latin typeface="Arial"/>
                          <a:ea typeface="Meiryo UI"/>
                          <a:cs typeface="Meiryo UI"/>
                        </a:rPr>
                        <a:t>30日・stride 1日</a:t>
                      </a:r>
                    </a:p>
                  </a:txBody>
                  <a:tcPr>
                    <a:solidFill>
                      <a:srgbClr val="FFFFFF"/>
                    </a:solidFill>
                  </a:tcPr>
                </a:tc>
                <a:tc>
                  <a:txBody>
                    <a:bodyPr/>
                    <a:lstStyle/>
                    <a:p>
                      <a:r>
                        <a:rPr sz="1000" b="0">
                          <a:solidFill>
                            <a:srgbClr val="222222"/>
                          </a:solidFill>
                          <a:latin typeface="Arial"/>
                          <a:ea typeface="Meiryo UI"/>
                          <a:cs typeface="Meiryo UI"/>
                        </a:rPr>
                        <a:t>7〜90日・full / stride 1・7日 / 整列オフセット0〜6</a:t>
                      </a:r>
                    </a:p>
                  </a:txBody>
                  <a:tcPr>
                    <a:solidFill>
                      <a:srgbClr val="FFFFFF"/>
                    </a:solidFill>
                  </a:tcPr>
                </a:tc>
              </a:tr>
              <a:tr h="512064">
                <a:tc>
                  <a:txBody>
                    <a:bodyPr/>
                    <a:lstStyle/>
                    <a:p>
                      <a:r>
                        <a:rPr sz="1000" b="0">
                          <a:solidFill>
                            <a:srgbClr val="222222"/>
                          </a:solidFill>
                          <a:latin typeface="Arial"/>
                          <a:ea typeface="Meiryo UI"/>
                          <a:cs typeface="Meiryo UI"/>
                        </a:rPr>
                        <a:t>ギャップ/censor処理</a:t>
                      </a:r>
                    </a:p>
                  </a:txBody>
                  <a:tcPr>
                    <a:solidFill>
                      <a:srgbClr val="EEF2F7"/>
                    </a:solidFill>
                  </a:tcPr>
                </a:tc>
                <a:tc>
                  <a:txBody>
                    <a:bodyPr/>
                    <a:lstStyle/>
                    <a:p>
                      <a:r>
                        <a:rPr sz="1000" b="1">
                          <a:solidFill>
                            <a:srgbClr val="376B3A"/>
                          </a:solidFill>
                          <a:latin typeface="Arial"/>
                          <a:ea typeface="Meiryo UI"/>
                          <a:cs typeface="Meiryo UI"/>
                        </a:rPr>
                        <a:t>段階ティア+censor-aware</a:t>
                      </a:r>
                    </a:p>
                  </a:txBody>
                  <a:tcPr>
                    <a:solidFill>
                      <a:srgbClr val="EEF2F7"/>
                    </a:solidFill>
                  </a:tcPr>
                </a:tc>
                <a:tc>
                  <a:txBody>
                    <a:bodyPr/>
                    <a:lstStyle/>
                    <a:p>
                      <a:r>
                        <a:rPr sz="1000" b="0">
                          <a:solidFill>
                            <a:srgbClr val="222222"/>
                          </a:solidFill>
                          <a:latin typeface="Arial"/>
                          <a:ea typeface="Meiryo UI"/>
                          <a:cs typeface="Meiryo UI"/>
                        </a:rPr>
                        <a:t>naive / 二値ゲート / 段階ティアのみ</a:t>
                      </a:r>
                    </a:p>
                  </a:txBody>
                  <a:tcPr>
                    <a:solidFill>
                      <a:srgbClr val="EEF2F7"/>
                    </a:solidFill>
                  </a:tcPr>
                </a:tc>
              </a:tr>
              <a:tr h="512064">
                <a:tc>
                  <a:txBody>
                    <a:bodyPr/>
                    <a:lstStyle/>
                    <a:p>
                      <a:r>
                        <a:rPr sz="1000" b="0">
                          <a:solidFill>
                            <a:srgbClr val="222222"/>
                          </a:solidFill>
                          <a:latin typeface="Arial"/>
                          <a:ea typeface="Meiryo UI"/>
                          <a:cs typeface="Meiryo UI"/>
                        </a:rPr>
                        <a:t>永続状態</a:t>
                      </a:r>
                    </a:p>
                  </a:txBody>
                  <a:tcPr>
                    <a:solidFill>
                      <a:srgbClr val="FFFFFF"/>
                    </a:solidFill>
                  </a:tcPr>
                </a:tc>
                <a:tc>
                  <a:txBody>
                    <a:bodyPr/>
                    <a:lstStyle/>
                    <a:p>
                      <a:r>
                        <a:rPr sz="1000" b="1">
                          <a:solidFill>
                            <a:srgbClr val="376B3A"/>
                          </a:solidFill>
                          <a:latin typeface="Arial"/>
                          <a:ea typeface="Meiryo UI"/>
                          <a:cs typeface="Meiryo UI"/>
                        </a:rPr>
                        <a:t>最小7要素</a:t>
                      </a:r>
                    </a:p>
                  </a:txBody>
                  <a:tcPr>
                    <a:solidFill>
                      <a:srgbClr val="FFFFFF"/>
                    </a:solidFill>
                  </a:tcPr>
                </a:tc>
                <a:tc>
                  <a:txBody>
                    <a:bodyPr/>
                    <a:lstStyle/>
                    <a:p>
                      <a:r>
                        <a:rPr sz="1000" b="0">
                          <a:solidFill>
                            <a:srgbClr val="222222"/>
                          </a:solidFill>
                          <a:latin typeface="Arial"/>
                          <a:ea typeface="Meiryo UI"/>
                          <a:cs typeface="Meiryo UI"/>
                        </a:rPr>
                        <a:t>部分集合は等価性が破綻(アブレーションで実証)→ 下限として機能</a:t>
                      </a:r>
                    </a:p>
                  </a:txBody>
                  <a:tcPr>
                    <a:solidFill>
                      <a:srgbClr val="FFFFFF"/>
                    </a:solidFill>
                  </a:tcPr>
                </a:tc>
              </a:tr>
            </a:tbl>
          </a:graphicData>
        </a:graphic>
      </p:graphicFrame>
      <p:sp>
        <p:nvSpPr>
          <p:cNvPr id="6" name="TextBox 5"/>
          <p:cNvSpPr txBox="1"/>
          <p:nvPr/>
        </p:nvSpPr>
        <p:spPr>
          <a:xfrm>
            <a:off x="457200" y="5349240"/>
            <a:ext cx="11338560" cy="502920"/>
          </a:xfrm>
          <a:prstGeom prst="rect">
            <a:avLst/>
          </a:prstGeom>
          <a:noFill/>
        </p:spPr>
        <p:txBody>
          <a:bodyPr wrap="square">
            <a:spAutoFit/>
          </a:bodyPr>
          <a:lstStyle/>
          <a:p>
            <a:r>
              <a:rPr sz="1100" b="0">
                <a:solidFill>
                  <a:srgbClr val="555555"/>
                </a:solidFill>
                <a:latin typeface="Arial"/>
                <a:ea typeface="Meiryo UI"/>
                <a:cs typeface="Meiryo UI"/>
              </a:rPr>
              <a:t>per-sample電流テーパ/電圧/温度/休止を使う実施形態は『その列が存在する実装で追加可能』の位置づけ(本データにはNOT AVAILABLE)。</a:t>
            </a:r>
          </a:p>
        </p:txBody>
      </p:sp>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主実施形態の数値は一点張りではない。各パラメータに実証済みの代替範囲があり、クレームの広さはこの表から選べる。</a:t>
            </a:r>
          </a:p>
        </p:txBody>
      </p:sp>
      <p:sp>
        <p:nvSpPr>
          <p:cNvPr id="8" name="TextBox 7"/>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付録D 先行技術との差別化（全件 UNVERIFIED・弁理士確認前）</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§7 付録</a:t>
            </a:r>
          </a:p>
        </p:txBody>
      </p:sp>
      <p:graphicFrame>
        <p:nvGraphicFramePr>
          <p:cNvPr id="5" name="Table 4"/>
          <p:cNvGraphicFramePr>
            <a:graphicFrameLocks noGrp="1"/>
          </p:cNvGraphicFramePr>
          <p:nvPr/>
        </p:nvGraphicFramePr>
        <p:xfrm>
          <a:off x="411480" y="960120"/>
          <a:ext cx="11338560" cy="4096512"/>
        </p:xfrm>
        <a:graphic>
          <a:graphicData uri="http://schemas.openxmlformats.org/drawingml/2006/table">
            <a:tbl>
              <a:tblPr firstRow="1" bandRow="1">
                <a:tableStyleId>{5C22544A-7EE6-4342-B048-85BDC9FD1C3A}</a:tableStyleId>
              </a:tblPr>
              <a:tblGrid>
                <a:gridCol w="3017520"/>
                <a:gridCol w="3657600"/>
                <a:gridCol w="4663440"/>
              </a:tblGrid>
              <a:tr h="512064">
                <a:tc>
                  <a:txBody>
                    <a:bodyPr/>
                    <a:lstStyle/>
                    <a:p>
                      <a:r>
                        <a:rPr sz="1100" b="1">
                          <a:solidFill>
                            <a:srgbClr val="FFFFFF"/>
                          </a:solidFill>
                          <a:latin typeface="Arial"/>
                          <a:ea typeface="Meiryo UI"/>
                          <a:cs typeface="Meiryo UI"/>
                        </a:rPr>
                        <a:t>先行技術(UNVERIFIED)</a:t>
                      </a:r>
                    </a:p>
                  </a:txBody>
                  <a:tcPr>
                    <a:solidFill>
                      <a:srgbClr val="1E0113"/>
                    </a:solidFill>
                  </a:tcPr>
                </a:tc>
                <a:tc>
                  <a:txBody>
                    <a:bodyPr/>
                    <a:lstStyle/>
                    <a:p>
                      <a:r>
                        <a:rPr sz="1100" b="1">
                          <a:solidFill>
                            <a:srgbClr val="FFFFFF"/>
                          </a:solidFill>
                          <a:latin typeface="Arial"/>
                          <a:ea typeface="Meiryo UI"/>
                          <a:cs typeface="Meiryo UI"/>
                        </a:rPr>
                        <a:t>教示していること</a:t>
                      </a:r>
                    </a:p>
                  </a:txBody>
                  <a:tcPr>
                    <a:solidFill>
                      <a:srgbClr val="1E0113"/>
                    </a:solidFill>
                  </a:tcPr>
                </a:tc>
                <a:tc>
                  <a:txBody>
                    <a:bodyPr/>
                    <a:lstStyle/>
                    <a:p>
                      <a:r>
                        <a:rPr sz="1100" b="1">
                          <a:solidFill>
                            <a:srgbClr val="FFFFFF"/>
                          </a:solidFill>
                          <a:latin typeface="Arial"/>
                          <a:ea typeface="Meiryo UI"/>
                          <a:cs typeface="Meiryo UI"/>
                        </a:rPr>
                        <a:t>教示していないこと（差別化点の候補）</a:t>
                      </a:r>
                    </a:p>
                  </a:txBody>
                  <a:tcPr>
                    <a:solidFill>
                      <a:srgbClr val="1E0113"/>
                    </a:solidFill>
                  </a:tcPr>
                </a:tc>
              </a:tr>
              <a:tr h="512064">
                <a:tc>
                  <a:txBody>
                    <a:bodyPr/>
                    <a:lstStyle/>
                    <a:p>
                      <a:r>
                        <a:rPr sz="950" b="1">
                          <a:solidFill>
                            <a:srgbClr val="1F375B"/>
                          </a:solidFill>
                          <a:latin typeface="Arial"/>
                          <a:ea typeface="Meiryo UI"/>
                          <a:cs typeface="Meiryo UI"/>
                        </a:rPr>
                        <a:t>US7610172ほか(非発生イベント監視)</a:t>
                      </a:r>
                    </a:p>
                  </a:txBody>
                  <a:tcPr>
                    <a:solidFill>
                      <a:srgbClr val="EEF2F7"/>
                    </a:solidFill>
                  </a:tcPr>
                </a:tc>
                <a:tc>
                  <a:txBody>
                    <a:bodyPr/>
                    <a:lstStyle/>
                    <a:p>
                      <a:r>
                        <a:rPr sz="950" b="0">
                          <a:solidFill>
                            <a:srgbClr val="222222"/>
                          </a:solidFill>
                          <a:latin typeface="Arial"/>
                          <a:ea typeface="Meiryo UI"/>
                          <a:cs typeface="Meiryo UI"/>
                        </a:rPr>
                        <a:t>『起きるはずのイベントが起きない』ことの監視一般</a:t>
                      </a:r>
                    </a:p>
                  </a:txBody>
                  <a:tcPr>
                    <a:solidFill>
                      <a:srgbClr val="EEF2F7"/>
                    </a:solidFill>
                  </a:tcPr>
                </a:tc>
                <a:tc>
                  <a:txBody>
                    <a:bodyPr/>
                    <a:lstStyle/>
                    <a:p>
                      <a:r>
                        <a:rPr sz="950" b="0">
                          <a:solidFill>
                            <a:srgbClr val="222222"/>
                          </a:solidFill>
                          <a:latin typeface="Arial"/>
                          <a:ea typeface="Meiryo UI"/>
                          <a:cs typeface="Meiryo UI"/>
                        </a:rPr>
                        <a:t>燃料計の物理的学習機会の抽出・FCC有効ステップ・censor-aware除外</a:t>
                      </a:r>
                    </a:p>
                  </a:txBody>
                  <a:tcPr>
                    <a:solidFill>
                      <a:srgbClr val="EEF2F7"/>
                    </a:solidFill>
                  </a:tcPr>
                </a:tc>
              </a:tr>
              <a:tr h="512064">
                <a:tc>
                  <a:txBody>
                    <a:bodyPr/>
                    <a:lstStyle/>
                    <a:p>
                      <a:r>
                        <a:rPr sz="950" b="1">
                          <a:solidFill>
                            <a:srgbClr val="1F375B"/>
                          </a:solidFill>
                          <a:latin typeface="Arial"/>
                          <a:ea typeface="Meiryo UI"/>
                          <a:cs typeface="Meiryo UI"/>
                        </a:rPr>
                        <a:t>TI US6832171(Impedance Track)</a:t>
                      </a:r>
                    </a:p>
                  </a:txBody>
                  <a:tcPr>
                    <a:solidFill>
                      <a:srgbClr val="FFFFFF"/>
                    </a:solidFill>
                  </a:tcPr>
                </a:tc>
                <a:tc>
                  <a:txBody>
                    <a:bodyPr/>
                    <a:lstStyle/>
                    <a:p>
                      <a:r>
                        <a:rPr sz="950" b="0">
                          <a:solidFill>
                            <a:srgbClr val="222222"/>
                          </a:solidFill>
                          <a:latin typeface="Arial"/>
                          <a:ea typeface="Meiryo UI"/>
                          <a:cs typeface="Meiryo UI"/>
                        </a:rPr>
                        <a:t>ゲージ内部での適格放電によるFCC/Qmax学習</a:t>
                      </a:r>
                    </a:p>
                  </a:txBody>
                  <a:tcPr>
                    <a:solidFill>
                      <a:srgbClr val="FFFFFF"/>
                    </a:solidFill>
                  </a:tcPr>
                </a:tc>
                <a:tc>
                  <a:txBody>
                    <a:bodyPr/>
                    <a:lstStyle/>
                    <a:p>
                      <a:r>
                        <a:rPr sz="950" b="0">
                          <a:solidFill>
                            <a:srgbClr val="222222"/>
                          </a:solidFill>
                          <a:latin typeface="Arial"/>
                          <a:ea typeface="Meiryo UI"/>
                          <a:cs typeface="Meiryo UI"/>
                        </a:rPr>
                        <a:t>上位テレメトリ層での機会反復×無応答の検出・原因二分岐</a:t>
                      </a:r>
                    </a:p>
                  </a:txBody>
                  <a:tcPr>
                    <a:solidFill>
                      <a:srgbClr val="FFFFFF"/>
                    </a:solidFill>
                  </a:tcPr>
                </a:tc>
              </a:tr>
              <a:tr h="512064">
                <a:tc>
                  <a:txBody>
                    <a:bodyPr/>
                    <a:lstStyle/>
                    <a:p>
                      <a:r>
                        <a:rPr sz="950" b="1">
                          <a:solidFill>
                            <a:srgbClr val="1F375B"/>
                          </a:solidFill>
                          <a:latin typeface="Arial"/>
                          <a:ea typeface="Meiryo UI"/>
                          <a:cs typeface="Meiryo UI"/>
                        </a:rPr>
                        <a:t>汎用デッドバンド/ヒステリシス</a:t>
                      </a:r>
                    </a:p>
                  </a:txBody>
                  <a:tcPr>
                    <a:solidFill>
                      <a:srgbClr val="EEF2F7"/>
                    </a:solidFill>
                  </a:tcPr>
                </a:tc>
                <a:tc>
                  <a:txBody>
                    <a:bodyPr/>
                    <a:lstStyle/>
                    <a:p>
                      <a:r>
                        <a:rPr sz="950" b="0">
                          <a:solidFill>
                            <a:srgbClr val="222222"/>
                          </a:solidFill>
                          <a:latin typeface="Arial"/>
                          <a:ea typeface="Meiryo UI"/>
                          <a:cs typeface="Meiryo UI"/>
                        </a:rPr>
                        <a:t>小変化を無視する閾値処理</a:t>
                      </a:r>
                    </a:p>
                  </a:txBody>
                  <a:tcPr>
                    <a:solidFill>
                      <a:srgbClr val="EEF2F7"/>
                    </a:solidFill>
                  </a:tcPr>
                </a:tc>
                <a:tc>
                  <a:txBody>
                    <a:bodyPr/>
                    <a:lstStyle/>
                    <a:p>
                      <a:r>
                        <a:rPr sz="950" b="0">
                          <a:solidFill>
                            <a:srgbClr val="222222"/>
                          </a:solidFill>
                          <a:latin typeface="Arial"/>
                          <a:ea typeface="Meiryo UI"/>
                          <a:cs typeface="Meiryo UI"/>
                        </a:rPr>
                        <a:t>microがany系統のみリセットしeffective証拠を保持する非対称規則</a:t>
                      </a:r>
                    </a:p>
                  </a:txBody>
                  <a:tcPr>
                    <a:solidFill>
                      <a:srgbClr val="EEF2F7"/>
                    </a:solidFill>
                  </a:tcPr>
                </a:tc>
              </a:tr>
              <a:tr h="512064">
                <a:tc>
                  <a:txBody>
                    <a:bodyPr/>
                    <a:lstStyle/>
                    <a:p>
                      <a:r>
                        <a:rPr sz="950" b="1">
                          <a:solidFill>
                            <a:srgbClr val="1F375B"/>
                          </a:solidFill>
                          <a:latin typeface="Arial"/>
                          <a:ea typeface="Meiryo UI"/>
                          <a:cs typeface="Meiryo UI"/>
                        </a:rPr>
                        <a:t>US20130085715 / US9218527(ストリーミング異常検知)</a:t>
                      </a:r>
                    </a:p>
                  </a:txBody>
                  <a:tcPr>
                    <a:solidFill>
                      <a:srgbClr val="FFFFFF"/>
                    </a:solidFill>
                  </a:tcPr>
                </a:tc>
                <a:tc>
                  <a:txBody>
                    <a:bodyPr/>
                    <a:lstStyle/>
                    <a:p>
                      <a:r>
                        <a:rPr sz="950" b="0">
                          <a:solidFill>
                            <a:srgbClr val="222222"/>
                          </a:solidFill>
                          <a:latin typeface="Arial"/>
                          <a:ea typeface="Meiryo UI"/>
                          <a:cs typeface="Meiryo UI"/>
                        </a:rPr>
                        <a:t>スライディング窓・オンライン処理</a:t>
                      </a:r>
                    </a:p>
                  </a:txBody>
                  <a:tcPr>
                    <a:solidFill>
                      <a:srgbClr val="FFFFFF"/>
                    </a:solidFill>
                  </a:tcPr>
                </a:tc>
                <a:tc>
                  <a:txBody>
                    <a:bodyPr/>
                    <a:lstStyle/>
                    <a:p>
                      <a:r>
                        <a:rPr sz="950" b="0">
                          <a:solidFill>
                            <a:srgbClr val="222222"/>
                          </a:solidFill>
                          <a:latin typeface="Arial"/>
                          <a:ea typeface="Meiryo UI"/>
                          <a:cs typeface="Meiryo UI"/>
                        </a:rPr>
                        <a:t>窓越し未解決エピソードの確認・complete&lt;reset&lt;deadline順序・exactly-once計数</a:t>
                      </a:r>
                    </a:p>
                  </a:txBody>
                  <a:tcPr>
                    <a:solidFill>
                      <a:srgbClr val="FFFFFF"/>
                    </a:solidFill>
                  </a:tcPr>
                </a:tc>
              </a:tr>
              <a:tr h="512064">
                <a:tc>
                  <a:txBody>
                    <a:bodyPr/>
                    <a:lstStyle/>
                    <a:p>
                      <a:r>
                        <a:rPr sz="950" b="1">
                          <a:solidFill>
                            <a:srgbClr val="1F375B"/>
                          </a:solidFill>
                          <a:latin typeface="Arial"/>
                          <a:ea typeface="Meiryo UI"/>
                          <a:cs typeface="Meiryo UI"/>
                        </a:rPr>
                        <a:t>Qualcomm US9330257</a:t>
                      </a:r>
                    </a:p>
                  </a:txBody>
                  <a:tcPr>
                    <a:solidFill>
                      <a:srgbClr val="EEF2F7"/>
                    </a:solidFill>
                  </a:tcPr>
                </a:tc>
                <a:tc>
                  <a:txBody>
                    <a:bodyPr/>
                    <a:lstStyle/>
                    <a:p>
                      <a:r>
                        <a:rPr sz="950" b="0">
                          <a:solidFill>
                            <a:srgbClr val="222222"/>
                          </a:solidFill>
                          <a:latin typeface="Arial"/>
                          <a:ea typeface="Meiryo UI"/>
                          <a:cs typeface="Meiryo UI"/>
                        </a:rPr>
                        <a:t>他分野での識別子除外</a:t>
                      </a:r>
                    </a:p>
                  </a:txBody>
                  <a:tcPr>
                    <a:solidFill>
                      <a:srgbClr val="EEF2F7"/>
                    </a:solidFill>
                  </a:tcPr>
                </a:tc>
                <a:tc>
                  <a:txBody>
                    <a:bodyPr/>
                    <a:lstStyle/>
                    <a:p>
                      <a:r>
                        <a:rPr sz="950" b="0">
                          <a:solidFill>
                            <a:srgbClr val="222222"/>
                          </a:solidFill>
                          <a:latin typeface="Arial"/>
                          <a:ea typeface="Meiryo UI"/>
                          <a:cs typeface="Meiryo UI"/>
                        </a:rPr>
                        <a:t>分類後の記述的偏在集計としての限定利用</a:t>
                      </a:r>
                    </a:p>
                  </a:txBody>
                  <a:tcPr>
                    <a:solidFill>
                      <a:srgbClr val="EEF2F7"/>
                    </a:solidFill>
                  </a:tcPr>
                </a:tc>
              </a:tr>
              <a:tr h="512064">
                <a:tc>
                  <a:txBody>
                    <a:bodyPr/>
                    <a:lstStyle/>
                    <a:p>
                      <a:r>
                        <a:rPr sz="950" b="1">
                          <a:solidFill>
                            <a:srgbClr val="1F375B"/>
                          </a:solidFill>
                          <a:latin typeface="Arial"/>
                          <a:ea typeface="Meiryo UI"/>
                          <a:cs typeface="Meiryo UI"/>
                        </a:rPr>
                        <a:t>Song 2007(条件付き異常検知)</a:t>
                      </a:r>
                    </a:p>
                  </a:txBody>
                  <a:tcPr>
                    <a:solidFill>
                      <a:srgbClr val="FFFFFF"/>
                    </a:solidFill>
                  </a:tcPr>
                </a:tc>
                <a:tc>
                  <a:txBody>
                    <a:bodyPr/>
                    <a:lstStyle/>
                    <a:p>
                      <a:r>
                        <a:rPr sz="950" b="0">
                          <a:solidFill>
                            <a:srgbClr val="222222"/>
                          </a:solidFill>
                          <a:latin typeface="Arial"/>
                          <a:ea typeface="Meiryo UI"/>
                          <a:cs typeface="Meiryo UI"/>
                        </a:rPr>
                        <a:t>規範比較の枠組み</a:t>
                      </a:r>
                    </a:p>
                  </a:txBody>
                  <a:tcPr>
                    <a:solidFill>
                      <a:srgbClr val="FFFFFF"/>
                    </a:solidFill>
                  </a:tcPr>
                </a:tc>
                <a:tc>
                  <a:txBody>
                    <a:bodyPr/>
                    <a:lstStyle/>
                    <a:p>
                      <a:r>
                        <a:rPr sz="950" b="0">
                          <a:solidFill>
                            <a:srgbClr val="222222"/>
                          </a:solidFill>
                          <a:latin typeface="Arial"/>
                          <a:ea typeface="Meiryo UI"/>
                          <a:cs typeface="Meiryo UI"/>
                        </a:rPr>
                        <a:t>本件ではnear-randomと正直に開示し進歩性の根拠に不使用</a:t>
                      </a:r>
                    </a:p>
                  </a:txBody>
                  <a:tcPr>
                    <a:solidFill>
                      <a:srgbClr val="FFFFFF"/>
                    </a:solidFill>
                  </a:tcPr>
                </a:tc>
              </a:tr>
              <a:tr h="512064">
                <a:tc>
                  <a:txBody>
                    <a:bodyPr/>
                    <a:lstStyle/>
                    <a:p>
                      <a:r>
                        <a:rPr sz="950" b="1">
                          <a:solidFill>
                            <a:srgbClr val="1F375B"/>
                          </a:solidFill>
                          <a:latin typeface="Arial"/>
                          <a:ea typeface="Meiryo UI"/>
                          <a:cs typeface="Meiryo UI"/>
                        </a:rPr>
                        <a:t>US12061240(バッテリフリート監視)</a:t>
                      </a:r>
                    </a:p>
                  </a:txBody>
                  <a:tcPr>
                    <a:solidFill>
                      <a:srgbClr val="EEF2F7"/>
                    </a:solidFill>
                  </a:tcPr>
                </a:tc>
                <a:tc>
                  <a:txBody>
                    <a:bodyPr/>
                    <a:lstStyle/>
                    <a:p>
                      <a:r>
                        <a:rPr sz="950" b="0">
                          <a:solidFill>
                            <a:srgbClr val="222222"/>
                          </a:solidFill>
                          <a:latin typeface="Arial"/>
                          <a:ea typeface="Meiryo UI"/>
                          <a:cs typeface="Meiryo UI"/>
                        </a:rPr>
                        <a:t>※独立クレーム未精読(スキャンPDF)</a:t>
                      </a:r>
                    </a:p>
                  </a:txBody>
                  <a:tcPr>
                    <a:solidFill>
                      <a:srgbClr val="EEF2F7"/>
                    </a:solidFill>
                  </a:tcPr>
                </a:tc>
                <a:tc>
                  <a:txBody>
                    <a:bodyPr/>
                    <a:lstStyle/>
                    <a:p>
                      <a:r>
                        <a:rPr sz="950" b="0">
                          <a:solidFill>
                            <a:srgbClr val="222222"/>
                          </a:solidFill>
                          <a:latin typeface="Arial"/>
                          <a:ea typeface="Meiryo UI"/>
                          <a:cs typeface="Meiryo UI"/>
                        </a:rPr>
                        <a:t>— 出願前に精読必須(6/18評価の残課題(b))</a:t>
                      </a:r>
                    </a:p>
                  </a:txBody>
                  <a:tcPr>
                    <a:solidFill>
                      <a:srgbClr val="EEF2F7"/>
                    </a:solidFill>
                  </a:tcPr>
                </a:tc>
              </a:tr>
            </a:tbl>
          </a:graphicData>
        </a:graphic>
      </p:graphicFrame>
      <p:sp>
        <p:nvSpPr>
          <p:cNvPr id="6" name="TextBox 5"/>
          <p:cNvSpPr txBox="1"/>
          <p:nvPr/>
        </p:nvSpPr>
        <p:spPr>
          <a:xfrm>
            <a:off x="457200" y="5349240"/>
            <a:ext cx="11338560" cy="502920"/>
          </a:xfrm>
          <a:prstGeom prst="rect">
            <a:avLst/>
          </a:prstGeom>
          <a:noFill/>
        </p:spPr>
        <p:txBody>
          <a:bodyPr wrap="square">
            <a:spAutoFit/>
          </a:bodyPr>
          <a:lstStyle/>
          <a:p>
            <a:r>
              <a:rPr sz="1100" b="1">
                <a:solidFill>
                  <a:srgbClr val="C0392B"/>
                </a:solidFill>
                <a:latin typeface="Arial"/>
                <a:ea typeface="Meiryo UI"/>
                <a:cs typeface="Meiryo UI"/>
              </a:rPr>
              <a:t>この表はAIサーベイによる下調べ(候補出し)であり、原文確認・FTO/特許性調査は未実施。『似た特許はない』という主張ではない。</a:t>
            </a:r>
          </a:p>
        </p:txBody>
      </p:sp>
      <p:sp>
        <p:nvSpPr>
          <p:cNvPr id="7" name="Rounded Rectangle 6"/>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『これが先行技術です』ではなく『弁理士に最初に見てもらう候補リスト』。差別化欄はクレームドラフトの叩き台。</a:t>
            </a:r>
          </a:p>
        </p:txBody>
      </p:sp>
      <p:sp>
        <p:nvSpPr>
          <p:cNvPr id="8" name="TextBox 7"/>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補足図1 A2の帰無分布 — 5種のシャッフルすべてで実測に届かない</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§7 付録 ─ 補足図</a:t>
            </a:r>
          </a:p>
        </p:txBody>
      </p:sp>
      <p:pic>
        <p:nvPicPr>
          <p:cNvPr id="5" name="Picture 4" descr="negative_control_randomization_distribution.png"/>
          <p:cNvPicPr>
            <a:picLocks noChangeAspect="1"/>
          </p:cNvPicPr>
          <p:nvPr/>
        </p:nvPicPr>
        <p:blipFill>
          <a:blip r:embed="rId2"/>
          <a:stretch>
            <a:fillRect/>
          </a:stretch>
        </p:blipFill>
        <p:spPr>
          <a:xfrm>
            <a:off x="365760" y="987552"/>
            <a:ext cx="6492240" cy="3656982"/>
          </a:xfrm>
          <a:prstGeom prst="rect">
            <a:avLst/>
          </a:prstGeom>
        </p:spPr>
      </p:pic>
      <p:sp>
        <p:nvSpPr>
          <p:cNvPr id="6" name="TextBox 5"/>
          <p:cNvSpPr txBox="1"/>
          <p:nvPr/>
        </p:nvSpPr>
        <p:spPr>
          <a:xfrm>
            <a:off x="365760" y="4662822"/>
            <a:ext cx="6492240" cy="274320"/>
          </a:xfrm>
          <a:prstGeom prst="rect">
            <a:avLst/>
          </a:prstGeom>
          <a:noFill/>
        </p:spPr>
        <p:txBody>
          <a:bodyPr wrap="square">
            <a:spAutoFit/>
          </a:bodyPr>
          <a:lstStyle/>
          <a:p>
            <a:r>
              <a:rPr sz="850" b="0">
                <a:solidFill>
                  <a:srgbClr val="555555"/>
                </a:solidFill>
                <a:latin typeface="Arial"/>
                <a:ea typeface="Meiryo UI"/>
                <a:cs typeface="Meiryo UI"/>
              </a:rPr>
              <a:t>図: negative_control_randomization_distribution.png（dpi=300・匿名化済み）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Arial"/>
                <a:ea typeface="Meiryo UI"/>
                <a:cs typeface="Meiryo UI"/>
              </a:rPr>
              <a:t>【何のグラフか】</a:t>
            </a:r>
          </a:p>
          <a:p>
            <a:r>
              <a:rPr sz="1100" b="0">
                <a:solidFill>
                  <a:srgbClr val="222222"/>
                </a:solidFill>
                <a:latin typeface="Arial"/>
                <a:ea typeface="Meiryo UI"/>
                <a:cs typeface="Meiryo UI"/>
              </a:rPr>
              <a:t>根拠①の分布版。5種類のランダム化(シャッフル)を何百回も繰り返して得た『偶然ならこの範囲』の分布と、実測値の位置。</a:t>
            </a:r>
          </a:p>
          <a:p>
            <a:pPr>
              <a:spcBef>
                <a:spcPts val="500"/>
              </a:spcBef>
            </a:pPr>
            <a:r>
              <a:rPr sz="1200" b="1">
                <a:solidFill>
                  <a:srgbClr val="1F375B"/>
                </a:solidFill>
                <a:latin typeface="Arial"/>
                <a:ea typeface="Meiryo UI"/>
                <a:cs typeface="Meiryo UI"/>
              </a:rPr>
              <a:t>【軸・変数の定義】</a:t>
            </a:r>
          </a:p>
          <a:p>
            <a:r>
              <a:rPr sz="1100" b="0">
                <a:solidFill>
                  <a:srgbClr val="222222"/>
                </a:solidFill>
                <a:latin typeface="Arial"/>
                <a:ea typeface="Meiryo UI"/>
                <a:cs typeface="Meiryo UI"/>
              </a:rPr>
              <a:t>横軸=対照リプリケートの72h応答確率。縦軸=度数。色付きの山=各ランダム化手法の帰無分布(0.22〜0.33)。赤の縦線=実測値(約0.39)。</a:t>
            </a:r>
          </a:p>
          <a:p>
            <a:pPr>
              <a:spcBef>
                <a:spcPts val="500"/>
              </a:spcBef>
            </a:pPr>
            <a:r>
              <a:rPr sz="1200" b="1">
                <a:solidFill>
                  <a:srgbClr val="2CA02C"/>
                </a:solidFill>
                <a:latin typeface="Arial"/>
                <a:ea typeface="Meiryo UI"/>
                <a:cs typeface="Meiryo UI"/>
              </a:rPr>
              <a:t>【主張（言いたいこと）】</a:t>
            </a:r>
          </a:p>
          <a:p>
            <a:r>
              <a:rPr sz="1100" b="0">
                <a:solidFill>
                  <a:srgbClr val="222222"/>
                </a:solidFill>
                <a:latin typeface="Arial"/>
                <a:ea typeface="Meiryo UI"/>
                <a:cs typeface="Meiryo UI"/>
              </a:rPr>
              <a:t>どの帰無分布も0.33以下に収まり、実測0.39はすべての山の右外側に明確なギャップを持って位置する。厳しめの対照(matched_pseudo・rsoc_phase_shift)でも届かない。</a:t>
            </a:r>
          </a:p>
          <a:p>
            <a:pPr>
              <a:spcBef>
                <a:spcPts val="500"/>
              </a:spcBef>
            </a:pPr>
            <a:r>
              <a:rPr sz="1200" b="1">
                <a:solidFill>
                  <a:srgbClr val="B05A00"/>
                </a:solidFill>
                <a:latin typeface="Arial"/>
                <a:ea typeface="Meiryo UI"/>
                <a:cs typeface="Meiryo UI"/>
              </a:rPr>
              <a:t>【読み方・解釈】</a:t>
            </a:r>
          </a:p>
          <a:p>
            <a:r>
              <a:rPr sz="1100" b="0">
                <a:solidFill>
                  <a:srgbClr val="222222"/>
                </a:solidFill>
                <a:latin typeface="Arial"/>
                <a:ea typeface="Meiryo UI"/>
                <a:cs typeface="Meiryo UI"/>
              </a:rPr>
              <a:t>山と赤線の間に重なりが無いことを見る。紫(rsoc_phase_shift)の山が低いのはリプリケート数が少ないため。赤線の上端は凡例ボックスに一部隠れる。</a:t>
            </a:r>
          </a:p>
        </p:txBody>
      </p:sp>
      <p:sp>
        <p:nvSpPr>
          <p:cNvPr id="8" name="Rounded Rectangle 7"/>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『偶然ならこうなる』を5通り×数百回試しても、実測には一度も届かなかった — それが山と赤線の隙間の意味。</a:t>
            </a:r>
          </a:p>
        </p:txBody>
      </p:sp>
      <p:sp>
        <p:nvSpPr>
          <p:cNvPr id="9" name="TextBox 8"/>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補足図2 リセット規則6案のトレードオフ（C2）</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§7 付録 ─ 補足図</a:t>
            </a:r>
          </a:p>
        </p:txBody>
      </p:sp>
      <p:pic>
        <p:nvPicPr>
          <p:cNvPr id="5" name="Picture 4" descr="dual_track_reset_semantics.png"/>
          <p:cNvPicPr>
            <a:picLocks noChangeAspect="1"/>
          </p:cNvPicPr>
          <p:nvPr/>
        </p:nvPicPr>
        <p:blipFill>
          <a:blip r:embed="rId2"/>
          <a:stretch>
            <a:fillRect/>
          </a:stretch>
        </p:blipFill>
        <p:spPr>
          <a:xfrm>
            <a:off x="365760" y="987552"/>
            <a:ext cx="6492240" cy="3183115"/>
          </a:xfrm>
          <a:prstGeom prst="rect">
            <a:avLst/>
          </a:prstGeom>
        </p:spPr>
      </p:pic>
      <p:sp>
        <p:nvSpPr>
          <p:cNvPr id="6" name="TextBox 5"/>
          <p:cNvSpPr txBox="1"/>
          <p:nvPr/>
        </p:nvSpPr>
        <p:spPr>
          <a:xfrm>
            <a:off x="365760" y="4188955"/>
            <a:ext cx="6492240" cy="274320"/>
          </a:xfrm>
          <a:prstGeom prst="rect">
            <a:avLst/>
          </a:prstGeom>
          <a:noFill/>
        </p:spPr>
        <p:txBody>
          <a:bodyPr wrap="square">
            <a:spAutoFit/>
          </a:bodyPr>
          <a:lstStyle/>
          <a:p>
            <a:r>
              <a:rPr sz="850" b="0">
                <a:solidFill>
                  <a:srgbClr val="555555"/>
                </a:solidFill>
                <a:latin typeface="Arial"/>
                <a:ea typeface="Meiryo UI"/>
                <a:cs typeface="Meiryo UI"/>
              </a:rPr>
              <a:t>図: dual_track_reset_semantics.png（dpi=300・匿名化済み）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Arial"/>
                <a:ea typeface="Meiryo UI"/>
                <a:cs typeface="Meiryo UI"/>
              </a:rPr>
              <a:t>【何のグラフか】</a:t>
            </a:r>
          </a:p>
          <a:p>
            <a:r>
              <a:rPr sz="1100" b="0">
                <a:solidFill>
                  <a:srgbClr val="222222"/>
                </a:solidFill>
                <a:latin typeface="Arial"/>
                <a:ea typeface="Meiryo UI"/>
                <a:cs typeface="Meiryo UI"/>
              </a:rPr>
              <a:t>6つのリセット規則(D0〜D5)を『証拠をどれだけ残せるか』と『ユーザーへの強い操作要求がどれだけ出るか』の2軸で比較。</a:t>
            </a:r>
          </a:p>
          <a:p>
            <a:pPr>
              <a:spcBef>
                <a:spcPts val="500"/>
              </a:spcBef>
            </a:pPr>
            <a:r>
              <a:rPr sz="1200" b="1">
                <a:solidFill>
                  <a:srgbClr val="1F375B"/>
                </a:solidFill>
                <a:latin typeface="Arial"/>
                <a:ea typeface="Meiryo UI"/>
                <a:cs typeface="Meiryo UI"/>
              </a:rPr>
              <a:t>【軸・変数の定義】</a:t>
            </a:r>
          </a:p>
          <a:p>
            <a:r>
              <a:rPr sz="1100" b="0">
                <a:solidFill>
                  <a:srgbClr val="222222"/>
                </a:solidFill>
                <a:latin typeface="Arial"/>
                <a:ea typeface="Meiryo UI"/>
                <a:cs typeface="Meiryo UI"/>
              </a:rPr>
              <a:t>横軸=規則(D0〜D5)。緑棒=確定無応答の証拠を保持できた件数(高いほど良い)。赤棒=ハードアクション指示数(低いほど良い)。</a:t>
            </a:r>
          </a:p>
          <a:p>
            <a:pPr>
              <a:spcBef>
                <a:spcPts val="500"/>
              </a:spcBef>
            </a:pPr>
            <a:r>
              <a:rPr sz="1200" b="1">
                <a:solidFill>
                  <a:srgbClr val="2CA02C"/>
                </a:solidFill>
                <a:latin typeface="Arial"/>
                <a:ea typeface="Meiryo UI"/>
                <a:cs typeface="Meiryo UI"/>
              </a:rPr>
              <a:t>【主張（言いたいこと）】</a:t>
            </a:r>
          </a:p>
          <a:p>
            <a:r>
              <a:rPr sz="1100" b="0">
                <a:solidFill>
                  <a:srgbClr val="222222"/>
                </a:solidFill>
                <a:latin typeface="Arial"/>
                <a:ea typeface="Meiryo UI"/>
                <a:cs typeface="Meiryo UI"/>
              </a:rPr>
              <a:t>対称系(D0/D2)は赤が少ないが緑も少ない(≈360)。effective単独(D1/D3)は緑が多い(≈475)が赤が倍増(≈210)。非対称D4(提案)は緑≈475のまま赤≈97 — 両立を達成。適応型D5はさらに良い(緑≈600/赤≈83)。</a:t>
            </a:r>
          </a:p>
          <a:p>
            <a:pPr>
              <a:spcBef>
                <a:spcPts val="500"/>
              </a:spcBef>
            </a:pPr>
            <a:r>
              <a:rPr sz="1200" b="1">
                <a:solidFill>
                  <a:srgbClr val="B05A00"/>
                </a:solidFill>
                <a:latin typeface="Arial"/>
                <a:ea typeface="Meiryo UI"/>
                <a:cs typeface="Meiryo UI"/>
              </a:rPr>
              <a:t>【読み方・解釈】</a:t>
            </a:r>
          </a:p>
          <a:p>
            <a:r>
              <a:rPr sz="1100" b="0">
                <a:solidFill>
                  <a:srgbClr val="222222"/>
                </a:solidFill>
                <a:latin typeface="Arial"/>
                <a:ea typeface="Meiryo UI"/>
                <a:cs typeface="Meiryo UI"/>
              </a:rPr>
              <a:t>緑が高く赤が低い方式ほど良い。D4が主実装、D5(適応閾値)は代替実施形態として確保(付録C)。数値は棒に印字されておらず軸からの読み取り。</a:t>
            </a:r>
          </a:p>
        </p:txBody>
      </p:sp>
      <p:sp>
        <p:nvSpPr>
          <p:cNvPr id="8" name="Rounded Rectangle 7"/>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『証拠を残す』と『ユーザーを煩わせない』は普通トレードオフ — 非対称リセットはその両取りができることを示す図。</a:t>
            </a:r>
          </a:p>
        </p:txBody>
      </p:sp>
      <p:sp>
        <p:nvSpPr>
          <p:cNvPr id="9" name="TextBox 8"/>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補足図3 ストレージ比と等価性 — statelessは増やしても届かない（D）</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§7 付録 ─ 補足図</a:t>
            </a:r>
          </a:p>
        </p:txBody>
      </p:sp>
      <p:pic>
        <p:nvPicPr>
          <p:cNvPr id="5" name="Picture 4" descr="storage_vs_equivalence.png"/>
          <p:cNvPicPr>
            <a:picLocks noChangeAspect="1"/>
          </p:cNvPicPr>
          <p:nvPr/>
        </p:nvPicPr>
        <p:blipFill>
          <a:blip r:embed="rId2"/>
          <a:stretch>
            <a:fillRect/>
          </a:stretch>
        </p:blipFill>
        <p:spPr>
          <a:xfrm>
            <a:off x="365760" y="987552"/>
            <a:ext cx="6492240" cy="3942683"/>
          </a:xfrm>
          <a:prstGeom prst="rect">
            <a:avLst/>
          </a:prstGeom>
        </p:spPr>
      </p:pic>
      <p:sp>
        <p:nvSpPr>
          <p:cNvPr id="6" name="TextBox 5"/>
          <p:cNvSpPr txBox="1"/>
          <p:nvPr/>
        </p:nvSpPr>
        <p:spPr>
          <a:xfrm>
            <a:off x="365760" y="4948523"/>
            <a:ext cx="6492240" cy="274320"/>
          </a:xfrm>
          <a:prstGeom prst="rect">
            <a:avLst/>
          </a:prstGeom>
          <a:noFill/>
        </p:spPr>
        <p:txBody>
          <a:bodyPr wrap="square">
            <a:spAutoFit/>
          </a:bodyPr>
          <a:lstStyle/>
          <a:p>
            <a:r>
              <a:rPr sz="850" b="0">
                <a:solidFill>
                  <a:srgbClr val="555555"/>
                </a:solidFill>
                <a:latin typeface="Arial"/>
                <a:ea typeface="Meiryo UI"/>
                <a:cs typeface="Meiryo UI"/>
              </a:rPr>
              <a:t>図: storage_vs_equivalence.png（dpi=300・匿名化済み）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Arial"/>
                <a:ea typeface="Meiryo UI"/>
                <a:cs typeface="Meiryo UI"/>
              </a:rPr>
              <a:t>【何のグラフか】</a:t>
            </a:r>
          </a:p>
          <a:p>
            <a:r>
              <a:rPr sz="1100" b="0">
                <a:solidFill>
                  <a:srgbClr val="222222"/>
                </a:solidFill>
                <a:latin typeface="Arial"/>
                <a:ea typeface="Meiryo UI"/>
                <a:cs typeface="Meiryo UI"/>
              </a:rPr>
              <a:t>保存データ量(全生データ比)を横軸に、全履歴版との判定一致率を縦軸に取った、台帳の費用対効果の図。</a:t>
            </a:r>
          </a:p>
          <a:p>
            <a:pPr>
              <a:spcBef>
                <a:spcPts val="500"/>
              </a:spcBef>
            </a:pPr>
            <a:r>
              <a:rPr sz="1200" b="1">
                <a:solidFill>
                  <a:srgbClr val="1F375B"/>
                </a:solidFill>
                <a:latin typeface="Arial"/>
                <a:ea typeface="Meiryo UI"/>
                <a:cs typeface="Meiryo UI"/>
              </a:rPr>
              <a:t>【軸・変数の定義】</a:t>
            </a:r>
          </a:p>
          <a:p>
            <a:r>
              <a:rPr sz="1100" b="0">
                <a:solidFill>
                  <a:srgbClr val="222222"/>
                </a:solidFill>
                <a:latin typeface="Arial"/>
                <a:ea typeface="Meiryo UI"/>
                <a:cs typeface="Meiryo UI"/>
              </a:rPr>
              <a:t>横軸=ストレージ比(0.04〜0.52)。縦軸=応答判定の一致率(1.00=完全一致)。橙=stateful(台帳あり)、青=stateless(台帳なし)。</a:t>
            </a:r>
          </a:p>
          <a:p>
            <a:pPr>
              <a:spcBef>
                <a:spcPts val="500"/>
              </a:spcBef>
            </a:pPr>
            <a:r>
              <a:rPr sz="1200" b="1">
                <a:solidFill>
                  <a:srgbClr val="2CA02C"/>
                </a:solidFill>
                <a:latin typeface="Arial"/>
                <a:ea typeface="Meiryo UI"/>
                <a:cs typeface="Meiryo UI"/>
              </a:rPr>
              <a:t>【主張（言いたいこと）】</a:t>
            </a:r>
          </a:p>
          <a:p>
            <a:r>
              <a:rPr sz="1100" b="0">
                <a:solidFill>
                  <a:srgbClr val="222222"/>
                </a:solidFill>
                <a:latin typeface="Arial"/>
                <a:ea typeface="Meiryo UI"/>
                <a:cs typeface="Meiryo UI"/>
              </a:rPr>
              <a:t>statefulはストレージ比≈0.04(約4%)でも一致率1.00の水平線。statelessは保存を増やしても≈0.986で頭打ちし、1.00に到達しない。</a:t>
            </a:r>
          </a:p>
          <a:p>
            <a:pPr>
              <a:spcBef>
                <a:spcPts val="500"/>
              </a:spcBef>
            </a:pPr>
            <a:r>
              <a:rPr sz="1200" b="1">
                <a:solidFill>
                  <a:srgbClr val="B05A00"/>
                </a:solidFill>
                <a:latin typeface="Arial"/>
                <a:ea typeface="Meiryo UI"/>
                <a:cs typeface="Meiryo UI"/>
              </a:rPr>
              <a:t>【読み方・解釈】</a:t>
            </a:r>
          </a:p>
          <a:p>
            <a:r>
              <a:rPr sz="1100" b="0">
                <a:solidFill>
                  <a:srgbClr val="222222"/>
                </a:solidFill>
                <a:latin typeface="Arial"/>
                <a:ea typeface="Meiryo UI"/>
                <a:cs typeface="Meiryo UI"/>
              </a:rPr>
              <a:t>橙が最初から1.00に張り付いていること、青が右へ行っても届かないことの2点を見る。『データを増やす』では解決せず『何を覚えるか(台帳)』が本質であることを示す。</a:t>
            </a:r>
          </a:p>
        </p:txBody>
      </p:sp>
      <p:sp>
        <p:nvSpPr>
          <p:cNvPr id="8" name="Rounded Rectangle 7"/>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力業(保存を増やす)では完全一致に届かない。賢いメモ(台帳)なら4%の容量で足りる — 発明の価値がこの1枚に出ている。</a:t>
            </a:r>
          </a:p>
        </p:txBody>
      </p:sp>
      <p:sp>
        <p:nvSpPr>
          <p:cNvPr id="9" name="TextBox 8"/>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46304"/>
            <a:ext cx="8805545" cy="658368"/>
          </a:xfrm>
        </p:spPr>
        <p:txBody>
          <a:bodyPr wrap="square"/>
          <a:lstStyle/>
          <a:p>
            <a:r>
              <a:rPr sz="2100" b="1">
                <a:solidFill>
                  <a:srgbClr val="1E0113"/>
                </a:solidFill>
                <a:latin typeface="Arial"/>
                <a:ea typeface="Meiryo UI"/>
                <a:cs typeface="Meiryo UI"/>
              </a:rPr>
              <a:t>補足図4 打ち切り注入の安全性（E）</a:t>
            </a:r>
          </a:p>
        </p:txBody>
      </p:sp>
      <p:cxnSp>
        <p:nvCxnSpPr>
          <p:cNvPr id="3" name="Connector 2"/>
          <p:cNvCxnSpPr/>
          <p:nvPr/>
        </p:nvCxnSpPr>
        <p:spPr>
          <a:xfrm>
            <a:off x="411480" y="896112"/>
            <a:ext cx="11365865" cy="0"/>
          </a:xfrm>
          <a:prstGeom prst="line">
            <a:avLst/>
          </a:prstGeom>
          <a:ln w="25400">
            <a:solidFill>
              <a:srgbClr val="E1251B"/>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308465" y="237744"/>
            <a:ext cx="2514600" cy="402336"/>
          </a:xfrm>
          <a:prstGeom prst="round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tIns="12700" bIns="12700"/>
          <a:lstStyle/>
          <a:p>
            <a:pPr algn="ctr"/>
            <a:r>
              <a:rPr sz="1050" b="1">
                <a:solidFill>
                  <a:srgbClr val="FFFFFF"/>
                </a:solidFill>
                <a:latin typeface="Arial"/>
                <a:ea typeface="Meiryo UI"/>
                <a:cs typeface="Meiryo UI"/>
              </a:rPr>
              <a:t>§7 付録 ─ 補足図</a:t>
            </a:r>
          </a:p>
        </p:txBody>
      </p:sp>
      <p:pic>
        <p:nvPicPr>
          <p:cNvPr id="5" name="Picture 4" descr="censor_injection_safety.png"/>
          <p:cNvPicPr>
            <a:picLocks noChangeAspect="1"/>
          </p:cNvPicPr>
          <p:nvPr/>
        </p:nvPicPr>
        <p:blipFill>
          <a:blip r:embed="rId2"/>
          <a:stretch>
            <a:fillRect/>
          </a:stretch>
        </p:blipFill>
        <p:spPr>
          <a:xfrm>
            <a:off x="365760" y="987552"/>
            <a:ext cx="6492240" cy="3939302"/>
          </a:xfrm>
          <a:prstGeom prst="rect">
            <a:avLst/>
          </a:prstGeom>
        </p:spPr>
      </p:pic>
      <p:sp>
        <p:nvSpPr>
          <p:cNvPr id="6" name="TextBox 5"/>
          <p:cNvSpPr txBox="1"/>
          <p:nvPr/>
        </p:nvSpPr>
        <p:spPr>
          <a:xfrm>
            <a:off x="365760" y="4945142"/>
            <a:ext cx="6492240" cy="274320"/>
          </a:xfrm>
          <a:prstGeom prst="rect">
            <a:avLst/>
          </a:prstGeom>
          <a:noFill/>
        </p:spPr>
        <p:txBody>
          <a:bodyPr wrap="square">
            <a:spAutoFit/>
          </a:bodyPr>
          <a:lstStyle/>
          <a:p>
            <a:r>
              <a:rPr sz="850" b="0">
                <a:solidFill>
                  <a:srgbClr val="555555"/>
                </a:solidFill>
                <a:latin typeface="Arial"/>
                <a:ea typeface="Meiryo UI"/>
                <a:cs typeface="Meiryo UI"/>
              </a:rPr>
              <a:t>図: censor_injection_safety.png（dpi=300・匿名化済み）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Arial"/>
                <a:ea typeface="Meiryo UI"/>
                <a:cs typeface="Meiryo UI"/>
              </a:rPr>
              <a:t>【何のグラフか】</a:t>
            </a:r>
          </a:p>
          <a:p>
            <a:r>
              <a:rPr sz="1100" b="0">
                <a:solidFill>
                  <a:srgbClr val="222222"/>
                </a:solidFill>
                <a:latin typeface="Arial"/>
                <a:ea typeface="Meiryo UI"/>
                <a:cs typeface="Meiryo UI"/>
              </a:rPr>
              <a:t>観測を人工的に途中で打ち切った(truncate)ときに、『本当は保留にすべきケース』を誤って無応答と確定してしまう件数の比較。</a:t>
            </a:r>
          </a:p>
          <a:p>
            <a:pPr>
              <a:spcBef>
                <a:spcPts val="500"/>
              </a:spcBef>
            </a:pPr>
            <a:r>
              <a:rPr sz="1200" b="1">
                <a:solidFill>
                  <a:srgbClr val="1F375B"/>
                </a:solidFill>
                <a:latin typeface="Arial"/>
                <a:ea typeface="Meiryo UI"/>
                <a:cs typeface="Meiryo UI"/>
              </a:rPr>
              <a:t>【軸・変数の定義】</a:t>
            </a:r>
          </a:p>
          <a:p>
            <a:r>
              <a:rPr sz="1100" b="0">
                <a:solidFill>
                  <a:srgbClr val="222222"/>
                </a:solidFill>
                <a:latin typeface="Arial"/>
                <a:ea typeface="Meiryo UI"/>
                <a:cs typeface="Meiryo UI"/>
              </a:rPr>
              <a:t>横軸=打ち切りregime(72h/168h時点で切断)。縦軸=誤確定無応答の件数。4方式(naive/graded/binary gate/proposed)。</a:t>
            </a:r>
          </a:p>
          <a:p>
            <a:pPr>
              <a:spcBef>
                <a:spcPts val="500"/>
              </a:spcBef>
            </a:pPr>
            <a:r>
              <a:rPr sz="1200" b="1">
                <a:solidFill>
                  <a:srgbClr val="2CA02C"/>
                </a:solidFill>
                <a:latin typeface="Arial"/>
                <a:ea typeface="Meiryo UI"/>
                <a:cs typeface="Meiryo UI"/>
              </a:rPr>
              <a:t>【主張（言いたいこと）】</a:t>
            </a:r>
          </a:p>
          <a:p>
            <a:r>
              <a:rPr sz="1100" b="0">
                <a:solidFill>
                  <a:srgbClr val="222222"/>
                </a:solidFill>
                <a:latin typeface="Arial"/>
                <a:ea typeface="Meiryo UI"/>
                <a:cs typeface="Meiryo UI"/>
              </a:rPr>
              <a:t>naive(緑)だけが両regimeで約650件を誤確定。graded/binary gate/proposed(提案)は0件(棒が見えない=ゼロ)。</a:t>
            </a:r>
          </a:p>
          <a:p>
            <a:pPr>
              <a:spcBef>
                <a:spcPts val="500"/>
              </a:spcBef>
            </a:pPr>
            <a:r>
              <a:rPr sz="1200" b="1">
                <a:solidFill>
                  <a:srgbClr val="B05A00"/>
                </a:solidFill>
                <a:latin typeface="Arial"/>
                <a:ea typeface="Meiryo UI"/>
                <a:cs typeface="Meiryo UI"/>
              </a:rPr>
              <a:t>【読み方・解釈】</a:t>
            </a:r>
          </a:p>
          <a:p>
            <a:r>
              <a:rPr sz="1100" b="0">
                <a:solidFill>
                  <a:srgbClr val="222222"/>
                </a:solidFill>
                <a:latin typeface="Arial"/>
                <a:ea typeface="Meiryo UI"/>
                <a:cs typeface="Meiryo UI"/>
              </a:rPr>
              <a:t>棒が『無い』ことが良い結果。censored(打ち切り)を無応答に数えないという規律の効果が最も端的に出る検証。y軸ラベルの末尾が画像上端で切れている点はご容赦。</a:t>
            </a:r>
          </a:p>
        </p:txBody>
      </p:sp>
      <p:sp>
        <p:nvSpPr>
          <p:cNvPr id="8" name="Rounded Rectangle 7"/>
          <p:cNvSpPr/>
          <p:nvPr/>
        </p:nvSpPr>
        <p:spPr>
          <a:xfrm>
            <a:off x="320040" y="5943600"/>
            <a:ext cx="11548745" cy="475488"/>
          </a:xfrm>
          <a:prstGeom prst="roundRect">
            <a:avLst/>
          </a:prstGeom>
          <a:solidFill>
            <a:srgbClr val="F4F4F4"/>
          </a:solidFill>
          <a:ln>
            <a:solidFill>
              <a:srgbClr val="E1251B"/>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333333"/>
                </a:solidFill>
                <a:latin typeface="Arial"/>
                <a:ea typeface="Meiryo UI"/>
                <a:cs typeface="Meiryo UI"/>
              </a:rPr>
              <a:t>💡 『データがそこで終わっただけ』を『応答しなかった』と混同しない — 冤罪防止の仕組みが機能している証拠。</a:t>
            </a:r>
          </a:p>
        </p:txBody>
      </p:sp>
      <p:sp>
        <p:nvSpPr>
          <p:cNvPr id="9" name="TextBox 8"/>
          <p:cNvSpPr txBox="1"/>
          <p:nvPr/>
        </p:nvSpPr>
        <p:spPr>
          <a:xfrm>
            <a:off x="274320" y="6510528"/>
            <a:ext cx="11182985" cy="292608"/>
          </a:xfrm>
          <a:prstGeom prst="rect">
            <a:avLst/>
          </a:prstGeom>
          <a:noFill/>
        </p:spPr>
        <p:txBody>
          <a:bodyPr wrap="square">
            <a:spAutoFit/>
          </a:bodyPr>
          <a:lstStyle/>
          <a:p>
            <a:r>
              <a:rPr sz="800" b="0">
                <a:solidFill>
                  <a:srgbClr val="555555"/>
                </a:solidFill>
                <a:latin typeface="Arial"/>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3025" y="6510528"/>
            <a:ext cx="502920" cy="274320"/>
          </a:xfrm>
          <a:prstGeom prst="rect">
            <a:avLst/>
          </a:prstGeom>
          <a:noFill/>
        </p:spPr>
        <p:txBody>
          <a:bodyPr wrap="square">
            <a:spAutoFit/>
          </a:bodyPr>
          <a:lstStyle/>
          <a:p>
            <a:pPr algn="ctr"/>
            <a:r>
              <a:rPr sz="900" b="0">
                <a:solidFill>
                  <a:srgbClr val="555555"/>
                </a:solidFill>
                <a:latin typeface="Arial"/>
                <a:ea typeface="Meiryo UI"/>
                <a:cs typeface="Meiryo UI"/>
              </a:rPr>
              <a:t>44</a:t>
            </a:r>
          </a:p>
        </p:txBody>
      </p:sp>
    </p:spTree>
  </p:cSld>
  <p:clrMapOvr>
    <a:masterClrMapping/>
  </p:clrMapOvr>
</p:sld>
</file>

<file path=ppt/theme/theme1.xml><?xml version="1.0" encoding="utf-8"?>
<a:theme xmlns:a="http://schemas.openxmlformats.org/drawingml/2006/main" name="Lenovo Master">
  <a:themeElements>
    <a:clrScheme name="OneLenovo">
      <a:dk1>
        <a:srgbClr val="000000"/>
      </a:dk1>
      <a:lt1>
        <a:sysClr val="window" lastClr="FFFFFF"/>
      </a:lt1>
      <a:dk2>
        <a:srgbClr val="F26A52"/>
      </a:dk2>
      <a:lt2>
        <a:srgbClr val="4E444E"/>
      </a:lt2>
      <a:accent1>
        <a:srgbClr val="E1251B"/>
      </a:accent1>
      <a:accent2>
        <a:srgbClr val="871C23"/>
      </a:accent2>
      <a:accent3>
        <a:srgbClr val="D9C1D8"/>
      </a:accent3>
      <a:accent4>
        <a:srgbClr val="4D144A"/>
      </a:accent4>
      <a:accent5>
        <a:srgbClr val="C9D0F0"/>
      </a:accent5>
      <a:accent6>
        <a:srgbClr val="11184F"/>
      </a:accent6>
      <a:hlink>
        <a:srgbClr val="3046AD"/>
      </a:hlink>
      <a:folHlink>
        <a:srgbClr val="3046AD"/>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B8252E"/>
        </a:solidFill>
        <a:ln>
          <a:noFill/>
        </a:ln>
      </a:spPr>
      <a:bodyPr lIns="182880" tIns="182880" rIns="182880" bIns="182880" rtlCol="0" anchor="t"/>
      <a:lstStyle>
        <a:defPPr algn="l">
          <a:defRPr sz="1600" dirty="0" err="1">
            <a:solidFill>
              <a:prstClr val="white"/>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800" dirty="0" err="1" smtClean="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Lenovo_Restricted-Template" id="{04642632-A1EC-4745-8792-B6C5F790D4A0}" vid="{803934CD-BBFC-440D-B942-A5EB9598BD5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7E8F50E37F08F4A860DB7BF64F39772" ma:contentTypeVersion="20" ma:contentTypeDescription="Create a new document." ma:contentTypeScope="" ma:versionID="5a4c9791647d269e61099ed5b38b8fee">
  <xsd:schema xmlns:xsd="http://www.w3.org/2001/XMLSchema" xmlns:xs="http://www.w3.org/2001/XMLSchema" xmlns:p="http://schemas.microsoft.com/office/2006/metadata/properties" xmlns:ns1="http://schemas.microsoft.com/sharepoint/v3" xmlns:ns3="fbc213cb-2322-46ee-a57c-56e573321373" xmlns:ns4="b888f069-4316-4301-b40e-a42e2759f60d" targetNamespace="http://schemas.microsoft.com/office/2006/metadata/properties" ma:root="true" ma:fieldsID="a118a8ee25b37fc4423ca1cf298d40e5" ns1:_="" ns3:_="" ns4:_="">
    <xsd:import namespace="http://schemas.microsoft.com/sharepoint/v3"/>
    <xsd:import namespace="fbc213cb-2322-46ee-a57c-56e573321373"/>
    <xsd:import namespace="b888f069-4316-4301-b40e-a42e2759f60d"/>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4:SharedWithUsers" minOccurs="0"/>
                <xsd:element ref="ns4:SharedWithDetails" minOccurs="0"/>
                <xsd:element ref="ns4:SharingHintHash" minOccurs="0"/>
                <xsd:element ref="ns1:_ip_UnifiedCompliancePolicyProperties" minOccurs="0"/>
                <xsd:element ref="ns1:_ip_UnifiedCompliancePolicyUIAction"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c213cb-2322-46ee-a57c-56e5733213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element name="_activity" ma:index="24" nillable="true" ma:displayName="_activity" ma:hidden="true" ma:internalName="_activity">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ystemTags" ma:index="26" nillable="true" ma:displayName="MediaServiceSystemTags" ma:hidden="true" ma:internalName="MediaServiceSystemTags" ma:readOnly="true">
      <xsd:simpleType>
        <xsd:restriction base="dms:Note"/>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888f069-4316-4301-b40e-a42e2759f60d"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fbc213cb-2322-46ee-a57c-56e573321373" xsi:nil="true"/>
  </documentManagement>
</p:properties>
</file>

<file path=customXml/itemProps1.xml><?xml version="1.0" encoding="utf-8"?>
<ds:datastoreItem xmlns:ds="http://schemas.openxmlformats.org/officeDocument/2006/customXml" ds:itemID="{9177F4AA-1638-4FFC-8CD0-B6BBACAE180F}">
  <ds:schemaRefs>
    <ds:schemaRef ds:uri="http://schemas.microsoft.com/sharepoint/v3/contenttype/forms"/>
  </ds:schemaRefs>
</ds:datastoreItem>
</file>

<file path=customXml/itemProps2.xml><?xml version="1.0" encoding="utf-8"?>
<ds:datastoreItem xmlns:ds="http://schemas.openxmlformats.org/officeDocument/2006/customXml" ds:itemID="{7DBD883D-D57E-4031-841C-D3F5783A4F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bc213cb-2322-46ee-a57c-56e573321373"/>
    <ds:schemaRef ds:uri="b888f069-4316-4301-b40e-a42e2759f6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C6CFE95-771C-4802-B140-C778003BEB93}">
  <ds:schemaRefs>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http://purl.org/dc/dcmitype/"/>
    <ds:schemaRef ds:uri="http://purl.org/dc/elements/1.1/"/>
    <ds:schemaRef ds:uri="fbc213cb-2322-46ee-a57c-56e573321373"/>
    <ds:schemaRef ds:uri="http://schemas.microsoft.com/sharepoint/v3"/>
    <ds:schemaRef ds:uri="b888f069-4316-4301-b40e-a42e2759f60d"/>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24401</TotalTime>
  <Words>775</Words>
  <Application>Microsoft Office PowerPoint</Application>
  <PresentationFormat>ユーザー設定</PresentationFormat>
  <Paragraphs>133</Paragraphs>
  <Slides>11</Slides>
  <Notes>4</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11</vt:i4>
      </vt:variant>
    </vt:vector>
  </HeadingPairs>
  <TitlesOfParts>
    <vt:vector size="15" baseType="lpstr">
      <vt:lpstr>Arial</vt:lpstr>
      <vt:lpstr>Calibri</vt:lpstr>
      <vt:lpstr>Roboto</vt:lpstr>
      <vt:lpstr>Lenovo Master</vt:lpstr>
      <vt:lpstr>Lenovo restricted presentation template </vt:lpstr>
      <vt:lpstr>Section header</vt:lpstr>
      <vt:lpstr>Slide master layouts</vt:lpstr>
      <vt:lpstr>Template best practices</vt:lpstr>
      <vt:lpstr>Installing theme files</vt:lpstr>
      <vt:lpstr>Titles are Arial, bold, 32 pt, sentence case</vt:lpstr>
      <vt:lpstr>Two column layout</vt:lpstr>
      <vt:lpstr>Color scheme</vt:lpstr>
      <vt:lpstr>Colors for light slides</vt:lpstr>
      <vt:lpstr>Colors for dark slides</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Lenovo lite presentation template</dc:title>
  <dc:creator>Parker Ress</dc:creator>
  <cp:lastModifiedBy>Yohei Maeda6</cp:lastModifiedBy>
  <cp:revision>9</cp:revision>
  <dcterms:created xsi:type="dcterms:W3CDTF">2022-07-21T13:46:36Z</dcterms:created>
  <dcterms:modified xsi:type="dcterms:W3CDTF">2026-07-06T07:34:25Z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0x010100D7E8F50E37F08F4A860DB7BF64F39772</vt:lpwstr>
  </property>
</Properties>
</file>