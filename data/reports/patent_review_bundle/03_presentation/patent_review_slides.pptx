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355"/>
                </a:solidFill>
                <a:latin typeface="Meiryo"/>
              </a:rPr>
              <a:t>バッテリ燃料計 SoH凍結／FCC無応答の検出・原因切り分けアルゴリズム</a:t>
            </a:r>
          </a:p>
          <a:p>
            <a:r>
              <a:rPr sz="1800">
                <a:solidFill>
                  <a:srgbClr val="555555"/>
                </a:solidFill>
                <a:latin typeface="Meiryo"/>
              </a:rPr>
              <a:t>特許出願レビュー — 特許性評価  （整理番号(仮) BUA-FCC-FREEZE-2026）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55555"/>
                </a:solidFill>
                <a:latin typeface="Meiryo"/>
              </a:rPr>
              <a:t>2026-06-18 ／ 技術的特許性評価（法的助言ではありません・先行特許番号は未検証・出願前に弁理士レビュー必須）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355"/>
                </a:solidFill>
                <a:latin typeface="Meiryo"/>
              </a:rPr>
              <a:t>S2. 課題 ─ SoH凍結は静的に見えない</a:t>
            </a:r>
          </a:p>
        </p:txBody>
      </p:sp>
      <p:pic>
        <p:nvPicPr>
          <p:cNvPr id="3" name="Picture 2" descr="soh_overlay_by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4159" y="1143000"/>
            <a:ext cx="8723376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55555"/>
                </a:solidFill>
                <a:latin typeface="Meiryo"/>
              </a:rPr>
              <a:t>SoH=FCC×100/DesignCapacity。SoHはFCCのステップ更新時のみ動く。凍結は健全な浅充放電とも外形が同じ＝静的に判別不能。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355"/>
                </a:solidFill>
                <a:latin typeface="Meiryo"/>
              </a:rPr>
              <a:t>S3. 凍結は使用挙動から予測できない（=HW/FW起因）</a:t>
            </a:r>
          </a:p>
        </p:txBody>
      </p:sp>
      <p:pic>
        <p:nvPicPr>
          <p:cNvPr id="3" name="Picture 2" descr="very_stale_xgb_sh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711" y="1143000"/>
            <a:ext cx="5668272" cy="484631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55555"/>
                </a:solidFill>
                <a:latin typeface="Meiryo"/>
              </a:rPr>
              <a:t>公平領域AUC≈0.54。min_rsoc は『深放電ほど凍結』の反usage方向 → 行動で説明不能。これが『予測』から『機会条件付き無応答の監査』への転換動機。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355"/>
                </a:solidFill>
                <a:latin typeface="Meiryo"/>
              </a:rPr>
              <a:t>S4. 発明の核アイデア（機会 × 応答 の直積）</a:t>
            </a:r>
          </a:p>
        </p:txBody>
      </p:sp>
      <p:pic>
        <p:nvPicPr>
          <p:cNvPr id="3" name="Picture 2" descr="opportunity_vs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251" y="1143000"/>
            <a:ext cx="7049192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55555"/>
                </a:solidFill>
                <a:latin typeface="Meiryo"/>
              </a:rPr>
              <a:t>機会=RSOCの high→low→high 遠足(80→20→80)。応答=機会後72h窓内のFCC有効ステップ(≥50mWh)。『機会あり×応答なし』を検出。censored/unknown/休眠は無応答に算入しない。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355"/>
                </a:solidFill>
                <a:latin typeface="Meiryo"/>
              </a:rPr>
              <a:t>S5. 検出パイプライン（ファネル）</a:t>
            </a:r>
          </a:p>
        </p:txBody>
      </p:sp>
      <p:pic>
        <p:nvPicPr>
          <p:cNvPr id="3" name="Picture 2" descr="final_funnel_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980" y="1143000"/>
            <a:ext cx="8671734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55555"/>
                </a:solidFill>
                <a:latin typeface="Meiryo"/>
              </a:rPr>
              <a:t>全観測→平坦尾部→機会検出→応答判定→品質ゲート→二分岐。各段の絞り込み。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355"/>
                </a:solidFill>
                <a:latin typeface="Meiryo"/>
              </a:rPr>
              <a:t>S6. 二分岐：gauge-recalibration vs firmware-suspected</a:t>
            </a:r>
          </a:p>
        </p:txBody>
      </p:sp>
      <p:pic>
        <p:nvPicPr>
          <p:cNvPr id="3" name="Picture 2" descr="final_label_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066" y="1143000"/>
            <a:ext cx="7873563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55555"/>
                </a:solidFill>
                <a:latin typeface="Meiryo"/>
              </a:rPr>
              <a:t>機会反復×無応答→FW疑い。機会皆無→再較正要。機種名・ベンダ名は判定に一切使わない（モデル非依存）。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355"/>
                </a:solidFill>
                <a:latin typeface="Meiryo"/>
              </a:rPr>
              <a:t>S7. FW証拠：無応答機会 × サイクル</a:t>
            </a:r>
          </a:p>
        </p:txBody>
      </p:sp>
      <p:pic>
        <p:nvPicPr>
          <p:cNvPr id="3" name="Picture 2" descr="tail_unresponded_vs_cyc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9959" y="1143000"/>
            <a:ext cx="6131776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55555"/>
                </a:solidFill>
                <a:latin typeface="Meiryo"/>
              </a:rPr>
              <a:t>FW疑い群は active より多くサイクル・深放電するのにFCC無応答。『使えば直る』前提が崩れた群。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355"/>
                </a:solidFill>
                <a:latin typeface="Meiryo"/>
              </a:rPr>
              <a:t>S8. 閾値正当化① 有効ステップ ≥50mWh</a:t>
            </a:r>
          </a:p>
        </p:txBody>
      </p:sp>
      <p:pic>
        <p:nvPicPr>
          <p:cNvPr id="3" name="Picture 2" descr="effective_fcc_step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389" y="1143000"/>
            <a:ext cx="10260917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55555"/>
                </a:solidFill>
                <a:latin typeface="Meiryo"/>
              </a:rPr>
              <a:t>1mWh(any-change)は量子化ノイズ(micro-wobble)を拾う。50mWhを『有効再学習』と定義。感度カーブで妥当性。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355"/>
                </a:solidFill>
                <a:latin typeface="Meiryo"/>
              </a:rPr>
              <a:t>S9. 閾値正当化② 応答窓 72h</a:t>
            </a:r>
          </a:p>
        </p:txBody>
      </p:sp>
      <p:pic>
        <p:nvPicPr>
          <p:cNvPr id="3" name="Picture 2" descr="response_delay_c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613" y="1143000"/>
            <a:ext cx="7144468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55555"/>
                </a:solidFill>
                <a:latin typeface="Meiryo"/>
              </a:rPr>
              <a:t>FCC応答遅延CDFは72hで約95%(0.9513)をカバー → 応答窓=72hの根拠。24/72/168h併記。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355"/>
                </a:solidFill>
                <a:latin typeface="Meiryo"/>
              </a:rPr>
              <a:t>S10. 閾値正当化③ 無応答計数しきい k</a:t>
            </a:r>
          </a:p>
        </p:txBody>
      </p:sp>
      <p:pic>
        <p:nvPicPr>
          <p:cNvPr id="3" name="Picture 2" descr="no_response_probability_by_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9700" y="1143000"/>
            <a:ext cx="7252294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55555"/>
                </a:solidFill>
                <a:latin typeface="Meiryo"/>
              </a:rPr>
              <a:t>健全応答確率下で連続k回無応答の確率（k=2で0.013）→ 計数閾値の統計的根拠。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355"/>
                </a:solidFill>
                <a:latin typeface="Meiryo"/>
              </a:rPr>
              <a:t>S11. ロバスト性：応答窓感度（Jaccard=1.0）</a:t>
            </a:r>
          </a:p>
        </p:txBody>
      </p:sp>
      <p:pic>
        <p:nvPicPr>
          <p:cNvPr id="3" name="Picture 2" descr="response_window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426" y="1143000"/>
            <a:ext cx="8560842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55555"/>
                </a:solidFill>
                <a:latin typeface="Meiryo"/>
              </a:rPr>
              <a:t>24/72/168h 摂動でFW/GAUGE集合のJaccard=1.0 → 閾値が恣意的でない実証（進歩性補強・反『ルーチン最適化』）。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355"/>
                </a:solidFill>
                <a:latin typeface="Meiryo"/>
              </a:rPr>
              <a:t>S12. 右打ち切り／ギャップ品質ゲート</a:t>
            </a:r>
          </a:p>
        </p:txBody>
      </p:sp>
      <p:pic>
        <p:nvPicPr>
          <p:cNvPr id="3" name="Picture 2" descr="large_gap_opportunity_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6814" y="1143000"/>
            <a:ext cx="5718066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55555"/>
                </a:solidFill>
                <a:latin typeface="Meiryo"/>
              </a:rPr>
              <a:t>ロガー休眠(large-gap)・観測打ち切りを無応答証拠から構造的に除外 → active→actionable 誤分類0件。large-gap=機会なしと誤結論しない安全策。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355"/>
                </a:solidFill>
                <a:latin typeface="Meiryo"/>
              </a:rPr>
              <a:t>S13. 解釈可能な判定ルール（代理決定木）</a:t>
            </a:r>
          </a:p>
        </p:txBody>
      </p:sp>
      <p:pic>
        <p:nvPicPr>
          <p:cNvPr id="3" name="Picture 2" descr="surrogate_decision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536" y="1143000"/>
            <a:ext cx="10342622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55555"/>
                </a:solidFill>
                <a:latin typeface="Meiryo"/>
              </a:rPr>
              <a:t>二分岐ロジックを可視化。非ブラックボックス＝説明性・適格性に有利。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355"/>
                </a:solidFill>
                <a:latin typeface="Meiryo"/>
              </a:rPr>
              <a:t>S14. IC5 状態永続化：窓外証拠の回収</a:t>
            </a:r>
          </a:p>
        </p:txBody>
      </p:sp>
      <p:pic>
        <p:nvPicPr>
          <p:cNvPr id="3" name="Picture 2" descr="stateful_vs_stateless_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950" y="1143000"/>
            <a:ext cx="8727795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55555"/>
                </a:solidFill>
                <a:latin typeface="Meiryo"/>
              </a:rPr>
              <a:t>オンライン制約=直近30日のみ可視。stateless は窓先頭で開始highが窓前の機会を取りこぼす。永続状態で回収→stateful-only gain=29。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355"/>
                </a:solidFill>
                <a:latin typeface="Meiryo"/>
              </a:rPr>
              <a:t>S15. IC5 実例：30日窓をまたぐ証拠回収【最も堅い要素】</a:t>
            </a:r>
          </a:p>
        </p:txBody>
      </p:sp>
      <p:pic>
        <p:nvPicPr>
          <p:cNvPr id="3" name="Picture 2" descr="stateful_only_evidence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3665" y="1143000"/>
            <a:ext cx="7324364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55555"/>
                </a:solidFill>
                <a:latin typeface="Meiryo"/>
              </a:rPr>
              <a:t>episode_idキーで解決済イベントを時刻順リプレイ、complete&lt;reset&lt;deadline 順序意味論で確定、物理エピソード一度限り計数。審査官も『設計事項で潰しにくい』と評価。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355"/>
                </a:solidFill>
                <a:latin typeface="Meiryo"/>
              </a:rPr>
              <a:t>S16. IC2 デュアルトラック</a:t>
            </a:r>
          </a:p>
        </p:txBody>
      </p:sp>
      <p:pic>
        <p:nvPicPr>
          <p:cNvPr id="3" name="Picture 2" descr="any_vs_effective_stat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0897" y="1143000"/>
            <a:ext cx="528990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55555"/>
                </a:solidFill>
                <a:latin typeface="Meiryo"/>
              </a:rPr>
              <a:t>any-change(≥1mWh)とeffective(≥50mWh)を並列追跡。micro-wobbleのみ=soft-calibrationに分離し誤検出抑制。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355"/>
                </a:solidFill>
                <a:latin typeface="Meiryo"/>
              </a:rPr>
              <a:t>S17. IC4 規範 vs 個別モデル（リーク回避の正直な開示）</a:t>
            </a:r>
          </a:p>
        </p:txBody>
      </p:sp>
      <p:pic>
        <p:nvPicPr>
          <p:cNvPr id="3" name="Picture 2" descr="personalized_vs_normative_roc_p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000" y="1143000"/>
            <a:ext cx="10671694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55555"/>
                </a:solidFill>
                <a:latin typeface="Meiryo"/>
              </a:rPr>
              <a:t>個別AUC≈0.82だが自分の無応答を『劣化なら当然』と学習＝リーク。規範(FCC履歴全除外)AUC≈0.56でnear-random。→中核は決定論カウンタで構成、MLは独立クレームから除外。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355"/>
                </a:solidFill>
                <a:latin typeface="Meiryo"/>
              </a:rPr>
              <a:t>S18. v2 結果：トリアージ階層（9段単一ラベル）</a:t>
            </a:r>
          </a:p>
        </p:txBody>
      </p:sp>
      <p:pic>
        <p:nvPicPr>
          <p:cNvPr id="3" name="Picture 2" descr="v2_label_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5394960" cy="2944531"/>
          </a:xfrm>
          <a:prstGeom prst="rect">
            <a:avLst/>
          </a:prstGeom>
        </p:spPr>
      </p:pic>
      <p:pic>
        <p:nvPicPr>
          <p:cNvPr id="4" name="Picture 3" descr="v2_policy_matrix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188720"/>
            <a:ext cx="5361614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26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55555"/>
                </a:solidFill>
                <a:latin typeface="Meiryo"/>
              </a:rPr>
              <a:t>FW Core5/Watch43/engineering top50/Gauge Core4/Soft22/Review325…。高信頼の確定アクション=FW5+Gauge4=9台に厳格化。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355"/>
                </a:solidFill>
                <a:latin typeface="Meiryo"/>
              </a:rPr>
              <a:t>S19. v2 精度：proxy照合 と top-N 収量</a:t>
            </a:r>
          </a:p>
        </p:txBody>
      </p:sp>
      <p:pic>
        <p:nvPicPr>
          <p:cNvPr id="3" name="Picture 2" descr="v2_final_proxy_cross_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5394960" cy="3562212"/>
          </a:xfrm>
          <a:prstGeom prst="rect">
            <a:avLst/>
          </a:prstGeom>
        </p:spPr>
      </p:pic>
      <p:pic>
        <p:nvPicPr>
          <p:cNvPr id="4" name="Picture 3" descr="fw_topn_yield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188720"/>
            <a:ext cx="5394960" cy="356261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26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55555"/>
                </a:solidFill>
                <a:latin typeface="Meiryo"/>
              </a:rPr>
              <a:t>バッチ確定版(fcc_final)をproxy真値に：FW Core precision1.0 / top50 recall1.0 / Gauge Core precision1.0。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355"/>
                </a:solidFill>
                <a:latin typeface="Meiryo"/>
              </a:rPr>
              <a:t>S20. 誤警報ゼロ（effective基準）</a:t>
            </a:r>
          </a:p>
        </p:txBody>
      </p:sp>
      <p:pic>
        <p:nvPicPr>
          <p:cNvPr id="3" name="Picture 2" descr="active_false_alert_dual_ba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547" y="1143000"/>
            <a:ext cx="980660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55555"/>
                </a:solidFill>
                <a:latin typeface="Meiryo"/>
              </a:rPr>
              <a:t>any-change基準では0.71に見えるが effective基準では0。差はmicro-wobbleの定義差で誤判定ではない。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355"/>
                </a:solidFill>
                <a:latin typeface="Meiryo"/>
              </a:rPr>
              <a:t>S21. HW富化（記述的・分類後／判定には不使用）</a:t>
            </a:r>
          </a:p>
        </p:txBody>
      </p:sp>
      <p:pic>
        <p:nvPicPr>
          <p:cNvPr id="3" name="Picture 2" descr="hardware_enrichment_fw_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1257" y="1143000"/>
            <a:ext cx="8009181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55555"/>
                </a:solidFill>
                <a:latin typeface="Meiryo"/>
              </a:rPr>
              <a:t>分類確定後にのみFRU/機種偏在を経験ベイズ(Beta事前・Fisher・BH-FDR)で集計。判定には逆流させない（モデル非依存の徹底）。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355"/>
                </a:solidFill>
                <a:latin typeface="Meiryo"/>
              </a:rPr>
              <a:t>S22. 実例パネル（※ファイル名にPII）</a:t>
            </a:r>
          </a:p>
        </p:txBody>
      </p:sp>
      <p:pic>
        <p:nvPicPr>
          <p:cNvPr id="3" name="Picture 2" descr="example_fw_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5394960" cy="4018648"/>
          </a:xfrm>
          <a:prstGeom prst="rect">
            <a:avLst/>
          </a:prstGeom>
        </p:spPr>
      </p:pic>
      <p:pic>
        <p:nvPicPr>
          <p:cNvPr id="4" name="Picture 3" descr="example_gauge_c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188720"/>
            <a:ext cx="5394960" cy="40224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26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55555"/>
                </a:solidFill>
                <a:latin typeface="Meiryo"/>
              </a:rPr>
              <a:t>左=FW core（機会反復×無応答）／右=Gauge core（適格機会が皆無）。視覚的な『動かぬ証拠』。社外配布前に匿名化。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355"/>
                </a:solidFill>
                <a:latin typeface="Meiryo"/>
              </a:rPr>
              <a:t>S23. 特許性マトリクス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</a:rPr>
                        <a:t>発明的要素(IC)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</a:rPr>
                        <a:t>新規性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</a:rPr>
                        <a:t>進歩性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</a:rPr>
                        <a:t>適格性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</a:rPr>
                        <a:t>総合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latin typeface="Meiryo"/>
                        </a:rPr>
                        <a:t>IC1 機会条件付き無応答＋右打ち切り＋二分岐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eiryo"/>
                        </a:rP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eiryo"/>
                        </a:rP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eiryo"/>
                        </a:rP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eiryo"/>
                        </a:rPr>
                        <a:t>中（最有望）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latin typeface="Meiryo"/>
                        </a:rPr>
                        <a:t>IC5 状態永続化＋イベント順序意味論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eiryo"/>
                        </a:rP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eiryo"/>
                        </a:rP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eiryo"/>
                        </a:rP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eiryo"/>
                        </a:rPr>
                        <a:t>中（最も堅い）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latin typeface="Meiryo"/>
                        </a:rPr>
                        <a:t>IC6 ギャップ品質ゲート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eiryo"/>
                        </a:rPr>
                        <a:t>低〜中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eiryo"/>
                        </a:rPr>
                        <a:t>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eiryo"/>
                        </a:rPr>
                        <a:t>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eiryo"/>
                        </a:rPr>
                        <a:t>低〜中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latin typeface="Meiryo"/>
                        </a:rPr>
                        <a:t>IC4 規範/個別ツイン・リーク回避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eiryo"/>
                        </a:rPr>
                        <a:t>低〜中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eiryo"/>
                        </a:rPr>
                        <a:t>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eiryo"/>
                        </a:rPr>
                        <a:t>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eiryo"/>
                        </a:rPr>
                        <a:t>低〜中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latin typeface="Meiryo"/>
                        </a:rPr>
                        <a:t>IC2 デュアルトラック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eiryo"/>
                        </a:rPr>
                        <a:t>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eiryo"/>
                        </a:rPr>
                        <a:t>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eiryo"/>
                        </a:rP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eiryo"/>
                        </a:rPr>
                        <a:t>低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latin typeface="Meiryo"/>
                        </a:rPr>
                        <a:t>IC3 モデル非依存分類＋EB富化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eiryo"/>
                        </a:rPr>
                        <a:t>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eiryo"/>
                        </a:rPr>
                        <a:t>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eiryo"/>
                        </a:rPr>
                        <a:t>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eiryo"/>
                        </a:rPr>
                        <a:t>低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latin typeface="Meiryo"/>
                        </a:rPr>
                        <a:t>IC8 トリアージラダー＋アラート制御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eiryo"/>
                        </a:rPr>
                        <a:t>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eiryo"/>
                        </a:rPr>
                        <a:t>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eiryo"/>
                        </a:rP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eiryo"/>
                        </a:rPr>
                        <a:t>低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latin typeface="Meiryo"/>
                        </a:rPr>
                        <a:t>IC7 Poisson-binomial異常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eiryo"/>
                        </a:rPr>
                        <a:t>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eiryo"/>
                        </a:rPr>
                        <a:t>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eiryo"/>
                        </a:rPr>
                        <a:t>最弱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eiryo"/>
                        </a:rPr>
                        <a:t>最低（出願不可）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3093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55555"/>
                </a:solidFill>
                <a:latin typeface="Meiryo"/>
              </a:rPr>
              <a:t>主軸=IC1+IC5。IC4/IC6は補強従属。IC2/IC3/IC7/IC8は防御的公開／営業秘密へ。IC7は純数学で適格性不可。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355"/>
                </a:solidFill>
                <a:latin typeface="Meiryo"/>
              </a:rPr>
              <a:t>S24. 推奨クレーム要旨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F3355"/>
                </a:solidFill>
                <a:latin typeface="Meiryo"/>
              </a:rPr>
              <a:t>独立クレーム2件（中核に集中）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Meiryo"/>
              </a:rPr>
              <a:t>Claim 1（方法）= IC1：機会条件付きFCC無応答＋右打ち切り除外＋二分岐 ＋ ラベル依存の具体的物理介入（深放電プロンプト／FWエスカレーション）＋ 介入→FCC回復のクローズドループ検証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Meiryo"/>
              </a:rPr>
              <a:t>Claim 2（システム）= IC5：30日窓制約下の状態永続化による窓外証拠回収＋complete&lt;reset&lt;deadline 順序意味論＋episode一度限り計数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F3355"/>
                </a:solidFill>
                <a:latin typeface="Meiryo"/>
              </a:rPr>
              <a:t>主要従属クレーム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Meiryo"/>
              </a:rPr>
              <a:t>閾値詳細(≥180d/≥30cyc/≥50mWh/72h) ／ ギャップ品質ゲート ／ デュアルトラック ／ 規範モデルを『基準線検証』に機能再定義 ／ アラート・クールダウン(30日) ／ 経験ベイズHW富化(分類後descriptive)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F3355"/>
                </a:solidFill>
                <a:latin typeface="Meiryo"/>
              </a:rPr>
              <a:t>Poisson-binomial（IC7）は独立から全面削除（純数学で適格性不可）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355"/>
                </a:solidFill>
                <a:latin typeface="Meiryo"/>
              </a:rPr>
              <a:t>S25. リスク・未解決事項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F3355"/>
                </a:solidFill>
                <a:latin typeface="Meiryo"/>
              </a:rPr>
              <a:t>規範モデルAUC≈0.56（ML空洞化・的中hit）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Meiryo"/>
              </a:rPr>
              <a:t>異常スコアと無応答カウントの相関0.993＝実質同一物 → 中核を決定論カウンタで構成しMLを独立から除外して回避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F3355"/>
                </a:solidFill>
                <a:latin typeface="Meiryo"/>
              </a:rPr>
              <a:t>BIOS/FWバージョン・介入結果データの欠如（最大の実証ギャップ）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Meiryo"/>
              </a:rPr>
              <a:t>『介入→FCC回復』のクローズドループ証拠が未取得 → 審査官は出願『時期尚早』と認定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F3355"/>
                </a:solidFill>
                <a:latin typeface="Meiryo"/>
              </a:rPr>
              <a:t>その他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Meiryo"/>
              </a:rPr>
              <a:t>proxyラベル依存（真のFW不具合確定ラベルでの再検証が望ましい）／ クレーム抽象性（保守アクションの具体化で対応済）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355"/>
                </a:solidFill>
                <a:latin typeface="Meiryo"/>
              </a:rPr>
              <a:t>S26. 出願戦略・次アクション ／ Disclaimer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F3355"/>
                </a:solidFill>
                <a:latin typeface="Meiryo"/>
              </a:rPr>
              <a:t>法域：JP先願 → PCT → US/EP（US/EPはBMS・制御・クローズドループ強紐付け版で適格性確保）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F3355"/>
                </a:solidFill>
                <a:latin typeface="Meiryo"/>
              </a:rPr>
              <a:t>補強の最優先：介入→FCC回復のクローズドループ実証データ取得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F3355"/>
                </a:solidFill>
                <a:latin typeface="Meiryo"/>
              </a:rPr>
              <a:t>出願前必須：主要先行特許の独立クレーム精読／既存の社内・外部公開有無の確認（新規性喪失の時限）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Meiryo"/>
              </a:rPr>
              <a:t>特許化=IC1・IC5（＋IC4/IC6補強）／ 営業秘密=具体的微調整値 ／ 防御的公開=IC2/IC3/IC7/IC8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F3355"/>
                </a:solidFill>
                <a:latin typeface="Meiryo"/>
              </a:rPr>
              <a:t>Disclaimer：本資料は技術的特許性評価であり法的助言ではありません。先行特許番号は未検証。出願前に登録弁理士の正式レビューを受けてください。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